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bffcbe30804db8" /><Relationship Type="http://schemas.openxmlformats.org/officeDocument/2006/relationships/extended-properties" Target="/docProps/app.xml" Id="Rc657063018b241c1" /><Relationship Type="http://schemas.openxmlformats.org/officeDocument/2006/relationships/officeDocument" Target="/ppt/presentation.xml" Id="R095575f2ae3949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681c01d3294ceb"/>
  </p:sldMasterIdLst>
  <p:notesMasterIdLst>
    <p:notesMasterId xmlns:r="http://schemas.openxmlformats.org/officeDocument/2006/relationships" r:id="R367640b2db75444d"/>
  </p:notesMasterIdLst>
  <p:sldIdLst>
    <p:sldId xmlns:r="http://schemas.openxmlformats.org/officeDocument/2006/relationships" id="256" r:id="Rca21870dd6e843f2"/>
    <p:sldId xmlns:r="http://schemas.openxmlformats.org/officeDocument/2006/relationships" id="257" r:id="R76161a39b6a547d2"/>
    <p:sldId xmlns:r="http://schemas.openxmlformats.org/officeDocument/2006/relationships" id="258" r:id="Rbe1840b218854a3a"/>
    <p:sldId xmlns:r="http://schemas.openxmlformats.org/officeDocument/2006/relationships" id="259" r:id="R26035acfba264b63"/>
    <p:sldId xmlns:r="http://schemas.openxmlformats.org/officeDocument/2006/relationships" id="260" r:id="R414b4218d67c4f34"/>
    <p:sldId xmlns:r="http://schemas.openxmlformats.org/officeDocument/2006/relationships" id="261" r:id="Ra22bd7c9a4ba40ae"/>
    <p:sldId xmlns:r="http://schemas.openxmlformats.org/officeDocument/2006/relationships" id="262" r:id="R55edd1734238454d"/>
    <p:sldId xmlns:r="http://schemas.openxmlformats.org/officeDocument/2006/relationships" id="263" r:id="R1baa5bcf85ec4bbb"/>
    <p:sldId xmlns:r="http://schemas.openxmlformats.org/officeDocument/2006/relationships" id="264" r:id="Rd8f7d0764a1e4aee"/>
    <p:sldId xmlns:r="http://schemas.openxmlformats.org/officeDocument/2006/relationships" id="265" r:id="Rc3d57c41997f4362"/>
    <p:sldId xmlns:r="http://schemas.openxmlformats.org/officeDocument/2006/relationships" id="266" r:id="Rc4e758ec7f6b4b2b"/>
    <p:sldId xmlns:r="http://schemas.openxmlformats.org/officeDocument/2006/relationships" id="267" r:id="Rf5808283178248c6"/>
    <p:sldId xmlns:r="http://schemas.openxmlformats.org/officeDocument/2006/relationships" id="268" r:id="R997c0f8fbc914eac"/>
    <p:sldId xmlns:r="http://schemas.openxmlformats.org/officeDocument/2006/relationships" id="269" r:id="Rc21d61a5fa44480f"/>
    <p:sldId xmlns:r="http://schemas.openxmlformats.org/officeDocument/2006/relationships" id="270" r:id="R41432439b82a4a5f"/>
    <p:sldId xmlns:r="http://schemas.openxmlformats.org/officeDocument/2006/relationships" id="271" r:id="Re1bc2755e33e4bda"/>
    <p:sldId xmlns:r="http://schemas.openxmlformats.org/officeDocument/2006/relationships" id="272" r:id="R0ef2d4e1e68147b9"/>
    <p:sldId xmlns:r="http://schemas.openxmlformats.org/officeDocument/2006/relationships" id="273" r:id="Rf9a72fa770c24417"/>
    <p:sldId xmlns:r="http://schemas.openxmlformats.org/officeDocument/2006/relationships" id="274" r:id="R46ad68ca07b34c78"/>
    <p:sldId xmlns:r="http://schemas.openxmlformats.org/officeDocument/2006/relationships" id="275" r:id="R329fa0e43cca4079"/>
    <p:sldId xmlns:r="http://schemas.openxmlformats.org/officeDocument/2006/relationships" id="276" r:id="Rcc5f39553a804d87"/>
    <p:sldId xmlns:r="http://schemas.openxmlformats.org/officeDocument/2006/relationships" id="277" r:id="R958518b987fe47bf"/>
    <p:sldId xmlns:r="http://schemas.openxmlformats.org/officeDocument/2006/relationships" id="278" r:id="R8ebb40cce4014079"/>
    <p:sldId xmlns:r="http://schemas.openxmlformats.org/officeDocument/2006/relationships" id="279" r:id="R09b37d02483749a4"/>
    <p:sldId xmlns:r="http://schemas.openxmlformats.org/officeDocument/2006/relationships" id="280" r:id="Rb1892d7aaa4d401f"/>
    <p:sldId xmlns:r="http://schemas.openxmlformats.org/officeDocument/2006/relationships" id="281" r:id="R1cdd117dd5cb4cbe"/>
    <p:sldId xmlns:r="http://schemas.openxmlformats.org/officeDocument/2006/relationships" id="282" r:id="Ra3e04b2df7e24fea"/>
    <p:sldId xmlns:r="http://schemas.openxmlformats.org/officeDocument/2006/relationships" id="283" r:id="R29bfd171a62d4f27"/>
    <p:sldId xmlns:r="http://schemas.openxmlformats.org/officeDocument/2006/relationships" id="284" r:id="Rf9461b0da80b4404"/>
    <p:sldId xmlns:r="http://schemas.openxmlformats.org/officeDocument/2006/relationships" id="285" r:id="R48f9415863a044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8359f4ad7444a" /><Relationship Type="http://schemas.openxmlformats.org/officeDocument/2006/relationships/slideMaster" Target="/ppt/slideMasters/slideMaster1.xml" Id="Rea681c01d3294ceb" /><Relationship Type="http://schemas.openxmlformats.org/officeDocument/2006/relationships/notesMaster" Target="/ppt/notesMasters/notesMaster1.xml" Id="R367640b2db75444d" /><Relationship Type="http://schemas.openxmlformats.org/officeDocument/2006/relationships/presProps" Target="/ppt/presProps.xml" Id="R43af2fd9ce1b4e8f" /><Relationship Type="http://schemas.openxmlformats.org/officeDocument/2006/relationships/tableStyles" Target="/ppt/tableStyles.xml" Id="R3c18da574e0b4494" /><Relationship Type="http://schemas.openxmlformats.org/officeDocument/2006/relationships/slide" Target="/ppt/slides/slide1.xml" Id="Rca21870dd6e843f2" /><Relationship Type="http://schemas.openxmlformats.org/officeDocument/2006/relationships/slide" Target="/ppt/slides/slide2.xml" Id="R76161a39b6a547d2" /><Relationship Type="http://schemas.openxmlformats.org/officeDocument/2006/relationships/slide" Target="/ppt/slides/slide3.xml" Id="Rbe1840b218854a3a" /><Relationship Type="http://schemas.openxmlformats.org/officeDocument/2006/relationships/slide" Target="/ppt/slides/slide4.xml" Id="R26035acfba264b63" /><Relationship Type="http://schemas.openxmlformats.org/officeDocument/2006/relationships/slide" Target="/ppt/slides/slide5.xml" Id="R414b4218d67c4f34" /><Relationship Type="http://schemas.openxmlformats.org/officeDocument/2006/relationships/slide" Target="/ppt/slides/slide6.xml" Id="Ra22bd7c9a4ba40ae" /><Relationship Type="http://schemas.openxmlformats.org/officeDocument/2006/relationships/slide" Target="/ppt/slides/slide7.xml" Id="R55edd1734238454d" /><Relationship Type="http://schemas.openxmlformats.org/officeDocument/2006/relationships/slide" Target="/ppt/slides/slide8.xml" Id="R1baa5bcf85ec4bbb" /><Relationship Type="http://schemas.openxmlformats.org/officeDocument/2006/relationships/slide" Target="/ppt/slides/slide9.xml" Id="Rd8f7d0764a1e4aee" /><Relationship Type="http://schemas.openxmlformats.org/officeDocument/2006/relationships/slide" Target="/ppt/slides/slide10.xml" Id="Rc3d57c41997f4362" /><Relationship Type="http://schemas.openxmlformats.org/officeDocument/2006/relationships/slide" Target="/ppt/slides/slide11.xml" Id="Rc4e758ec7f6b4b2b" /><Relationship Type="http://schemas.openxmlformats.org/officeDocument/2006/relationships/slide" Target="/ppt/slides/slide12.xml" Id="Rf5808283178248c6" /><Relationship Type="http://schemas.openxmlformats.org/officeDocument/2006/relationships/slide" Target="/ppt/slides/slide13.xml" Id="R997c0f8fbc914eac" /><Relationship Type="http://schemas.openxmlformats.org/officeDocument/2006/relationships/slide" Target="/ppt/slides/slide14.xml" Id="Rc21d61a5fa44480f" /><Relationship Type="http://schemas.openxmlformats.org/officeDocument/2006/relationships/slide" Target="/ppt/slides/slide15.xml" Id="R41432439b82a4a5f" /><Relationship Type="http://schemas.openxmlformats.org/officeDocument/2006/relationships/slide" Target="/ppt/slides/slide16.xml" Id="Re1bc2755e33e4bda" /><Relationship Type="http://schemas.openxmlformats.org/officeDocument/2006/relationships/slide" Target="/ppt/slides/slide17.xml" Id="R0ef2d4e1e68147b9" /><Relationship Type="http://schemas.openxmlformats.org/officeDocument/2006/relationships/slide" Target="/ppt/slides/slide18.xml" Id="Rf9a72fa770c24417" /><Relationship Type="http://schemas.openxmlformats.org/officeDocument/2006/relationships/slide" Target="/ppt/slides/slide19.xml" Id="R46ad68ca07b34c78" /><Relationship Type="http://schemas.openxmlformats.org/officeDocument/2006/relationships/slide" Target="/ppt/slides/slide20.xml" Id="R329fa0e43cca4079" /><Relationship Type="http://schemas.openxmlformats.org/officeDocument/2006/relationships/slide" Target="/ppt/slides/slide21.xml" Id="Rcc5f39553a804d87" /><Relationship Type="http://schemas.openxmlformats.org/officeDocument/2006/relationships/slide" Target="/ppt/slides/slide22.xml" Id="R958518b987fe47bf" /><Relationship Type="http://schemas.openxmlformats.org/officeDocument/2006/relationships/slide" Target="/ppt/slides/slide23.xml" Id="R8ebb40cce4014079" /><Relationship Type="http://schemas.openxmlformats.org/officeDocument/2006/relationships/slide" Target="/ppt/slides/slide24.xml" Id="R09b37d02483749a4" /><Relationship Type="http://schemas.openxmlformats.org/officeDocument/2006/relationships/slide" Target="/ppt/slides/slide25.xml" Id="Rb1892d7aaa4d401f" /><Relationship Type="http://schemas.openxmlformats.org/officeDocument/2006/relationships/slide" Target="/ppt/slides/slide26.xml" Id="R1cdd117dd5cb4cbe" /><Relationship Type="http://schemas.openxmlformats.org/officeDocument/2006/relationships/slide" Target="/ppt/slides/slide27.xml" Id="Ra3e04b2df7e24fea" /><Relationship Type="http://schemas.openxmlformats.org/officeDocument/2006/relationships/slide" Target="/ppt/slides/slide28.xml" Id="R29bfd171a62d4f27" /><Relationship Type="http://schemas.openxmlformats.org/officeDocument/2006/relationships/slide" Target="/ppt/slides/slide29.xml" Id="Rf9461b0da80b4404" /><Relationship Type="http://schemas.openxmlformats.org/officeDocument/2006/relationships/slide" Target="/ppt/slides/slide30.xml" Id="R48f9415863a0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05e17372d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101f40d5242ad" /><Relationship Type="http://schemas.openxmlformats.org/officeDocument/2006/relationships/notesMaster" Target="/ppt/notesMasters/notesMaster1.xml" Id="R7bec3ca690f9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9c48fd6734255" /><Relationship Type="http://schemas.openxmlformats.org/officeDocument/2006/relationships/notesMaster" Target="/ppt/notesMasters/notesMaster1.xml" Id="R98da7dd79c34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60d601b854220" /><Relationship Type="http://schemas.openxmlformats.org/officeDocument/2006/relationships/notesMaster" Target="/ppt/notesMasters/notesMaster1.xml" Id="R1494f4dedb8442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0308000f264af0" /><Relationship Type="http://schemas.openxmlformats.org/officeDocument/2006/relationships/notesMaster" Target="/ppt/notesMasters/notesMaster1.xml" Id="Reb4b52bb1d21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4f71b169540f9" /><Relationship Type="http://schemas.openxmlformats.org/officeDocument/2006/relationships/notesMaster" Target="/ppt/notesMasters/notesMaster1.xml" Id="R379de44edab14c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c0933027f148b5" /><Relationship Type="http://schemas.openxmlformats.org/officeDocument/2006/relationships/notesMaster" Target="/ppt/notesMasters/notesMaster1.xml" Id="Rd5c18de49d5d4c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0467c484144feb" /><Relationship Type="http://schemas.openxmlformats.org/officeDocument/2006/relationships/notesMaster" Target="/ppt/notesMasters/notesMaster1.xml" Id="R2c1158ce763c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e48b450e764506" /><Relationship Type="http://schemas.openxmlformats.org/officeDocument/2006/relationships/notesMaster" Target="/ppt/notesMasters/notesMaster1.xml" Id="R60aa042dfa33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9d4c61688f4054" /><Relationship Type="http://schemas.openxmlformats.org/officeDocument/2006/relationships/notesMaster" Target="/ppt/notesMasters/notesMaster1.xml" Id="Reb191b934c1f42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6997fb0bba4ab7" /><Relationship Type="http://schemas.openxmlformats.org/officeDocument/2006/relationships/notesMaster" Target="/ppt/notesMasters/notesMaster1.xml" Id="R4dca2261e76047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b7b280ceee4828" /><Relationship Type="http://schemas.openxmlformats.org/officeDocument/2006/relationships/notesMaster" Target="/ppt/notesMasters/notesMaster1.xml" Id="R812fdbdcbd0447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3f24517b494099" /><Relationship Type="http://schemas.openxmlformats.org/officeDocument/2006/relationships/notesMaster" Target="/ppt/notesMasters/notesMaster1.xml" Id="Rc41f903005454f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0c394cbcd0414c" /><Relationship Type="http://schemas.openxmlformats.org/officeDocument/2006/relationships/notesMaster" Target="/ppt/notesMasters/notesMaster1.xml" Id="R165a4ca898bc42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21d86c8e0e4d46" /><Relationship Type="http://schemas.openxmlformats.org/officeDocument/2006/relationships/notesMaster" Target="/ppt/notesMasters/notesMaster1.xml" Id="R3acb825455fa48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6b18853eaf4124" /><Relationship Type="http://schemas.openxmlformats.org/officeDocument/2006/relationships/notesMaster" Target="/ppt/notesMasters/notesMaster1.xml" Id="R45d9e2ac5ab647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3b6bb3e0674531" /><Relationship Type="http://schemas.openxmlformats.org/officeDocument/2006/relationships/notesMaster" Target="/ppt/notesMasters/notesMaster1.xml" Id="Reb03fec08fd84a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22189ddf554ba4" /><Relationship Type="http://schemas.openxmlformats.org/officeDocument/2006/relationships/notesMaster" Target="/ppt/notesMasters/notesMaster1.xml" Id="R5ef97c99cf4345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94aaad845446d1" /><Relationship Type="http://schemas.openxmlformats.org/officeDocument/2006/relationships/notesMaster" Target="/ppt/notesMasters/notesMaster1.xml" Id="R2d94575279a64e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19dd2f9b244207" /><Relationship Type="http://schemas.openxmlformats.org/officeDocument/2006/relationships/notesMaster" Target="/ppt/notesMasters/notesMaster1.xml" Id="Rb92438b9cba54c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59dcee6f7f4245" /><Relationship Type="http://schemas.openxmlformats.org/officeDocument/2006/relationships/notesMaster" Target="/ppt/notesMasters/notesMaster1.xml" Id="R953ce1da7a224f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e56dbabd8042c5" /><Relationship Type="http://schemas.openxmlformats.org/officeDocument/2006/relationships/notesMaster" Target="/ppt/notesMasters/notesMaster1.xml" Id="R8eef54bb2e7f48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654ad4a76d4538" /><Relationship Type="http://schemas.openxmlformats.org/officeDocument/2006/relationships/notesMaster" Target="/ppt/notesMasters/notesMaster1.xml" Id="Rb65b4bcc963543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638c7f12c84c88" /><Relationship Type="http://schemas.openxmlformats.org/officeDocument/2006/relationships/notesMaster" Target="/ppt/notesMasters/notesMaster1.xml" Id="R6927f7cb20bf4b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bb67ca1ea34212" /><Relationship Type="http://schemas.openxmlformats.org/officeDocument/2006/relationships/notesMaster" Target="/ppt/notesMasters/notesMaster1.xml" Id="Rfc69c0e638364f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ea7210c2fa4a5c" /><Relationship Type="http://schemas.openxmlformats.org/officeDocument/2006/relationships/notesMaster" Target="/ppt/notesMasters/notesMaster1.xml" Id="Rd477856efd9f41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0d7a84e4d04180" /><Relationship Type="http://schemas.openxmlformats.org/officeDocument/2006/relationships/notesMaster" Target="/ppt/notesMasters/notesMaster1.xml" Id="R2ebc88d1bfe145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d020e2dfa44011" /><Relationship Type="http://schemas.openxmlformats.org/officeDocument/2006/relationships/notesMaster" Target="/ppt/notesMasters/notesMaster1.xml" Id="R5b264207455247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94c4657c554416" /><Relationship Type="http://schemas.openxmlformats.org/officeDocument/2006/relationships/notesMaster" Target="/ppt/notesMasters/notesMaster1.xml" Id="Rfd8b82a2926548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2bb4b156824e7d" /><Relationship Type="http://schemas.openxmlformats.org/officeDocument/2006/relationships/notesMaster" Target="/ppt/notesMasters/notesMaster1.xml" Id="R911ceda7ef454a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b3baafe1f54626" /><Relationship Type="http://schemas.openxmlformats.org/officeDocument/2006/relationships/notesMaster" Target="/ppt/notesMasters/notesMaster1.xml" Id="R6bf91ddc2f6b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WalletShield 分析钱包即将签署的请求，把操作含义、权限范围、工具观察和未知项呈现给用户。项目当前包含本地钱包实验室和可选的认证托管模式。它是一项签名前建议工具，而不是安全认证或资产托管服务。本演示介绍当前实现、实际操作流程、证据如何交给 Muse，以及适用边界。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基于 MetaMask Snap 的 EVM 钱包安全原型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链上取证、隔离模拟与 Muse AI 风险评估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用户保留最终确认或取消的决定权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这里的防护指帮助用户在作出钱包决定前理解风险。自动入口仅覆盖 MetaMask 实际交给 Snap 的交易和消息请求。报告完成不代表交易已签署，更不代表资产安全。托管模式具备认证、配对、额度和报告隔离等实现，但仍需要真实部署、发布、浏览器验收和运维准备。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分析交易、消息签名及显式提交的请求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展示风险分数、理由、证据和未完成检查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不代签、不强制阻止、不持续跟踪签后行为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当前重点是可验证的本地测试与有边界的公网使用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不要把问题简化为金额大小。小额或无限额度授权、签名中的 spender 与期限、委托执行和批量子调用都可能改变风险。钱包展示的函数名或代币名称也不能证明合约身份。WalletShield 的目标是把可解析权限、当前状态和模拟观察放在同一份报告中，并清楚指出无法证明的内容。本页描述风险机制，不使用未经验证的市场损失统计。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授权可能允许第三方之后划转资产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看似登录的签名也可能承诺资产权限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兑换成功不代表之后仍能卖出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复杂批量调用可能隐藏额外权限变化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钱包负责持有密钥、展示确认和签名；Snap 负责捕获支持的请求并展示建议；后端负责取证与模型调用。本地实验室还创建测试会话，用精确请求和服务器记录关联实际 Snap 提交。仅连接钱包或显示已安装 Snap，都不能证明这次请求已经完成分析。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网页或 dApp 构造未签名交易或消息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MetaMask 将支持的请求交给已配对 Snap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后端解析取证，按需模拟，启用时请求 Muse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钱包展示报告，用户确认或取消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外部服务的 API 凭据保存在后端配置；用户的钱包私钥由钱包管理。服务凭据不发送给网页或 Snap。公网 RPC 由服务器配置，客户端不能指定任意 URL 作为取证目标。隔离模拟在临时 Anvil 分叉执行，不能向上游链提交模拟写入。SQLite 保存报告、会话及认证状态；本地历史按工作站共享，托管历史按验证地址隔离。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钱包与 Snap：请求入口、配对和钱包内报告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React 网页：连接、测试案例、资产清单与历史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Fastify 后端：校验、取证、Muse 调用与 SQLite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外部服务：可信 RPC、可选 GoPlus 与 Meta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/Users/huoxiyi/Documents/Codex/2026-10-20/w/outputs/walletshield/docs/RELIABILITY-AND-INTEGRATION.md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Flask 是 MetaMask 的开发版本，用于安装本地开发 Snap，不是 Python Flask。React、Vite 和 Lucide 构成网页；TypeScript 与 Node 测试运行器提供静态检查和回归验证。viem 处理 ABI、数量和 EIP-712，而 RPC 提供网络状态。GoPlus 只在启用且网络支持时贡献情报。Muse 只评价后端交付的证据包，不自行浏览或查询区块链。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MetaMask Flask／Snaps SDK：钱包接入与洞察界面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viem／Zod／Fastify：解析、严格校验与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Anvil／solc：本地合约实验和隔离分叉执行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Muse／GoPlus／SQLite：评估、情报与报告持久化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 provider 包装 SDK 供网站开发者主动接入，提交权限、会话、UserOperation、网络或只读请求的公开摘要。它不是全局钱包拦截器，普通用户也不需要单独安装。Public networks 的切换按钮直接调用选定钱包 provider，不调用 SDK、风险扫描或 Muse。MetaMask 决定消息洞察的显示步骤和严重性要求，必须在真实钱包中验证实际送达。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Snap：自动处理 MetaMask 实际提供的交易与消息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实验室：真实钱包请求必须匹配到 Snap 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显式 API：配合的 dApp 提交权限等额外请求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连接检查与切换网络不生成风险分数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/Users/huoxiyi/Documents/Codex/2026-10-20/w/outputs/walletshield/src/integration/provider.ts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/Users/huoxiyi/Documents/Codex/2026-10-20/w/outputs/walletshield/docs/USER-MANUAL.md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没有实验室可执行钱包案例的五类为 raw eth_sign、权限／会话、UserOperation、网络配置和只读 RPC。后端可以分析这些摘要，并不表示安装 Snap 后都会自动捕获。案例数量不能转换为百分比，也不能证明对任意部署、状态和对抗输入的识别能力。类别定义集中在 coverage.ts，界面、Snap 和指南共用这些公开描述。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 个分析类别，按操作选择对应取证路径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66 个代表性钱包案例：51 个交易、15 个消息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本地案例涉及 30 类中的 25 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类需显式提交，不能当作自动钱包覆盖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接收方是普通账户还是合约，会影响执行含义，但代码存在与否不证明身份。transferFrom 必须分清资产 owner、实际 caller 与接收方。NFT 与 ERC-20 某些方法共享编码，需结合接口与状态检查。NFT 批量观察有数量上限；欺骗接口、税费、重基、隐藏资产和非标准事件仍可能导致不完整观察。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原生币：from／to／value、费用、nonce、余额与代码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ERC-20：代币、接收方、精度、数量与余额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NFT：owner／recipient、ID／数量及当前授权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可用时补充固定区块观察和分叉资产变化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/Users/huoxiyi/Documents/Codex/2026-10-20/w/outputs/walletshield/src/security/assets.ts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无限授权可能覆盖将来进入钱包的同种代币，但必须有相应权限语义证据。有限额度也可能被恶意利用，撤销亦不等于收回已经被转走的资产。Permit2 有两层权限：owner 对声称 Permit2 合约的 ERC-20 授权，以及 owner/token/最终 spender 的内部上限、有效期和 nonce。任一层读取失败都保留未知，不能相互替代。可读取的方法形状不认证合约身份。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ERC-20：spender、额度、当前 allowance 与余额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NFT：单项 approve 或全系列 operator 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撤销：额度归零或关闭 operator，独立解释语义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Permit2：底层 ERC-20 与内部额度分别读取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/Users/huoxiyi/Documents/Codex/2026-10-20/w/outputs/walletshield/docs/USER-MANUAL.md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/Users/huoxiyi/Documents/Codex/2026-10-20/w/outputs/walletshield/src/security/signatures.ts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后端只使用实际承诺在类型图中的字段，额外 JSON 属性不能创造签名权限。整数表示规范化时保留签名摘要一致性。DAI allowed 与 ERC-3009 单次转移不能都当作持续 allowance。Seaport 仅解释支持的签入承诺，不声称完成订单成交、取消状态或 conduit 执行验证。签名前没有生成的资产签名可供验证，后续是否被消费也不是此次报告能够证明的。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SIWE／personal_sign：来源、账户、域名与时间条件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Permit／DAI</a:t>
            </a:r>
          </a:p>
          <a:p xmlns:a="http://schemas.openxmlformats.org/drawingml/2006/main">
            <a:r>
              <a:t>ERC-3009：权限或单次转移承诺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Permit2：token／cap／spender／nonce／期限与 witness 外层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EIP-712 订单：资产、接收人、数量、期限与承诺哈希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/Users/huoxiyi/Documents/Codex/2026-10-20/w/outputs/walletshield/src/security/signatures.ts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/Users/huoxiyi/Documents/Codex/2026-10-20/w/outputs/walletshield/src/security/orders.ts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/Users/huoxiyi/Documents/Codex/2026-10-20/w/outputs/walletshield/src/security/witness.ts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/Users/huoxiyi/Documents/Codex/2026-10-20/w/outputs/walletshield/src/security/siwe.ts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这不是对所有 DeFi 协议的统一理解。ERC-4626 和 Aave 形状只代表候选接口，实际前后状态能够描述那次分叉执行。借贷基础币单位不能自动当作美元。V3 买卖实验支持规范代币出资和实际 sender 接收路径；原生币出资 V3 或路由器特有 sender-sentinel 不执行专用回转实验。锁仓、罚没、未来偿付、完整清算压力与市场估值需要更多协议证据。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兑换：V2／代币出资 V3 路径、限额、接收方与期限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金库／借贷：份额、preview、抵押、债务与健康因子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流动性／质押：部分参数、仓位和候选池状态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领取／包装／铸销：数量、接收方及通用模拟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/Users/huoxiyi/Documents/Codex/2026-10-20/w/outputs/walletshield/src/security/swap-experiments.ts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/Users/huoxiyi/Documents/Codex/2026-10-20/w/outputs/walletshield/src/security/fork-protocol-state.ts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/Users/huoxiyi/Documents/Codex/2026-10-20/w/outputs/walletshield/src/security/position-evidence.ts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批量结构解析最多深度 3、32 个子项，并有字节上限；结构解析不证明真实 child caller 或 storage 上下文。EIP-7702 可核对实际授权元组，但不认证完整 set-code 执行与未来模块策略。UserOperation 需显式入口，读取代码和费用关系，不宣称完成 bundler/account/paymaster 验证。跨链请求仍缺少两端身份、证明、最终性及到账保证。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控制权：owner／role／upgrade、Safe 部分控制字段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委托：EIP-7702 元组恢复、链／nonce 与条件状态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批量：有限深度解析 targets／values／selectors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跨链：部分来源链参数与通用模拟观察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/Users/huoxiyi/Documents/Codex/2026-10-20/w/outputs/walletshield/src/security/batch-evidence.ts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/Users/huoxiyi/Documents/Codex/2026-10-20/w/outputs/walletshield/src/security/delegation-evidence.ts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/Users/huoxiyi/Documents/Codex/2026-10-20/w/outputs/walletshield/src/security/user-operation-evidence.ts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/Users/huoxiyi/Documents/Codex/2026-10-20/w/outputs/walletshield/src/security/bridge-scope.ts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一个采集器失败不应抹去其他成功证据。不可用的余额、代码或授权不静默变成零。确认状态读取固定在已验证网络和区块；pending nonce 独立标注。不同采集器可以完成于不同区块和时间，因此整份报告不伪装成一个全球同步快照。工具被选中也不意味着检查成功。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严格校验请求，不接受客户端自带分数或信誉结论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ABI／类型图解析，识别候选操作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选择并独立运行 RPC、情报与模拟采集器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汇总事实、定性信号、时间出处与未完成检查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/Users/huoxiyi/Documents/Codex/2026-10-20/w/outputs/walletshield/src/security/routing.ts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/Users/huoxiyi/Documents/Codex/2026-10-20/w/outputs/walletshield/src/security/providers.ts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/Users/huoxiyi/Documents/Codex/2026-10-20/w/outputs/walletshield/src/security/assessment-scope.ts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每条可用事实保留主体、字段、值、来源、链、区块、时间和作用范围。发送的是受限白名单摘要和证据，不是完整 calldata 或全钱包历史。origin 被规范化，URL 路径、查询和凭据去除。消息预览与金融字段仍可能涉及隐私，因此数据最小化不等于匿名。缺失项也进入证据包，模型必须面对证据不足。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通用：kind、chain、origin、from／to、value、费用与 nonce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授权：asset、spender／operator、cap、expiry、现有权限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兑换：path、fees、限额、接收方、期限与模拟变化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签名：type/domain、承诺字段、digest、nonce／期限检查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/Users/huoxiyi/Documents/Codex/2026-10-20/w/outputs/walletshield/src/security/model-facts.ts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 Anvil 使用 31337 和 8545；Infura key 可生成 Ethereum 主网和 Sepolia 的后端端点，其他 EVM 链需要显式可信 URL。私钥无需交给 RPC。网页连通检查不请求 Muse，不生成分数。固定 eth_call、一次历史余额和 trace 探测只是有限能力观察，不能证明完整 archive 或 trace 支持；分叉模拟还受到历史状态、额度和方法支持限制。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钱包 provider 连接账户并处理用户确认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RPC 提供 chainId、区块、余额、代码和合约读取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Infura 是可配置的公网 RPC 服务商之一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RPC 可用不代表协议可信、交易安全或历史完整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/Users/huoxiyi/Documents/Codex/2026-10-20/w/outputs/walletshield/src/security/trusted-rpc.ts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GoPlus 仓库默认关闭，具体安装由后端开关控制；当前机器配置应以状态接口为准。候选数量、并发、超时和缓存均有上限。响应记录获取时间但通常没有可验证的上游数据日期，刚取到并不等于情报刚更新。Sourcify 只贡献源码匹配观察，不是审计、官方身份认证或恶意行为排除。两者失败都需要保留未知。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GoPlus：支持链上的地址、网站、代币风险线索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可观察卖出限制、税费、黑名单与控制风险字段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 Sourcify：有界源码匹配观察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未命中、缺字段或开源状态均不等于安全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/Users/huoxiyi/Documents/Codex/2026-10-20/w/outputs/walletshield/src/security/intelligence.ts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/Users/huoxiyi/Documents/Codex/2026-10-20/w/outputs/walletshield/src/security/source-verification.ts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 eth_call 与真正分叉执行必须区分：前者不是完整资产模拟。分叉执行可观察日志、调用、gas 和选定资产／权限／金库／借贷前后状态。卖出失败可能来自路由、余额或流动性，不能自动断言骗局；回转损耗包含价格影响与费用，不是纯税。一次成功卖出不能排除以后拉黑、升级、MEV 或抽走流动性。当前专用 V3 回转只适用于支持的代币出资和接收方。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以记录的上游区块建立临时 Anvil 分叉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保留原始 gas／fees／nonce，观察实际资产变化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支持路线尝试买入→授权→反向卖出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成功或失败都只描述该场景与当时状态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/Users/huoxiyi/Documents/Codex/2026-10-20/w/outputs/walletshield/src/security/simulation.ts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/Users/huoxiyi/Documents/Codex/2026-10-20/w/outputs/walletshield/src/security/swap-experiments.ts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/Users/huoxiyi/Documents/Codex/2026-10-20/w/outputs/walletshield/tests/v3-isolated-execution.integration.ts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模型并未配置联网或 RPC 工具；后端根据操作取数据，再把有边界的证据包交给 Meta Responses API。数字是未经独立校准的风险指示值，不是诈骗概率、损失概率或可信度百分比。未启用、额度用尽、超时、429、拒绝、输出无效或有效弃评时不显示数字。定性规则可以提示权限或不一致条件，但不直接计算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固定模型：Meta Muse Wonder，muse-wonder-1.0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输入：请求摘要、观察事实、定性信号与缺失项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输出：0–100 整数或 null，以及理由与建议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没有固定权重、规则加分、最低分或失败兜底分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/Users/huoxiyi/Documents/Codex/2026-10-20/w/outputs/walletshield/docs/RELIABILITY-AND-INTEGRATION.md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维度必须各出现一次，并引用支持该判断的事实和证据。敞口使用同种资产数量、余额和费用，不制造无依据的美元损失。身份判断不能仅靠名字熟悉、开源或情报未命中；协议判断应来自支持的状态和执行。诱导维度仅使用实际可观察信号，不询问私聊、真实用途或投资承诺。维度可保持 unknown，不必强行全部给结论。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 权限：谁获得资产或账户的操作能力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Exposure 敞口：涉及哪些资产与数量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Execution 执行：实际调用、资产变化与失败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Identity 身份：地址、域名与信誉的一致性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 协议：机制与支持协议的证据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Deception 诱导：可观察消息和请求的不一致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/Users/huoxiyi/Documents/Codex/2026-10-20/w/outputs/walletshield/src/security/model-facts.ts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/Users/huoxiyi/Documents/Codex/2026-10-20/w/outputs/walletshield/src/security/ai.ts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当前格式为 walletshield-facts-v1。后端检查引用存在、观察复制准确、维度相关性、nonce/domain 断言及部分无依据的保证性语言。关键缺口会阻止整体 low 或 strong 证据支持程度，但不会强行设置数字下限。仅有 unknown 或不适用维度不能支撑数字。修复使用相同证据和受控反馈，另占一次尝试额度。HTTP、认证、429、拒绝等不进行此修复。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事实必须匹配主体／字段／值／来源与时间出处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理由和维度必须引用真实且相关的 fact_ids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缺失、过期或冲突证据限制低风险与强支持结论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无效输出最多进行一次有预算的修复，否则无分数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/Users/huoxiyi/Documents/Codex/2026-10-20/w/outputs/walletshield/src/security/model-facts.ts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/Users/huoxiyi/Documents/Codex/2026-10-20/w/outputs/walletshield/src/security/ai-claims.ts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/Users/huoxiyi/Documents/Codex/2026-10-20/w/outputs/walletshield/src/security/assessment-scope.ts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/Users/huoxiyi/Documents/Codex/2026-10-20/w/outputs/walletshield/docs/RELIABILITY-AND-INTEGRATION.md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本例不展示预设的 90 分或其他固定评分，因为真正数字只能来自该次有效 Muse 输出。相同无限授权对不同目标、资产、已有权限和证据状态，结论可能不同。未知身份不是恶意证据，但无限权限本身是可解释的权限信号。建议先取消此本地案例，比较有限额度与撤销授权，观察报告中权限范围而不是只比较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请求：LAB-USD approve(spender, uint256 最大值)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证据：spender、额度、余额、现有 allowance、代码与情报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含义：授权有效时，对方可能之后转走相应代币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在钱包阅读 Muse 理由与未知项，再确认或取消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/Users/huoxiyi/Documents/Codex/2026-10-20/w/outputs/walletshield/src/security/rules.ts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 demo 先构建网页和 Snap，启动新拥有的 Anvil，部署基础代币和实验室合约，再启动服务。每次新 demo 的内存链都是新状态，旧余额和交易消失，但 SQLite 历史保留。保持终端运行，在原终端 Ctrl+C 结束启动器拥有的服务。不要并行启动占用相同端口的第二套服务。MODEL_API_KEY、ENABLE_META_AI 和每日尝试限额放在忽略的本地配置，不能写入源码或 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安装依赖：npm ci；启动：npm run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服务：网页 5173／API 8787／Snap 8080／链 8545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 Key 放 .local/meta.env；配置且启用后扫描才调用 Muse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仅本地实验无需 Infura；公网读取再配置 RPC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准备流程补足 TEST-USD、LAB-USD、LAB-Q、LAB-BLOCK 与测试 NFT，保留更高余额；WLAB 通过包装操作取得。LAB-BLOCK 刻意限制卖出，用于观察路径而非真实市场。清理按钮仅清除选中账户的已知本地钱包测试资产，不重置全链、不清空未知代币，也不清除协议仓位、历史和全部站立授权。中途失败可能保留已完成步骤，应刷新清单后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准备：10 测试 ETH 与目标测试代币／NFT 余额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wallet_watchAsset 仅请求钱包显示，不决定链上余额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deploy:lab 在已有本地链上检查或部署实验室合约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路由授权、存款和仓位等前置操作需逐项钱包确认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/Users/huoxiyi/Documents/Codex/2026-10-20/w/outputs/walletshield/docs/USER-MANUAL.md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/Users/huoxiyi/Documents/Codex/2026-10-20/w/outputs/walletshield/scripts/deploy-lab.ts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建议演示顺序由简单权限到复杂操作：先无限授权并取消，再有限授权，最后撤销；其后对比正常兑换与受限卖出。签名案例可能需要进入 MetaMask 的 Sign 步骤才显示洞察。若记录为 Not observed，则不能算完成了 Snap 检查，即使有签名响应或网页 API 报告。模型未成功时仍可验证字段、证据和送达，但不能宣称 AI 分数已通过。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连接测试账户，安装并配对 Snap，确认健康检查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准备资产，依次测试无限／有限／撤销授权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再测试转账、NFT、Permit、兑换与复杂控制案例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每次核对报告 ID、paired-snap 与钱包确认／取消结果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/Users/huoxiyi/Documents/Codex/2026-10-20/w/outputs/walletshield/docs/USER-MANUAL.md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/Users/huoxiyi/Documents/Codex/2026-10-20/w/outputs/walletshield/src/security/types.ts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 Approve 报告描述调用方法，不是用户已经点击允许。签名返回也不代表被第三方消费。未签名消息和选定字段可能发给后端与 Meta；RPC 可看到查询地址，GoPlus 可看到相应候选。后端与 AI 不接收生成后的资产签名；实验室网页仅在浏览器接收、检查格式并丢弃。应用不索取助记词或私钥。SQLite 未由应用加密；删除为逻辑删除，不保证磁盘、WAL、备份或第三方日志中的取证擦除。托管登录使用另一个明确的一次性签名。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报告保存解析输入、证据、Muse 结果与未完成检查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取消操作也可能已有一份完整签名前报告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实验室签名仅检查返回格式，随后在浏览器丢弃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托管报告按验证地址隔离，支持撤销凭据与删除报告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networks 可检查后端 RPC 和可选账户状态，并用唯一普通 personal_sign 消息验证实际 Snap 提交。消息不是 Permit、订单或资产转移，生成签名在浏览器丢弃；启用的实际分析会使用模型预算。后端 RPC 与钱包自己的网络设置分开。托管实现提供地址绑定认证、配对、限额和私有历史，构建包不等于公开发布，也不代表已经具备无限公众容量。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先在 Sepolia 与专用账户验证 RPC、配对和消息送达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公网切换直接请求钱包，不等待 Muse 评分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资产请求从外部 dApp 发起，逐次阅读钱包洞察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托管需 HTTPS、身份认证、Snap 发布与真实浏览器验收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/Users/huoxiyi/Documents/Codex/2026-10-20/w/outputs/walletshield/docs/USER-MANUAL.md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 个集成场景为 16 个代币出资 V3 正常／受限卖出路径、1 个通用原生币模拟、2 个金库／借贷前后状态及 4 个权限变化。测试在新建隔离节点执行，不写用户实验室或公网。离线 evaluate:ai 不调用模型或 RPC，只验证证据与输出守卫。真实 MetaMask 入口、付费 Muse 输出与公开部署需要另外验收，不能从单元测试通过推导。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441 项单元测试通过：校验、证据、边界与持久化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 个隔离场景：V3、通用原生币、金库／借贷与权限变化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离线 AI 校验：12 个合成案例与 120 个对抗变体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尚无独立误报／漏报、分数校准或在线稳定性结论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/Users/huoxiyi/Documents/Codex/2026-10-20/w/outputs/walletshield/tests/v3-isolated-execution.integration.ts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/Users/huoxiyi/Documents/Codex/2026-10-20/w/outputs/walletshield/scripts/evaluate-ai.ts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未知不自动等于高危，也不能当成安全。合约可能伪造接口返回，RPC 与情报也可能错误或陈旧。链上状态不能证明现实身份或未来诚实；源码可用不等于完成审计。当前缺少完整市场报价、经济压力测试、所有管理员关系及任意代码语义。项目应将这些作为报告范围展示，而不是通过模型记忆补造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不能观察钱包从未交付的权限、会话或其他请求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不完整支持任意协议、自定义 witness 与不透明聚合器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不能保证未来价格、卖出、升级、MEV 或跨链到账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 EVM、设备失陷、交易所内部行为与资产追回不在当前范围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/Users/huoxiyi/Documents/Codex/2026-10-20/w/outputs/walletshield/src/security/coverage.ts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可展示价值是把请求含义、工具证据和模型理由连接起来，并允许用户追溯报告，而不是声称涵盖所有风险。建议冻结当前演示范围，以有限但完整的验收矩阵衡量实际送达、字段正确、缺失保留、分数有效和取消／成功结果关联。之后用独立标注案例评估危险操作被低估与正常操作误报，再决定扩展协议或钱包。公众发布是独立工程阶段，Infura 或 Meta Key 配置完成并不代表已公开上线。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近期：完成核心交易与签名的真实 Snap 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评测：建立独立危险／正常案例与 Muse 重复测试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可靠性：重点协议适配、故障恢复与成本／延迟观察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发布准备：HTTPS、分发、隐私策略和负载／运维验证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 snapshot, 2026-10-22):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/Users/huoxiyi/Documents/Codex/2026-10-20/w/outputs/walletshield/docs/CURRENT-COVERAGE.md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/Users/huoxiyi/Documents/Codex/2026-10-20/w/outputs/walletshield/docs/RELIABILITY-AND-INTEGRATION.md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d30da45964e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26f06b89c45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bc43f08544c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49128f80b4f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53f01953f41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38bde2108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1862A3-4094-440A-9517-18039F607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BE50A-E8B1-470A-B0DC-B1507834B1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FEE011-9DEE-4229-9321-0DE477DF0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830EF4-DB74-40CD-8939-CA52962B6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67714C-5F31-4733-8296-C42D054F6A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A3A7D2-AB98-4888-A224-D7A734238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0DF7A-A799-47A6-A99F-275ECF3E4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637C2F-3515-4764-B24F-7CC1C1C838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3BF357-BCF6-4C35-B258-6C97187A3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F155A9-B669-422C-892E-21753DCE6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9765261904d0b" /><Relationship Type="http://schemas.openxmlformats.org/officeDocument/2006/relationships/slideLayout" Target="/ppt/slideLayouts/slideLayout1.xml" Id="Rc7cfd03925874ed4" /><Relationship Type="http://schemas.openxmlformats.org/officeDocument/2006/relationships/slideLayout" Target="/ppt/slideLayouts/slideLayout2.xml" Id="R6655925b20ab4ddd" /><Relationship Type="http://schemas.openxmlformats.org/officeDocument/2006/relationships/slideLayout" Target="/ppt/slideLayouts/slideLayout3.xml" Id="R9ce0ba5ce081458a" /><Relationship Type="http://schemas.openxmlformats.org/officeDocument/2006/relationships/slideLayout" Target="/ppt/slideLayouts/slideLayout4.xml" Id="R62af5a47c28a4ebd" /><Relationship Type="http://schemas.openxmlformats.org/officeDocument/2006/relationships/slideLayout" Target="/ppt/slideLayouts/slideLayout5.xml" Id="R350184b5562a4be0" /><Relationship Type="http://schemas.openxmlformats.org/officeDocument/2006/relationships/slideLayout" Target="/ppt/slideLayouts/slideLayout6.xml" Id="Rd889e2b9b7284b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fd03925874ed4"/>
    <p:sldLayoutId xmlns:r="http://schemas.openxmlformats.org/officeDocument/2006/relationships" id="2147483650" r:id="R6655925b20ab4ddd"/>
    <p:sldLayoutId xmlns:r="http://schemas.openxmlformats.org/officeDocument/2006/relationships" id="2147483651" r:id="R9ce0ba5ce081458a"/>
    <p:sldLayoutId xmlns:r="http://schemas.openxmlformats.org/officeDocument/2006/relationships" id="2147483652" r:id="R62af5a47c28a4ebd"/>
    <p:sldLayoutId xmlns:r="http://schemas.openxmlformats.org/officeDocument/2006/relationships" id="2147483653" r:id="R350184b5562a4be0"/>
    <p:sldLayoutId xmlns:r="http://schemas.openxmlformats.org/officeDocument/2006/relationships" id="2147483654" r:id="Rd889e2b9b7284b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12e93f88e4559" /><Relationship Type="http://schemas.openxmlformats.org/officeDocument/2006/relationships/image" Target="/ppt/media/image.png" Id="Re5fa200b85c540fc" /><Relationship Type="http://schemas.openxmlformats.org/officeDocument/2006/relationships/notesSlide" Target="/ppt/notesSlides/notesSlide1.xml" Id="Rb3f029b6d9b849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a041041054e25" /><Relationship Type="http://schemas.openxmlformats.org/officeDocument/2006/relationships/notesSlide" Target="/ppt/notesSlides/notesSlide2.xml" Id="R601414832c5f49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d2f629e5249df" /><Relationship Type="http://schemas.openxmlformats.org/officeDocument/2006/relationships/notesSlide" Target="/ppt/notesSlides/notesSlide3.xml" Id="R468d43090517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cb40440f94649" /><Relationship Type="http://schemas.openxmlformats.org/officeDocument/2006/relationships/notesSlide" Target="/ppt/notesSlides/notesSlide4.xml" Id="Raf9d01d8805245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50d73be504b27" /><Relationship Type="http://schemas.openxmlformats.org/officeDocument/2006/relationships/notesSlide" Target="/ppt/notesSlides/notesSlide5.xml" Id="R2c9d0e159ea549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436f7fe234f93" /><Relationship Type="http://schemas.openxmlformats.org/officeDocument/2006/relationships/notesSlide" Target="/ppt/notesSlides/notesSlide6.xml" Id="R1915c15217c945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0d287e4dd4d55" /><Relationship Type="http://schemas.openxmlformats.org/officeDocument/2006/relationships/notesSlide" Target="/ppt/notesSlides/notesSlide7.xml" Id="Rc5fbfcc1596b4b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f8d34869e4083" /><Relationship Type="http://schemas.openxmlformats.org/officeDocument/2006/relationships/chart" Target="/ppt/slides/charts/chart1.xml" Id="Rc7e15978a9fc4c36" /><Relationship Type="http://schemas.openxmlformats.org/officeDocument/2006/relationships/notesSlide" Target="/ppt/notesSlides/notesSlide8.xml" Id="Rbf241ee3cbbc4c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9f285c81b47e4" /><Relationship Type="http://schemas.openxmlformats.org/officeDocument/2006/relationships/notesSlide" Target="/ppt/notesSlides/notesSlide9.xml" Id="Rf64580d6bf45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1f16c714d4956" /><Relationship Type="http://schemas.openxmlformats.org/officeDocument/2006/relationships/notesSlide" Target="/ppt/notesSlides/notesSlide10.xml" Id="Rc54222f430844d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06ecc290847c5" /><Relationship Type="http://schemas.openxmlformats.org/officeDocument/2006/relationships/notesSlide" Target="/ppt/notesSlides/notesSlide11.xml" Id="R554a8bd8e51c44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374418677467a" /><Relationship Type="http://schemas.openxmlformats.org/officeDocument/2006/relationships/notesSlide" Target="/ppt/notesSlides/notesSlide12.xml" Id="R889521d9d61b4b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2c4d381994311" /><Relationship Type="http://schemas.openxmlformats.org/officeDocument/2006/relationships/notesSlide" Target="/ppt/notesSlides/notesSlide13.xml" Id="R5d459ccfb8604e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a92331f7c48f5" /><Relationship Type="http://schemas.openxmlformats.org/officeDocument/2006/relationships/notesSlide" Target="/ppt/notesSlides/notesSlide14.xml" Id="R4fc07f20be1644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319dddda24e43" /><Relationship Type="http://schemas.openxmlformats.org/officeDocument/2006/relationships/notesSlide" Target="/ppt/notesSlides/notesSlide15.xml" Id="R6770f2a563654a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066485e924d76" /><Relationship Type="http://schemas.openxmlformats.org/officeDocument/2006/relationships/notesSlide" Target="/ppt/notesSlides/notesSlide16.xml" Id="R5751705012474e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1613b9b984d3b" /><Relationship Type="http://schemas.openxmlformats.org/officeDocument/2006/relationships/notesSlide" Target="/ppt/notesSlides/notesSlide17.xml" Id="R52fc9cb8b9bc40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935602c6a4d04" /><Relationship Type="http://schemas.openxmlformats.org/officeDocument/2006/relationships/notesSlide" Target="/ppt/notesSlides/notesSlide18.xml" Id="Rd42b658da31f44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3686ca5154c32" /><Relationship Type="http://schemas.openxmlformats.org/officeDocument/2006/relationships/notesSlide" Target="/ppt/notesSlides/notesSlide19.xml" Id="R6c5251ee57cf4b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86aa6ffd04a76" /><Relationship Type="http://schemas.openxmlformats.org/officeDocument/2006/relationships/notesSlide" Target="/ppt/notesSlides/notesSlide20.xml" Id="R4659f2b8000d41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4cf5d76ac4afc" /><Relationship Type="http://schemas.openxmlformats.org/officeDocument/2006/relationships/notesSlide" Target="/ppt/notesSlides/notesSlide21.xml" Id="R8fb738b5ae8742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94821cd2b4f92" /><Relationship Type="http://schemas.openxmlformats.org/officeDocument/2006/relationships/notesSlide" Target="/ppt/notesSlides/notesSlide22.xml" Id="R53b707348d4b44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70f8af2ab476e" /><Relationship Type="http://schemas.openxmlformats.org/officeDocument/2006/relationships/notesSlide" Target="/ppt/notesSlides/notesSlide23.xml" Id="Rb2cce291c77948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0dddea38f4d58" /><Relationship Type="http://schemas.openxmlformats.org/officeDocument/2006/relationships/notesSlide" Target="/ppt/notesSlides/notesSlide24.xml" Id="Ra503a071cd6449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39fc415e943d3" /><Relationship Type="http://schemas.openxmlformats.org/officeDocument/2006/relationships/notesSlide" Target="/ppt/notesSlides/notesSlide25.xml" Id="R26300034724749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312d6b07c4b04" /><Relationship Type="http://schemas.openxmlformats.org/officeDocument/2006/relationships/notesSlide" Target="/ppt/notesSlides/notesSlide26.xml" Id="R8c907f93831649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9ad36e5dd4b01" /><Relationship Type="http://schemas.openxmlformats.org/officeDocument/2006/relationships/notesSlide" Target="/ppt/notesSlides/notesSlide27.xml" Id="R011515bfea24436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fc259932c4467" /><Relationship Type="http://schemas.openxmlformats.org/officeDocument/2006/relationships/notesSlide" Target="/ppt/notesSlides/notesSlide28.xml" Id="R90db24d73c78427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456b87eeb4315" /><Relationship Type="http://schemas.openxmlformats.org/officeDocument/2006/relationships/notesSlide" Target="/ppt/notesSlides/notesSlide29.xml" Id="Rd37b651400184a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efa3c18714ff7" /><Relationship Type="http://schemas.openxmlformats.org/officeDocument/2006/relationships/notesSlide" Target="/ppt/notesSlides/notesSlide30.xml" Id="R1832a7f1fe054f5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本地案例的请求类型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0232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0E7668"/>
            </a:solidFill>
          </c:spPr>
          <c:invertIfNegative val="0"/>
          <c:cat>
            <c:strLit>
              <c:ptCount val="2"/>
              <c:pt idx="0">
                <c:v>交易请求</c:v>
              </c:pt>
              <c:pt idx="1">
                <c:v>消息签名</c:v>
              </c:pt>
            </c:strLit>
          </c:cat>
          <c:val>
            <c:numLit>
              <c:formatCode>0</c:formatCode>
              <c:ptCount val="2"/>
              <c:pt idx="0">
                <c:v>51</c:v>
              </c:pt>
              <c:pt idx="1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232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9E4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7FAF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AFA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8D6CA0-6905-4DD3-8D7C-66054F5D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WalletShield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E557192-5F75-44B8-8119-318B780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42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EVM 钱包签名前风险分析</a:t>
            </a:r>
          </a:p>
        </p:txBody>
      </p:sp>
      <p:sp>
        <p:nvSpPr>
          <p:cNvPr id="4" name="description">
            <a:extLst xmlns:a="http://schemas.openxmlformats.org/drawingml/2006/main">
              <a:ext uri="{FF2B5EF4-FFF2-40B4-BE49-F238E27FC236}">
                <a16:creationId xmlns:a16="http://schemas.microsoft.com/office/drawing/2014/main" id="{92942CBF-7437-41D5-AB55-DB17A24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rPr>
              <a:t>在签名前，看懂钱包操作的风险</a:t>
            </a:r>
          </a:p>
        </p:txBody>
      </p:sp>
      <p:sp>
        <p:nvSpPr>
          <p:cNvPr id="5" name="edition">
            <a:extLst xmlns:a="http://schemas.openxmlformats.org/drawingml/2006/main">
              <a:ext uri="{FF2B5EF4-FFF2-40B4-BE49-F238E27FC236}">
                <a16:creationId xmlns:a16="http://schemas.microsoft.com/office/drawing/2014/main" id="{3BBFB632-AA53-483F-AE23-24EAE1A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197A6"/>
                </a:solidFill>
                <a:latin typeface="Hiragino Sans GB"/>
                <a:ea typeface="Hiragino Sans GB"/>
                <a:cs typeface="Hiragino Sans GB"/>
              </a:rPr>
              <a:t>项目介绍 · v0.4.1 · 2026.10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8BC4D-338B-4E9D-B219-585288607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a200b85c540fc"/>
          <a:stretch xmlns:a="http://schemas.openxmlformats.org/drawingml/2006/main"/>
        </p:blipFill>
        <p:spPr>
          <a:xfrm xmlns:a="http://schemas.openxmlformats.org/drawingml/2006/main">
            <a:off x="10382250" y="609600"/>
            <a:ext cx="1066800" cy="1066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22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99B82F-8D4E-4BD8-BCE5-3F03CF0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产品定位：签名前的风险建议层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E457F8E9-ACA4-4CE5-8A84-C8ABB3EF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围绕单个未签名请求，解释风险及证据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D88A358-216F-4E59-9103-666E7E31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分析交易、消息签名及显式提交的请求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展示风险分数、理由、证据和未完成检查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不代签、不强制阻止、不持续跟踪签后行为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当前重点是可验证的本地测试与有边界的公网使用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59969B-BCE1-4EEC-AD31-FB81231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02 / 30</a:t>
            </a:r>
          </a:p>
        </p:txBody>
      </p:sp>
    </p:spTree>
    <p:extLst>
      <p:ext uri="{BB962C8B-B14F-4D97-AF65-F5344CB8AC3E}">
        <p14:creationId xmlns:p14="http://schemas.microsoft.com/office/powerpoint/2010/main" val="52319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D84D83-E63E-4DF8-BEC1-1F67F7A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钱包确认不等于用户看懂了权限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EFEB170-F2CE-47D5-B1F9-72265388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同一个“确认”按钮，可能对应完全不同的资产后果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071CFEC-A80C-4341-ABFD-2F3802C2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授权可能允许第三方之后划转资产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看似登录的签名也可能承诺资产权限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兑换成功不代表之后仍能卖出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复杂批量调用可能隐藏额外权限变化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344BCD9-BE4F-4704-A3C3-96882F15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03 / 30</a:t>
            </a:r>
          </a:p>
        </p:txBody>
      </p:sp>
    </p:spTree>
    <p:extLst>
      <p:ext uri="{BB962C8B-B14F-4D97-AF65-F5344CB8AC3E}">
        <p14:creationId xmlns:p14="http://schemas.microsoft.com/office/powerpoint/2010/main" val="1309284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12579A-0281-4398-822B-A86E73E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一次钱包操作的完整流程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D825D9D1-1321-452C-B3B3-0523F2E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请求进入钱包，证据进入后端，建议回到用户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3D5B19A-5B55-479A-8313-6BDCC19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B1642D17-0C32-483B-9F8D-47D7AB61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网页或 dApp 构造未签名交易或消息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B30552A-0239-4A8B-B37E-8F40A6D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58FDA542-D1B2-4D7E-AF12-C21DBDD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MetaMask 将支持的请求交给已配对 Snap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7331750-A7B4-459A-8A65-39A3F4E4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7A7C81C4-BF4B-494D-88E8-84F4236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后端解析取证，按需模拟，启用时请求 Muse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47601BE-487C-4EC1-9401-F1B7231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63D2BDD5-BC60-45E1-B7FA-DC9F5D4A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钱包展示报告，用户确认或取消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B266325-C19B-411A-9402-AC098B1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04 / 30</a:t>
            </a:r>
          </a:p>
        </p:txBody>
      </p:sp>
    </p:spTree>
    <p:extLst>
      <p:ext uri="{BB962C8B-B14F-4D97-AF65-F5344CB8AC3E}">
        <p14:creationId xmlns:p14="http://schemas.microsoft.com/office/powerpoint/2010/main" val="1309278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CCAC8F-2638-454D-A5A3-5CCC1C6E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系统架构与信任边界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1B827CEC-ADB0-4FD6-AF71-7B21AE74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钱包、网页、后端和外部服务各有明确职责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CE29477-274B-4351-BA21-155657B5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钱包与 Snap：请求入口、配对和钱包内报告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React 网页：连接、测试案例、资产清单与历史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Fastify 后端：校验、取证、Muse 调用与 SQLite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外部服务：可信 RPC、可选 GoPlus 与 Meta API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7A240B-7284-4C39-8E79-93B3F7B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05 / 30</a:t>
            </a:r>
          </a:p>
        </p:txBody>
      </p:sp>
    </p:spTree>
    <p:extLst>
      <p:ext uri="{BB962C8B-B14F-4D97-AF65-F5344CB8AC3E}">
        <p14:creationId xmlns:p14="http://schemas.microsoft.com/office/powerpoint/2010/main" val="631872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5A5F3D-358E-433F-BF62-3100EEA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完整工具栈：每个工具负责什么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A049BB1-BF16-49AE-8A23-35AFA19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从界面、链上读取到模型评估，职责不混用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FA250-4525-404E-9B5B-406B493BF494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953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实现与作用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MetaMask Flask／Snaps SDK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钱包接入与洞察界面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viem／Zod／Fastify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解析、严格校验与 API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Anvil／solc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本地合约实验和隔离分叉执行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Muse／GoPlus／SQLite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评估、情报与报告持久化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0F2BECA-E5F6-4B65-98E2-553E7F6C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06 / 30</a:t>
            </a:r>
          </a:p>
        </p:txBody>
      </p:sp>
    </p:spTree>
    <p:extLst>
      <p:ext uri="{BB962C8B-B14F-4D97-AF65-F5344CB8AC3E}">
        <p14:creationId xmlns:p14="http://schemas.microsoft.com/office/powerpoint/2010/main" val="572569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846FE5-AA59-4986-A7B0-6F39A3C0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哪些入口能够触发分析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BB775C7E-3ED2-4D22-A466-B62A33E2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收到请求是进行风险分析的前提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0CCC5A5-65FE-4329-907F-B495759F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Snap：自动处理 MetaMask 实际提供的交易与消息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实验室：真实钱包请求必须匹配到 Snap 报告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显式 API：配合的 dApp 提交权限等额外请求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连接检查与切换网络不生成风险分数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80407E-9ED5-45A8-AC1E-804630CC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07 / 30</a:t>
            </a:r>
          </a:p>
        </p:txBody>
      </p:sp>
    </p:spTree>
    <p:extLst>
      <p:ext uri="{BB962C8B-B14F-4D97-AF65-F5344CB8AC3E}">
        <p14:creationId xmlns:p14="http://schemas.microsoft.com/office/powerpoint/2010/main" val="1520373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590437-92FF-46AB-B856-6D638F3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当前覆盖结构与本地案例规模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342C697-2ACA-43B4-96AC-05AC61DF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类别与案例描述实现路径，不是风险覆盖率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D98B710-3C42-45D0-AEFB-D625017F0166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57150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e15978a9fc4c36"/>
          </a:graphicData>
        </a:graphic>
      </p:graphicFrame>
      <p:sp>
        <p:nvSpPr>
          <p:cNvPr id="5" name="catalog-detail">
            <a:extLst xmlns:a="http://schemas.openxmlformats.org/drawingml/2006/main">
              <a:ext uri="{FF2B5EF4-FFF2-40B4-BE49-F238E27FC236}">
                <a16:creationId xmlns:a16="http://schemas.microsoft.com/office/drawing/2014/main" id="{E988D078-5B85-45C6-BBED-638DB9B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19400"/>
            <a:ext cx="4429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66 个代表性本地案例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30 个分析配置，案例涉及 25 个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案例数不代表准确率或风险覆盖率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6DC7E82-611B-4E02-8A92-F05DEFBB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08 / 30</a:t>
            </a:r>
          </a:p>
        </p:txBody>
      </p:sp>
    </p:spTree>
    <p:extLst>
      <p:ext uri="{BB962C8B-B14F-4D97-AF65-F5344CB8AC3E}">
        <p14:creationId xmlns:p14="http://schemas.microsoft.com/office/powerpoint/2010/main" val="2123597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4F6845-2752-46A3-8F1A-6B746C8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基础资产操作：转账与接收方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A587E508-B3DB-4DF1-98ED-48C6989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分别理解原生币、代币和 NFT 的资产语义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AE8444-3FC1-43A5-BDE5-6695CC1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原生币：from／to／value、费用、nonce、余额与代码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ERC-20：代币、接收方、精度、数量与余额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NFT：owner／recipient、ID／数量及当前授权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可用时补充固定区块观察和分叉资产变化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755771-EA46-4246-8287-02F4D6D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09 / 30</a:t>
            </a:r>
          </a:p>
        </p:txBody>
      </p:sp>
    </p:spTree>
    <p:extLst>
      <p:ext uri="{BB962C8B-B14F-4D97-AF65-F5344CB8AC3E}">
        <p14:creationId xmlns:p14="http://schemas.microsoft.com/office/powerpoint/2010/main" val="833709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DA8412-4F47-4B71-8748-60836103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授权风险：谁能动用哪些资产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37F60364-DF9F-47F1-9E73-D74F32CF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权限范围比单看当前转账金额更重要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62979-56A4-44AC-ABE3-48B53902561B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953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实现与作用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ERC-20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spender、额度、当前 allowance 与余额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NFT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单项 approve 或全系列 operator 权限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撤销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额度归零或关闭 operator，独立解释语义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Permit2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底层 ERC-20 与内部额度分别读取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BD7D100-47ED-4323-B55D-8D20C97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10 / 30</a:t>
            </a:r>
          </a:p>
        </p:txBody>
      </p:sp>
    </p:spTree>
    <p:extLst>
      <p:ext uri="{BB962C8B-B14F-4D97-AF65-F5344CB8AC3E}">
        <p14:creationId xmlns:p14="http://schemas.microsoft.com/office/powerpoint/2010/main" val="1633990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7C516E-807A-4E34-93A2-3490C17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消息签名：承诺了什么，而非只看文字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C21A322-73D8-4C20-8798-8C383D0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支持常见结构，签入字段才形成分析依据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2454-E848-4EB2-A224-60AC80F65DDA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953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实现与作用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SIWE／personal_sign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来源、账户、域名与时间条件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Permit／DAI</a:t>
                      </a:r>
                    </a:p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ERC-3009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权限或单次转移承诺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Permit2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token／cap／spender／nonce／期限与 witness 外层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EIP-712 订单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资产、接收人、数量、期限与承诺哈希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61920A-2CE0-48DD-8A2F-69DA3C0C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11 / 30</a:t>
            </a:r>
          </a:p>
        </p:txBody>
      </p:sp>
    </p:spTree>
    <p:extLst>
      <p:ext uri="{BB962C8B-B14F-4D97-AF65-F5344CB8AC3E}">
        <p14:creationId xmlns:p14="http://schemas.microsoft.com/office/powerpoint/2010/main" val="1276223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71D117-12C4-42E6-A4C1-CF2737A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DeFi 操作：兑换、仓位与退出线索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2A9A84C3-20DC-4C80-A87C-CF0E998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从参数扩展到可观察状态与实际分叉结果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09FBAE1-ABD9-42B2-935E-3C256E3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兑换：V2／代币出资 V3 路径、限额、接收方与期限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金库／借贷：份额、preview、抵押、债务与健康因子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流动性／质押：部分参数、仓位和候选池状态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领取／包装／铸销：数量、接收方及通用模拟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52AF821-24A8-449C-9630-57859B8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12 / 30</a:t>
            </a:r>
          </a:p>
        </p:txBody>
      </p:sp>
    </p:spTree>
    <p:extLst>
      <p:ext uri="{BB962C8B-B14F-4D97-AF65-F5344CB8AC3E}">
        <p14:creationId xmlns:p14="http://schemas.microsoft.com/office/powerpoint/2010/main" val="6277701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9EC01A-8A52-4BF1-8EB3-D117106D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高级操作：控制权、批量与跨链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900D75CD-F7B8-4E7F-AC7A-240B8DD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保留可解释部分，明确未验证的执行语义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19EC199-FCB4-4273-BFB1-1850D2C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控制权：owner／role／upgrade、Safe 部分控制字段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委托：EIP-7702 元组恢复、链／nonce 与条件状态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批量：有限深度解析 targets／values／selectors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跨链：部分来源链参数与通用模拟观察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E43573F-F0F4-41B6-9077-C22CC23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13 / 30</a:t>
            </a:r>
          </a:p>
        </p:txBody>
      </p:sp>
    </p:spTree>
    <p:extLst>
      <p:ext uri="{BB962C8B-B14F-4D97-AF65-F5344CB8AC3E}">
        <p14:creationId xmlns:p14="http://schemas.microsoft.com/office/powerpoint/2010/main" val="13799117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4A34A9-ADDD-425F-B984-D8CE31B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后端如何把请求变成证据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93BA3BB9-5B10-4E45-8134-ED1DAEF4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工具计划与成功观察必须分开记录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112457C-008A-4E0E-9721-76A01785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47332BEF-EE70-4725-98C7-908A5F03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严格校验请求，不接受客户端自带分数或信誉结论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4E25F24-7181-4055-A638-92378DB7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6497AEDB-DB56-44EA-8DF7-6E6488C6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ABI／类型图解析，识别候选操作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56C647A-B4E3-4CBF-A230-289523F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F9955276-93D4-4CFA-808C-512FBD2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选择并独立运行 RPC、情报与模拟采集器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76D2E03-F21F-45D6-BAAB-F1711FA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4C139FF4-A6C2-4504-A259-B76EFD99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汇总事实、定性信号、时间出处与未完成检查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822ABFF-0702-4AB5-95C0-67BD46E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14 / 30</a:t>
            </a:r>
          </a:p>
        </p:txBody>
      </p:sp>
    </p:spTree>
    <p:extLst>
      <p:ext uri="{BB962C8B-B14F-4D97-AF65-F5344CB8AC3E}">
        <p14:creationId xmlns:p14="http://schemas.microsoft.com/office/powerpoint/2010/main" val="2674969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E3D496-E5D4-47F7-AB2C-C0655CF9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发给 AI 的不是几个模糊关键词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9720FAD-0B75-4B48-80C0-55907BB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字段由操作编码和实际观察产生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A2A82-1121-4FFC-A1F8-807552E1F114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953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实现与作用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kind、chain、origin、from／to、value、费用与 nonce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asset、spender／operator、cap、expiry、现有权限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兑换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path、fees、限额、接收方、期限与模拟变化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type/domain、承诺字段、digest、nonce／期限检查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2F2E185-62EA-4A10-8D03-4E992FA2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15 / 30</a:t>
            </a:r>
          </a:p>
        </p:txBody>
      </p:sp>
    </p:spTree>
    <p:extLst>
      <p:ext uri="{BB962C8B-B14F-4D97-AF65-F5344CB8AC3E}">
        <p14:creationId xmlns:p14="http://schemas.microsoft.com/office/powerpoint/2010/main" val="830449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23D82F-0001-48F6-AFE2-030C21C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RPC 与 Infura：提供链上事实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7FFA9883-1C70-4F07-8FB6-7CF44D0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连接钱包和读取区块链是两项不同工作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8E1F4AE-FD8B-491A-9E9E-96E68D5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钱包 provider 连接账户并处理用户确认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RPC 提供 chainId、区块、余额、代码和合约读取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Infura 是可配置的公网 RPC 服务商之一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RPC 可用不代表协议可信、交易安全或历史完整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D4315E-CAFD-4487-8559-451F844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16 / 30</a:t>
            </a:r>
          </a:p>
        </p:txBody>
      </p:sp>
    </p:spTree>
    <p:extLst>
      <p:ext uri="{BB962C8B-B14F-4D97-AF65-F5344CB8AC3E}">
        <p14:creationId xmlns:p14="http://schemas.microsoft.com/office/powerpoint/2010/main" val="19583161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D103DC-6E72-4C24-9CDE-5AE0B0C7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GoPlus 与源码观察：补充外部证据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8142C6DA-D59C-4F40-90B1-20C46EB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外部观察可以补强判断，不能替代执行与权限理解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4097923-26B6-4F46-B546-D31A5C2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GoPlus：支持链上的地址、网站、代币风险线索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可观察卖出限制、税费、黑名单与控制风险字段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可选 Sourcify：有界源码匹配观察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未命中、缺字段或开源状态均不等于安全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6EE407-3D0B-4454-B59F-613AD6E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17 / 30</a:t>
            </a:r>
          </a:p>
        </p:txBody>
      </p:sp>
    </p:spTree>
    <p:extLst>
      <p:ext uri="{BB962C8B-B14F-4D97-AF65-F5344CB8AC3E}">
        <p14:creationId xmlns:p14="http://schemas.microsoft.com/office/powerpoint/2010/main" val="14604951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018038-5085-4B7A-A151-D285B7D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交易模拟与 Honeypot 检查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63118B1-75AC-479C-BC1B-F3386E0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在隔离分叉中执行，不向真实网络发送测试交易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963389D-67AB-4963-8507-F3703E0C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4EED9EBE-955F-4466-8BFC-9BA14C0A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以记录的上游区块建立临时 Anvil 分叉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B9E033E-78F9-41DD-8E4D-86357F1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48EEADF6-C30E-4EBF-B714-99AC9F8B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保留原始 gas／fees／nonce，观察实际资产变化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0A48597-DA51-4A3C-A3BD-97E86EBE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362D11AD-A3A8-4A3F-9EB1-7DD82D4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支持路线尝试买入→授权→反向卖出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98F7E26-F3D1-4840-B230-7AA9938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EADCC5F0-56E3-4B75-BC7C-CC670CD2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成功或失败都只描述该场景与当时状态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FF3E8D0-5B54-4A10-AE67-C18CD93E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18 / 30</a:t>
            </a:r>
          </a:p>
        </p:txBody>
      </p:sp>
    </p:spTree>
    <p:extLst>
      <p:ext uri="{BB962C8B-B14F-4D97-AF65-F5344CB8AC3E}">
        <p14:creationId xmlns:p14="http://schemas.microsoft.com/office/powerpoint/2010/main" val="14584859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FFED6E-2895-4140-9428-507C0CE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Muse 如何给出风险分数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F82E17F-EEE8-432A-8548-DAE39D9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数字来自模型判断，工具负责提供可引用证据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67FADB1-3FFE-4EA8-ABCE-96D8841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FFED1F3B-1D07-487B-BC5F-4DAA5F7B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固定模型：Meta Muse Wonder，muse-wonder-1.0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D342F81-7FDC-42DC-AAB0-73D6CDC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0F47A07B-46DF-4F83-B7EC-2C3F6FE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输入：请求摘要、观察事实、定性信号与缺失项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F37DC27F-E59E-4454-8BE1-CB1910DD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FA991F79-B76A-4E96-9184-967DB08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输出：0–100 整数或 null，以及理由与建议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5CD27F4-9AEA-485A-8884-07B3441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EF79960C-337E-4460-A0EE-2C7C96B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没有固定权重、规则加分、最低分或失败兜底分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895C6B0-B6C2-4B54-9395-9747276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19 / 30</a:t>
            </a:r>
          </a:p>
        </p:txBody>
      </p:sp>
    </p:spTree>
    <p:extLst>
      <p:ext uri="{BB962C8B-B14F-4D97-AF65-F5344CB8AC3E}">
        <p14:creationId xmlns:p14="http://schemas.microsoft.com/office/powerpoint/2010/main" val="14343231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FB0D4E-474D-43E4-B724-C07048DB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六个评估维度：从多方面解释风险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709F04DD-742F-4287-8AB5-E50DC73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维度是定性判断，不是六个分数求平均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5F83B-BE6F-450E-9DB7-2905968D7127}"/>
              </a:ext>
            </a:extLst>
          </p:cNvPr>
          <p:cNvGraphicFramePr/>
          <p:nvPr/>
        </p:nvGraphicFramePr>
        <p:xfrm>
          <a:off xmlns:a="http://schemas.openxmlformats.org/drawingml/2006/main" x="647700" y="255270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953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实现与作用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T w="6668">
                      <a:solidFill>
                        <a:srgbClr val="D9E4E8"/>
                      </a:solidFill>
                      <a:prstDash val="solid"/>
                    </a:lnT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10232E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Authority 权限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谁获得资产或账户的操作能力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Exposure 敞口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涉及哪些资产与数量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Execution 执行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实际调用、资产变化与失败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Identity 身份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地址、域名与信誉的一致性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Protocol 协议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机制与支持协议的证据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Deception 诱导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9E4E8"/>
                      </a:solidFill>
                      <a:prstDash val="solid"/>
                    </a:lnL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32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可观察消息和请求的不一致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9E4E8"/>
                      </a:solidFill>
                      <a:prstDash val="solid"/>
                    </a:lnR>
                    <a:lnB w="6668">
                      <a:solidFill>
                        <a:srgbClr val="D9E4E8"/>
                      </a:solidFill>
                      <a:prstDash val="soli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7F896BB-C43F-4B4E-9366-9BE1967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20 / 30</a:t>
            </a:r>
          </a:p>
        </p:txBody>
      </p:sp>
    </p:spTree>
    <p:extLst>
      <p:ext uri="{BB962C8B-B14F-4D97-AF65-F5344CB8AC3E}">
        <p14:creationId xmlns:p14="http://schemas.microsoft.com/office/powerpoint/2010/main" val="4732119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503371-96EE-499A-832B-79D226F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输出校验：让结论受到证据约束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9241CF0-D958-45C6-B841-CE1414F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能校验结构与部分断言，不能证明每句话都正确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A982E64-12AB-4B04-823F-DCAD58B4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CC2696EC-37B2-4E8B-A6BA-AE598226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事实必须匹配主体／字段／值／来源与时间出处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85A09D8-5547-49B6-B69D-1E4DAC76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6742BEB5-1D62-464D-8443-F4947089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理由和维度必须引用真实且相关的 fact_ids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074DA599-F2C4-452A-839B-A9B763B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3776BD17-4D63-46EF-95A9-34C2919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缺失、过期或冲突证据限制低风险与强支持结论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E171603-1EC1-47D3-B582-B9E5E75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C5638A9B-E078-4B23-AC76-EB7CD8F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无效输出最多进行一次有预算的修复，否则无分数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31909D8-E5B1-426F-9A7B-0D47EDB6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21 / 30</a:t>
            </a:r>
          </a:p>
        </p:txBody>
      </p:sp>
    </p:spTree>
    <p:extLst>
      <p:ext uri="{BB962C8B-B14F-4D97-AF65-F5344CB8AC3E}">
        <p14:creationId xmlns:p14="http://schemas.microsoft.com/office/powerpoint/2010/main" val="104036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CD1D6F-5A42-4E4A-955B-2841B09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案例：向未知地址授予无限额度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94DFB7A2-8A37-45E9-A6C4-F58D365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先解释权限后果，再阅读模型判断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C5F1D34-43B5-48EB-8330-3D387B2A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请求：LAB-USD approve(spender, uint256 最大值)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证据：spender、额度、余额、现有 allowance、代码与情报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含义：授权有效时，对方可能之后转走相应代币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在钱包阅读 Muse 理由与未知项，再确认或取消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84285BD-E829-4B7B-A291-4984D2A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22 / 30</a:t>
            </a:r>
          </a:p>
        </p:txBody>
      </p:sp>
    </p:spTree>
    <p:extLst>
      <p:ext uri="{BB962C8B-B14F-4D97-AF65-F5344CB8AC3E}">
        <p14:creationId xmlns:p14="http://schemas.microsoft.com/office/powerpoint/2010/main" val="12841985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EBBAC6-2471-426F-ADB3-F2DBC4C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本地启动与必要配置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B62BE11-2178-4880-BCCF-0000A5A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专用测试账户、Node.js 24 与 MetaMask Flask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2A9A983-1600-4C9B-A8F2-6E8A51E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260CB596-54A9-4398-B0F3-930ED520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安装依赖：npm ci；启动：npm run demo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A9E7ECF-F05D-40C9-BC25-A48AC7A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0911F517-3778-4426-9A54-23EAFBB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服务：网页 5173／API 8787／Snap 8080／链 8545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DFD0B1C-CD97-403C-835A-DE42460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B8B48B0D-567A-4D5E-8001-A5722148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Meta Key 放 .local/meta.env；配置且启用后扫描才调用 Muse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8C1B630-88D1-4AD3-A078-F51205F3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F67C9CA8-A1C1-40D0-ADB0-9A923C2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仅本地实验无需 Infura；公网读取再配置 RPC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6BCDFF3-E0AB-440B-84AD-3CB5BD3B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23 / 30</a:t>
            </a:r>
          </a:p>
        </p:txBody>
      </p:sp>
    </p:spTree>
    <p:extLst>
      <p:ext uri="{BB962C8B-B14F-4D97-AF65-F5344CB8AC3E}">
        <p14:creationId xmlns:p14="http://schemas.microsoft.com/office/powerpoint/2010/main" val="8918238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1C43E8-561F-4E78-A7EC-0806F0CF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准备资产、部署实验室与前置条件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364969D7-A3FE-4BE2-8C59-2484FBA3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测试资金准备和协议授权是两项独立操作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0D2405E-A972-4417-95E2-06658316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准备：10 测试 ETH 与目标测试代币／NFT 余额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wallet_watchAsset 仅请求钱包显示，不决定链上余额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deploy:lab 在已有本地链上检查或部署实验室合约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路由授权、存款和仓位等前置操作需逐项钱包确认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B2040EE-FDEE-4AA6-8FF0-D5CC87E4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24 / 30</a:t>
            </a:r>
          </a:p>
        </p:txBody>
      </p:sp>
    </p:spTree>
    <p:extLst>
      <p:ext uri="{BB962C8B-B14F-4D97-AF65-F5344CB8AC3E}">
        <p14:creationId xmlns:p14="http://schemas.microsoft.com/office/powerpoint/2010/main" val="12989991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B24002-07B6-4B11-9633-3370BB45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钱包 Snap 的推荐演示与验收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BB07424-0AF3-48FF-B0A9-8D58838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同时确认钱包结果和实际 Snap 送达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DE51A591-B665-4862-BB4F-6DF9438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27050E31-FC08-4B28-B445-98297D8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连接测试账户，安装并配对 Snap，确认健康检查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B197AB4-559C-40AD-915F-34A39D4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51DA3C75-2F64-44C0-9F22-07C3B92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准备资产，依次测试无限／有限／撤销授权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F46F2EFE-41B9-49E6-A29B-CD3DABFB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1C4044D7-5EAA-4957-93C4-668C7DD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再测试转账、NFT、Permit、兑换与复杂控制案例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F270C62-C63F-41C3-A1FE-ADED60C3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E766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E2778CAD-516B-4C9C-A7FC-D85249A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每次核对报告 ID、paired-snap 与钱包确认／取消结果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1DB2640-1471-4295-A216-C5B3BE7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25 / 30</a:t>
            </a:r>
          </a:p>
        </p:txBody>
      </p:sp>
    </p:spTree>
    <p:extLst>
      <p:ext uri="{BB962C8B-B14F-4D97-AF65-F5344CB8AC3E}">
        <p14:creationId xmlns:p14="http://schemas.microsoft.com/office/powerpoint/2010/main" val="10961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5E501C-8793-4DB4-9FEB-35E1EE9E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报告、结果与数据隐私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B7ACC45-4DEE-4F84-9797-88AED31B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安全评估、钱包结果和链上执行是不同事实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BF606CD-4864-4609-BC4E-8453A6C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报告保存解析输入、证据、Muse 结果与未完成检查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取消操作也可能已有一份完整签名前报告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实验室签名仅检查返回格式，随后在浏览器丢弃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托管报告按验证地址隔离，支持撤销凭据与删除报告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456283E-A3D2-44E4-B3DE-B53E80F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26 / 30</a:t>
            </a:r>
          </a:p>
        </p:txBody>
      </p:sp>
    </p:spTree>
    <p:extLst>
      <p:ext uri="{BB962C8B-B14F-4D97-AF65-F5344CB8AC3E}">
        <p14:creationId xmlns:p14="http://schemas.microsoft.com/office/powerpoint/2010/main" val="16809531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8CD209-906A-4F5C-8C04-348CD1F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公网使用与可选托管模式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6C5DD319-5229-4F38-8B2E-0082DDB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同一个账户可切换网络，但链上资产互不混同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31B761-2BD3-4BD1-B68C-3651532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先在 Sepolia 与专用账户验证 RPC、配对和消息送达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公网切换直接请求钱包，不等待 Muse 评分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资产请求从外部 dApp 发起，逐次阅读钱包洞察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托管需 HTTPS、身份认证、Snap 发布与真实浏览器验收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8EC7F14-6C4E-4155-8102-6DB648FE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27 / 30</a:t>
            </a:r>
          </a:p>
        </p:txBody>
      </p:sp>
    </p:spTree>
    <p:extLst>
      <p:ext uri="{BB962C8B-B14F-4D97-AF65-F5344CB8AC3E}">
        <p14:creationId xmlns:p14="http://schemas.microsoft.com/office/powerpoint/2010/main" val="2785431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F60925-E8B3-4F33-86FB-F0EB834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目前验证了什么，还没有证明什么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C274F38-44FE-4BBF-B3B9-3F06330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rPr>
              <a:t>工程测试证明实现路径，不能替代检测效果评测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B31E679D-8276-40B2-9676-641AB5FA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441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4A2FE43-8889-465B-BDBF-DEC3CE02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单元测试通过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06FFCB8D-0B23-4736-B388-A8518306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90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DB0033D-8B8D-445C-BD45-0D1F7A0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隔离链集成场景</a:t>
            </a:r>
          </a:p>
        </p:txBody>
      </p:sp>
      <p:sp>
        <p:nvSpPr>
          <p:cNvPr id="8" name="test-meaning">
            <a:extLst xmlns:a="http://schemas.openxmlformats.org/drawingml/2006/main">
              <a:ext uri="{FF2B5EF4-FFF2-40B4-BE49-F238E27FC236}">
                <a16:creationId xmlns:a16="http://schemas.microsoft.com/office/drawing/2014/main" id="{6F80CC53-98AE-49CC-A4EB-0761280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rPr>
              <a:t>验证内容：解析、证据约束、异常处理与支持路径的模拟行为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875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rPr>
              <a:t>尚未建立独立的误报／漏报率、分数校准或线上准确率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96B5882-9C8D-42FE-B20C-64D2B539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rPr>
              <a:t>WalletShield  ·  v0.4.1  |  28 / 30</a:t>
            </a:r>
          </a:p>
        </p:txBody>
      </p:sp>
    </p:spTree>
    <p:extLst>
      <p:ext uri="{BB962C8B-B14F-4D97-AF65-F5344CB8AC3E}">
        <p14:creationId xmlns:p14="http://schemas.microsoft.com/office/powerpoint/2010/main" val="10467860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CC9A38-75E0-4875-B826-B0C0245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当前边界：哪些结论不能保证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780F9D7F-25BC-4567-8A5D-403675D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B78"/>
                </a:solidFill>
                <a:latin typeface="Hiragino Sans GB"/>
                <a:ea typeface="Hiragino Sans GB"/>
                <a:cs typeface="Hiragino Sans GB"/>
              </a:rPr>
              <a:t>明确未知，比给出虚假的安全结论更有价值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5415DEB-C97D-4A96-8FEB-0C66AF4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不能观察钱包从未交付的权限、会话或其他请求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不完整支持任意协议、自定义 witness 与不透明聚合器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不能保证未来价格、卖出、升级、MEV 或跨链到账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100" b="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10232E"/>
                </a:solidFill>
                <a:latin typeface="Hiragino Sans GB"/>
                <a:ea typeface="Hiragino Sans GB"/>
                <a:cs typeface="Hiragino Sans GB"/>
              </a:rPr>
              <a:t>非 EVM、设备失陷、交易所内部行为与资产追回不在当前范围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3CBEB9-79F6-4A0F-910D-9428B31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B818B"/>
                </a:solidFill>
                <a:latin typeface="Hiragino Sans GB"/>
                <a:ea typeface="Hiragino Sans GB"/>
                <a:cs typeface="Hiragino Sans GB"/>
              </a:rPr>
              <a:t>WalletShield  ·  v0.4.1  |  29 / 30</a:t>
            </a:r>
          </a:p>
        </p:txBody>
      </p:sp>
    </p:spTree>
    <p:extLst>
      <p:ext uri="{BB962C8B-B14F-4D97-AF65-F5344CB8AC3E}">
        <p14:creationId xmlns:p14="http://schemas.microsoft.com/office/powerpoint/2010/main" val="2226099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1179EB-2F0E-4F90-9D78-C5BE682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下一步：先验证核心价值，再扩大范围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F0810D07-4E0A-47E0-AAF1-A98D4AC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B7C8D2"/>
                </a:solidFill>
                <a:latin typeface="Hiragino Sans GB"/>
                <a:ea typeface="Hiragino Sans GB"/>
                <a:cs typeface="Hiragino Sans GB"/>
              </a:rPr>
              <a:t>以下是建议路线，不是已经完成的成果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E2AC700-C1C0-4F77-BE07-9AF6D19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content-0">
            <a:extLst xmlns:a="http://schemas.openxmlformats.org/drawingml/2006/main">
              <a:ext uri="{FF2B5EF4-FFF2-40B4-BE49-F238E27FC236}">
                <a16:creationId xmlns:a16="http://schemas.microsoft.com/office/drawing/2014/main" id="{95FE3FB1-37BF-430F-AFFD-5C8F9F4E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近期：完成核心交易与签名的真实 Snap 验收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AF78874-4A90-4CF3-8B07-BCE26982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step-content-1">
            <a:extLst xmlns:a="http://schemas.openxmlformats.org/drawingml/2006/main">
              <a:ext uri="{FF2B5EF4-FFF2-40B4-BE49-F238E27FC236}">
                <a16:creationId xmlns:a16="http://schemas.microsoft.com/office/drawing/2014/main" id="{F1C2433B-D649-4CF0-869B-2E9A562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评测：建立独立危险／正常案例与 Muse 重复测试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0AEB3AB-0582-4A3B-AB6A-8401A93F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ep-content-2">
            <a:extLst xmlns:a="http://schemas.openxmlformats.org/drawingml/2006/main">
              <a:ext uri="{FF2B5EF4-FFF2-40B4-BE49-F238E27FC236}">
                <a16:creationId xmlns:a16="http://schemas.microsoft.com/office/drawing/2014/main" id="{3746F1D8-9C26-4CE6-B9A2-45DA995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可靠性：重点协议适配、故障恢复与成本／延迟观察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D844197-E4A1-43B0-B44D-A88BC51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85E7D1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1" name="step-content-3">
            <a:extLst xmlns:a="http://schemas.openxmlformats.org/drawingml/2006/main">
              <a:ext uri="{FF2B5EF4-FFF2-40B4-BE49-F238E27FC236}">
                <a16:creationId xmlns:a16="http://schemas.microsoft.com/office/drawing/2014/main" id="{A1246AC1-ACBC-409C-B4C0-49182D82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发布准备：HTTPS、分发、隐私策略和负载／运维验证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AE19761-8CBF-4580-90F1-DDF37992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BA3B2"/>
                </a:solidFill>
                <a:latin typeface="Hiragino Sans GB"/>
                <a:ea typeface="Hiragino Sans GB"/>
                <a:cs typeface="Hiragino Sans GB"/>
              </a:rPr>
              <a:t>WalletShield  ·  v0.4.1  |  30 / 30</a:t>
            </a:r>
          </a:p>
        </p:txBody>
      </p:sp>
    </p:spTree>
    <p:extLst>
      <p:ext uri="{BB962C8B-B14F-4D97-AF65-F5344CB8AC3E}">
        <p14:creationId xmlns:p14="http://schemas.microsoft.com/office/powerpoint/2010/main" val="152570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2026-10-23T02:51:53.9530000Z</dcterms:created>
  <dcterms:modified xsi:type="dcterms:W3CDTF">2026-10-23T02:51:53.9530000Z</dcterms:modified>
</coreProperties>
</file>
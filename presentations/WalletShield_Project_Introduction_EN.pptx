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e4177b0c524332" /><Relationship Type="http://schemas.openxmlformats.org/officeDocument/2006/relationships/extended-properties" Target="/docProps/app.xml" Id="Rbba66641c07b4b60" /><Relationship Type="http://schemas.openxmlformats.org/officeDocument/2006/relationships/officeDocument" Target="/ppt/presentation.xml" Id="R5da854139a2248ea" /></Relationships>
</file>

<file path=ppt/presentation.xml><?xml version="1.0" encoding="utf-8"?>
<p:presentation xmlns:p="http://schemas.openxmlformats.org/presentationml/2006/main">
  <p:sldMasterIdLst>
    <p:sldMasterId xmlns:r="http://schemas.openxmlformats.org/officeDocument/2006/relationships" id="2147483648" r:id="Rd3851a09667a4e2d"/>
  </p:sldMasterIdLst>
  <p:notesMasterIdLst>
    <p:notesMasterId xmlns:r="http://schemas.openxmlformats.org/officeDocument/2006/relationships" r:id="R587166bae1f040e0"/>
  </p:notesMasterIdLst>
  <p:sldIdLst>
    <p:sldId xmlns:r="http://schemas.openxmlformats.org/officeDocument/2006/relationships" id="256" r:id="R1f859d95cc1d4aa0"/>
    <p:sldId xmlns:r="http://schemas.openxmlformats.org/officeDocument/2006/relationships" id="257" r:id="R3714b0d493984dd6"/>
    <p:sldId xmlns:r="http://schemas.openxmlformats.org/officeDocument/2006/relationships" id="258" r:id="Rf6906790f3a74996"/>
    <p:sldId xmlns:r="http://schemas.openxmlformats.org/officeDocument/2006/relationships" id="259" r:id="Reffea7aa800342e7"/>
    <p:sldId xmlns:r="http://schemas.openxmlformats.org/officeDocument/2006/relationships" id="260" r:id="Rb03dd4579f7043bb"/>
    <p:sldId xmlns:r="http://schemas.openxmlformats.org/officeDocument/2006/relationships" id="261" r:id="Rfee56fbff9374713"/>
    <p:sldId xmlns:r="http://schemas.openxmlformats.org/officeDocument/2006/relationships" id="262" r:id="R852c338a40134084"/>
    <p:sldId xmlns:r="http://schemas.openxmlformats.org/officeDocument/2006/relationships" id="263" r:id="R13b096936a5d4a36"/>
    <p:sldId xmlns:r="http://schemas.openxmlformats.org/officeDocument/2006/relationships" id="264" r:id="R0030af9564874445"/>
    <p:sldId xmlns:r="http://schemas.openxmlformats.org/officeDocument/2006/relationships" id="265" r:id="Rfdc7d15308c6414a"/>
    <p:sldId xmlns:r="http://schemas.openxmlformats.org/officeDocument/2006/relationships" id="266" r:id="R07dec7eac89c4d1c"/>
    <p:sldId xmlns:r="http://schemas.openxmlformats.org/officeDocument/2006/relationships" id="267" r:id="R6cc5505ac8eb47fa"/>
    <p:sldId xmlns:r="http://schemas.openxmlformats.org/officeDocument/2006/relationships" id="268" r:id="Rac4dd4958b1b4f63"/>
    <p:sldId xmlns:r="http://schemas.openxmlformats.org/officeDocument/2006/relationships" id="269" r:id="R86c08b9ffc4e462c"/>
    <p:sldId xmlns:r="http://schemas.openxmlformats.org/officeDocument/2006/relationships" id="270" r:id="R0227f419ffc540cf"/>
    <p:sldId xmlns:r="http://schemas.openxmlformats.org/officeDocument/2006/relationships" id="271" r:id="R69a5b5e7df8b47dc"/>
    <p:sldId xmlns:r="http://schemas.openxmlformats.org/officeDocument/2006/relationships" id="272" r:id="Rc84c04d06b60474b"/>
    <p:sldId xmlns:r="http://schemas.openxmlformats.org/officeDocument/2006/relationships" id="273" r:id="R10603215a86d44a7"/>
    <p:sldId xmlns:r="http://schemas.openxmlformats.org/officeDocument/2006/relationships" id="274" r:id="R1d65a1626b944234"/>
    <p:sldId xmlns:r="http://schemas.openxmlformats.org/officeDocument/2006/relationships" id="275" r:id="R1280f195e0fc4422"/>
    <p:sldId xmlns:r="http://schemas.openxmlformats.org/officeDocument/2006/relationships" id="276" r:id="R0fc4d632ec084ec0"/>
    <p:sldId xmlns:r="http://schemas.openxmlformats.org/officeDocument/2006/relationships" id="277" r:id="R96e069e77f3e4e60"/>
    <p:sldId xmlns:r="http://schemas.openxmlformats.org/officeDocument/2006/relationships" id="278" r:id="R923544bed9a54db2"/>
    <p:sldId xmlns:r="http://schemas.openxmlformats.org/officeDocument/2006/relationships" id="279" r:id="R124428d0b9664d15"/>
    <p:sldId xmlns:r="http://schemas.openxmlformats.org/officeDocument/2006/relationships" id="280" r:id="R1a33cfc49b124fc1"/>
    <p:sldId xmlns:r="http://schemas.openxmlformats.org/officeDocument/2006/relationships" id="281" r:id="R03990e4f1954459b"/>
    <p:sldId xmlns:r="http://schemas.openxmlformats.org/officeDocument/2006/relationships" id="282" r:id="R75317bf9597d4c01"/>
    <p:sldId xmlns:r="http://schemas.openxmlformats.org/officeDocument/2006/relationships" id="283" r:id="R71bf0e084f7a42b2"/>
    <p:sldId xmlns:r="http://schemas.openxmlformats.org/officeDocument/2006/relationships" id="284" r:id="R4796b719535f415a"/>
    <p:sldId xmlns:r="http://schemas.openxmlformats.org/officeDocument/2006/relationships" id="285" r:id="R86473bfe6e2d46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9c05446e984044" /><Relationship Type="http://schemas.openxmlformats.org/officeDocument/2006/relationships/slideMaster" Target="/ppt/slideMasters/slideMaster1.xml" Id="Rd3851a09667a4e2d" /><Relationship Type="http://schemas.openxmlformats.org/officeDocument/2006/relationships/notesMaster" Target="/ppt/notesMasters/notesMaster1.xml" Id="R587166bae1f040e0" /><Relationship Type="http://schemas.openxmlformats.org/officeDocument/2006/relationships/presProps" Target="/ppt/presProps.xml" Id="Ra305d410772140d8" /><Relationship Type="http://schemas.openxmlformats.org/officeDocument/2006/relationships/tableStyles" Target="/ppt/tableStyles.xml" Id="R37f9193f0688445c" /><Relationship Type="http://schemas.openxmlformats.org/officeDocument/2006/relationships/slide" Target="/ppt/slides/slide1.xml" Id="R1f859d95cc1d4aa0" /><Relationship Type="http://schemas.openxmlformats.org/officeDocument/2006/relationships/slide" Target="/ppt/slides/slide2.xml" Id="R3714b0d493984dd6" /><Relationship Type="http://schemas.openxmlformats.org/officeDocument/2006/relationships/slide" Target="/ppt/slides/slide3.xml" Id="Rf6906790f3a74996" /><Relationship Type="http://schemas.openxmlformats.org/officeDocument/2006/relationships/slide" Target="/ppt/slides/slide4.xml" Id="Reffea7aa800342e7" /><Relationship Type="http://schemas.openxmlformats.org/officeDocument/2006/relationships/slide" Target="/ppt/slides/slide5.xml" Id="Rb03dd4579f7043bb" /><Relationship Type="http://schemas.openxmlformats.org/officeDocument/2006/relationships/slide" Target="/ppt/slides/slide6.xml" Id="Rfee56fbff9374713" /><Relationship Type="http://schemas.openxmlformats.org/officeDocument/2006/relationships/slide" Target="/ppt/slides/slide7.xml" Id="R852c338a40134084" /><Relationship Type="http://schemas.openxmlformats.org/officeDocument/2006/relationships/slide" Target="/ppt/slides/slide8.xml" Id="R13b096936a5d4a36" /><Relationship Type="http://schemas.openxmlformats.org/officeDocument/2006/relationships/slide" Target="/ppt/slides/slide9.xml" Id="R0030af9564874445" /><Relationship Type="http://schemas.openxmlformats.org/officeDocument/2006/relationships/slide" Target="/ppt/slides/slide10.xml" Id="Rfdc7d15308c6414a" /><Relationship Type="http://schemas.openxmlformats.org/officeDocument/2006/relationships/slide" Target="/ppt/slides/slide11.xml" Id="R07dec7eac89c4d1c" /><Relationship Type="http://schemas.openxmlformats.org/officeDocument/2006/relationships/slide" Target="/ppt/slides/slide12.xml" Id="R6cc5505ac8eb47fa" /><Relationship Type="http://schemas.openxmlformats.org/officeDocument/2006/relationships/slide" Target="/ppt/slides/slide13.xml" Id="Rac4dd4958b1b4f63" /><Relationship Type="http://schemas.openxmlformats.org/officeDocument/2006/relationships/slide" Target="/ppt/slides/slide14.xml" Id="R86c08b9ffc4e462c" /><Relationship Type="http://schemas.openxmlformats.org/officeDocument/2006/relationships/slide" Target="/ppt/slides/slide15.xml" Id="R0227f419ffc540cf" /><Relationship Type="http://schemas.openxmlformats.org/officeDocument/2006/relationships/slide" Target="/ppt/slides/slide16.xml" Id="R69a5b5e7df8b47dc" /><Relationship Type="http://schemas.openxmlformats.org/officeDocument/2006/relationships/slide" Target="/ppt/slides/slide17.xml" Id="Rc84c04d06b60474b" /><Relationship Type="http://schemas.openxmlformats.org/officeDocument/2006/relationships/slide" Target="/ppt/slides/slide18.xml" Id="R10603215a86d44a7" /><Relationship Type="http://schemas.openxmlformats.org/officeDocument/2006/relationships/slide" Target="/ppt/slides/slide19.xml" Id="R1d65a1626b944234" /><Relationship Type="http://schemas.openxmlformats.org/officeDocument/2006/relationships/slide" Target="/ppt/slides/slide20.xml" Id="R1280f195e0fc4422" /><Relationship Type="http://schemas.openxmlformats.org/officeDocument/2006/relationships/slide" Target="/ppt/slides/slide21.xml" Id="R0fc4d632ec084ec0" /><Relationship Type="http://schemas.openxmlformats.org/officeDocument/2006/relationships/slide" Target="/ppt/slides/slide22.xml" Id="R96e069e77f3e4e60" /><Relationship Type="http://schemas.openxmlformats.org/officeDocument/2006/relationships/slide" Target="/ppt/slides/slide23.xml" Id="R923544bed9a54db2" /><Relationship Type="http://schemas.openxmlformats.org/officeDocument/2006/relationships/slide" Target="/ppt/slides/slide24.xml" Id="R124428d0b9664d15" /><Relationship Type="http://schemas.openxmlformats.org/officeDocument/2006/relationships/slide" Target="/ppt/slides/slide25.xml" Id="R1a33cfc49b124fc1" /><Relationship Type="http://schemas.openxmlformats.org/officeDocument/2006/relationships/slide" Target="/ppt/slides/slide26.xml" Id="R03990e4f1954459b" /><Relationship Type="http://schemas.openxmlformats.org/officeDocument/2006/relationships/slide" Target="/ppt/slides/slide27.xml" Id="R75317bf9597d4c01" /><Relationship Type="http://schemas.openxmlformats.org/officeDocument/2006/relationships/slide" Target="/ppt/slides/slide28.xml" Id="R71bf0e084f7a42b2" /><Relationship Type="http://schemas.openxmlformats.org/officeDocument/2006/relationships/slide" Target="/ppt/slides/slide29.xml" Id="R4796b719535f415a" /><Relationship Type="http://schemas.openxmlformats.org/officeDocument/2006/relationships/slide" Target="/ppt/slides/slide30.xml" Id="R86473bfe6e2d46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83211c572549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925321e2274f16" /><Relationship Type="http://schemas.openxmlformats.org/officeDocument/2006/relationships/notesMaster" Target="/ppt/notesMasters/notesMaster1.xml" Id="R5eeba70e817f4e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b336150113406a" /><Relationship Type="http://schemas.openxmlformats.org/officeDocument/2006/relationships/notesMaster" Target="/ppt/notesMasters/notesMaster1.xml" Id="R0725cd6eeaa24c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00fa20e98b4a26" /><Relationship Type="http://schemas.openxmlformats.org/officeDocument/2006/relationships/notesMaster" Target="/ppt/notesMasters/notesMaster1.xml" Id="R6e9f9657e40e49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4891eae1214a4b" /><Relationship Type="http://schemas.openxmlformats.org/officeDocument/2006/relationships/notesMaster" Target="/ppt/notesMasters/notesMaster1.xml" Id="R466b428504864d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77fb5607c74a27" /><Relationship Type="http://schemas.openxmlformats.org/officeDocument/2006/relationships/notesMaster" Target="/ppt/notesMasters/notesMaster1.xml" Id="Rbb881755555846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b41a49ef444dca" /><Relationship Type="http://schemas.openxmlformats.org/officeDocument/2006/relationships/notesMaster" Target="/ppt/notesMasters/notesMaster1.xml" Id="R099aff71cf8e4d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0be75ef459467c" /><Relationship Type="http://schemas.openxmlformats.org/officeDocument/2006/relationships/notesMaster" Target="/ppt/notesMasters/notesMaster1.xml" Id="Rbd1b764983e745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7229c0839b4c4d" /><Relationship Type="http://schemas.openxmlformats.org/officeDocument/2006/relationships/notesMaster" Target="/ppt/notesMasters/notesMaster1.xml" Id="R6f0179903ed141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6c715b25164c6d" /><Relationship Type="http://schemas.openxmlformats.org/officeDocument/2006/relationships/notesMaster" Target="/ppt/notesMasters/notesMaster1.xml" Id="Rb86b8c53804942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3b5496f7154e17" /><Relationship Type="http://schemas.openxmlformats.org/officeDocument/2006/relationships/notesMaster" Target="/ppt/notesMasters/notesMaster1.xml" Id="Red8b680f5a6a42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4435b9d9f24a21" /><Relationship Type="http://schemas.openxmlformats.org/officeDocument/2006/relationships/notesMaster" Target="/ppt/notesMasters/notesMaster1.xml" Id="Rc9fd890e19264c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cb3e6fd2c54112" /><Relationship Type="http://schemas.openxmlformats.org/officeDocument/2006/relationships/notesMaster" Target="/ppt/notesMasters/notesMaster1.xml" Id="Rcdbee5b42b5143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30a9aab4b7a4108" /><Relationship Type="http://schemas.openxmlformats.org/officeDocument/2006/relationships/notesMaster" Target="/ppt/notesMasters/notesMaster1.xml" Id="R1873008df29e4c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dacc1ada754c2d" /><Relationship Type="http://schemas.openxmlformats.org/officeDocument/2006/relationships/notesMaster" Target="/ppt/notesMasters/notesMaster1.xml" Id="R26f9bfa5b99545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2017e37166d41fd" /><Relationship Type="http://schemas.openxmlformats.org/officeDocument/2006/relationships/notesMaster" Target="/ppt/notesMasters/notesMaster1.xml" Id="Rbbb53557d3d743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5f0914149254492" /><Relationship Type="http://schemas.openxmlformats.org/officeDocument/2006/relationships/notesMaster" Target="/ppt/notesMasters/notesMaster1.xml" Id="R16cd2dbe345b41e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d72a1b78eef46c1" /><Relationship Type="http://schemas.openxmlformats.org/officeDocument/2006/relationships/notesMaster" Target="/ppt/notesMasters/notesMaster1.xml" Id="Reae81a4443cb44d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5cc7a72a3474ef4" /><Relationship Type="http://schemas.openxmlformats.org/officeDocument/2006/relationships/notesMaster" Target="/ppt/notesMasters/notesMaster1.xml" Id="R5a4f4e1b77a4475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5391ce5a5b549e3" /><Relationship Type="http://schemas.openxmlformats.org/officeDocument/2006/relationships/notesMaster" Target="/ppt/notesMasters/notesMaster1.xml" Id="R7c40593494b444b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7d72934e2894564" /><Relationship Type="http://schemas.openxmlformats.org/officeDocument/2006/relationships/notesMaster" Target="/ppt/notesMasters/notesMaster1.xml" Id="R28df9229887c472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5c3117ec3f94591" /><Relationship Type="http://schemas.openxmlformats.org/officeDocument/2006/relationships/notesMaster" Target="/ppt/notesMasters/notesMaster1.xml" Id="R707f13bf23fa4a8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911a01d5be44021" /><Relationship Type="http://schemas.openxmlformats.org/officeDocument/2006/relationships/notesMaster" Target="/ppt/notesMasters/notesMaster1.xml" Id="R6f51db193b6042f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4a82c362b554226" /><Relationship Type="http://schemas.openxmlformats.org/officeDocument/2006/relationships/notesMaster" Target="/ppt/notesMasters/notesMaster1.xml" Id="R8ac8d4508b264b3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68de1b13b0c494a" /><Relationship Type="http://schemas.openxmlformats.org/officeDocument/2006/relationships/notesMaster" Target="/ppt/notesMasters/notesMaster1.xml" Id="R461e1ec8f95b4f6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35463b23e584088" /><Relationship Type="http://schemas.openxmlformats.org/officeDocument/2006/relationships/notesMaster" Target="/ppt/notesMasters/notesMaster1.xml" Id="Rcc9c93a56918473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33bf1ffb6ee4b1d" /><Relationship Type="http://schemas.openxmlformats.org/officeDocument/2006/relationships/notesMaster" Target="/ppt/notesMasters/notesMaster1.xml" Id="R50897f7301664a2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5490956a65a461f" /><Relationship Type="http://schemas.openxmlformats.org/officeDocument/2006/relationships/notesMaster" Target="/ppt/notesMasters/notesMaster1.xml" Id="Rc82a5316f2194ac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f18b465ed1c4d72" /><Relationship Type="http://schemas.openxmlformats.org/officeDocument/2006/relationships/notesMaster" Target="/ppt/notesMasters/notesMaster1.xml" Id="Ra50dffdce827473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f0bf542175a4a14" /><Relationship Type="http://schemas.openxmlformats.org/officeDocument/2006/relationships/notesMaster" Target="/ppt/notesMasters/notesMaster1.xml" Id="R0124718e4ecd4eb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ff17bc871d54971" /><Relationship Type="http://schemas.openxmlformats.org/officeDocument/2006/relationships/notesMaster" Target="/ppt/notesMasters/notesMaster1.xml" Id="R9beb26e2a9324b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WalletShield analyzes a request the wallet is about to sign and presents its meaning, permission scope, observed evidence and unresolved checks. The project includes a local wallet laboratory and optional authenticated hosted mode. It is a pre-sign advisory tool, rather than a safety certification or an asset custodian. This presentation explains the current implementation, practical workflow, how evidence reaches Muse and the limits of that assessment.</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An EVM wallet security prototype built around a MetaMask Snap</a:t>
            </a:r>
          </a:p>
          <a:p xmlns:a="http://schemas.openxmlformats.org/drawingml/2006/main">
            <a:r>
              <a:t/>
            </a:r>
          </a:p>
          <a:p xmlns:a="http://schemas.openxmlformats.org/drawingml/2006/main">
            <a:r>
              <a:t>On-chain evidence, isolated simulation and Muse AI assessment</a:t>
            </a:r>
          </a:p>
          <a:p xmlns:a="http://schemas.openxmlformats.org/drawingml/2006/main">
            <a:r>
              <a:t/>
            </a:r>
          </a:p>
          <a:p xmlns:a="http://schemas.openxmlformats.org/drawingml/2006/main">
            <a:r>
              <a:t>The user retains the final decision to confirm or cancel</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/Users/huoxiyi/Documents/Codex/2026-10-20/w/outputs/walletshield/docs/CURRENT-COVERAGE.md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Protection means helping the user understand risk before making a wallet decision. Automatic entry covers only the transaction and message requests MetaMask actually delivers to the Snap. A completed report does not mean a transaction was signed, nor that assets are safe. Hosted mode implements authentication, pairing, quotas and owner-scoped reports, but a public release still requires deployment, distribution, browser acceptance and operational preparation.</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Analyze transactions, signatures and explicitly submitted requests</a:t>
            </a:r>
          </a:p>
          <a:p xmlns:a="http://schemas.openxmlformats.org/drawingml/2006/main">
            <a:r>
              <a:t/>
            </a:r>
          </a:p>
          <a:p xmlns:a="http://schemas.openxmlformats.org/drawingml/2006/main">
            <a:r>
              <a:t>Show a score, reasons, evidence and unresolved checks</a:t>
            </a:r>
          </a:p>
          <a:p xmlns:a="http://schemas.openxmlformats.org/drawingml/2006/main">
            <a:r>
              <a:t/>
            </a:r>
          </a:p>
          <a:p xmlns:a="http://schemas.openxmlformats.org/drawingml/2006/main">
            <a:r>
              <a:t>No signing for users, enforced blocking or post-sign monitoring</a:t>
            </a:r>
          </a:p>
          <a:p xmlns:a="http://schemas.openxmlformats.org/drawingml/2006/main">
            <a:r>
              <a:t/>
            </a:r>
          </a:p>
          <a:p xmlns:a="http://schemas.openxmlformats.org/drawingml/2006/main">
            <a:r>
              <a:t>Prioritize reproducible local tests and bounded public-network use</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/Users/huoxiyi/Documents/Codex/2026-10-20/w/outputs/walletshield/docs/CURRENT-COVERAGE.md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is not only about transaction size. A finite or unlimited approval, a signature's spender and deadline, delegation, and child calls can all change the consequences. Function names and token labels do not authenticate a contract. WalletShield brings parsed authority, current state and simulation observations into one report while identifying what remains unproved. This slide describes risk mechanisms without relying on unverified market-loss statistics.</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An approval can enable a third party to move assets later</a:t>
            </a:r>
          </a:p>
          <a:p xmlns:a="http://schemas.openxmlformats.org/drawingml/2006/main">
            <a:r>
              <a:t/>
            </a:r>
          </a:p>
          <a:p xmlns:a="http://schemas.openxmlformats.org/drawingml/2006/main">
            <a:r>
              <a:t>A signature can commit asset authority beyond a login</a:t>
            </a:r>
          </a:p>
          <a:p xmlns:a="http://schemas.openxmlformats.org/drawingml/2006/main">
            <a:r>
              <a:t/>
            </a:r>
          </a:p>
          <a:p xmlns:a="http://schemas.openxmlformats.org/drawingml/2006/main">
            <a:r>
              <a:t>A successful purchase does not establish future sellability</a:t>
            </a:r>
          </a:p>
          <a:p xmlns:a="http://schemas.openxmlformats.org/drawingml/2006/main">
            <a:r>
              <a:t/>
            </a:r>
          </a:p>
          <a:p xmlns:a="http://schemas.openxmlformats.org/drawingml/2006/main">
            <a:r>
              <a:t>A complex batch can include additional authority changes</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/Users/huoxiyi/Documents/Codex/2026-10-20/w/outputs/walletshield/src/security/coverage.ts</a:t>
            </a:r>
          </a:p>
          <a:p xmlns:a="http://schemas.openxmlformats.org/drawingml/2006/main">
            <a:r>
              <a:t/>
            </a:r>
          </a:p>
          <a:p xmlns:a="http://schemas.openxmlformats.org/drawingml/2006/main">
            <a:r>
              <a:t>/Users/huoxiyi/Documents/Codex/2026-10-20/w/outputs/walletshield/docs/CURRENT-COVERAGE.md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wallet holds keys, presents consent and signs. The Snap receives supported requests and displays advice. The backend collects evidence and invokes the model. The local lab also creates a test session that links a matching request to an authenticated Snap submission. Connecting a wallet or seeing an installed Snap is not proof that this particular request completed analysis.</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1. A webpage or dApp prepares an unsigned transaction or message</a:t>
            </a:r>
          </a:p>
          <a:p xmlns:a="http://schemas.openxmlformats.org/drawingml/2006/main">
            <a:r>
              <a:t/>
            </a:r>
          </a:p>
          <a:p xmlns:a="http://schemas.openxmlformats.org/drawingml/2006/main">
            <a:r>
              <a:t>2. MetaMask delivers a supported request to the paired Snap</a:t>
            </a:r>
          </a:p>
          <a:p xmlns:a="http://schemas.openxmlformats.org/drawingml/2006/main">
            <a:r>
              <a:t/>
            </a:r>
          </a:p>
          <a:p xmlns:a="http://schemas.openxmlformats.org/drawingml/2006/main">
            <a:r>
              <a:t>3. The backend collects evidence, optionally simulates and calls Muse when enabled</a:t>
            </a:r>
          </a:p>
          <a:p xmlns:a="http://schemas.openxmlformats.org/drawingml/2006/main">
            <a:r>
              <a:t/>
            </a:r>
          </a:p>
          <a:p xmlns:a="http://schemas.openxmlformats.org/drawingml/2006/main">
            <a:r>
              <a:t>4. The wallet shows the report; the user confirms or cancels</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credentials remain in backend configuration and are not exposed to the webpage or Snap. Public RPC endpoints are server-configured; clients cannot nominate arbitrary evidence-fetch URLs. Simulation executes on a temporary Anvil fork and does not submit simulated writes to the upstream chain. SQLite stores reports, sessions and authentication state. Local history is workstation-shared, while hosted history is isolated by verified address.</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Wallet and Snap: request entry, pairing and in-wallet reports</a:t>
            </a:r>
          </a:p>
          <a:p xmlns:a="http://schemas.openxmlformats.org/drawingml/2006/main">
            <a:r>
              <a:t/>
            </a:r>
          </a:p>
          <a:p xmlns:a="http://schemas.openxmlformats.org/drawingml/2006/main">
            <a:r>
              <a:t>React web app: connection, lab cases, asset inventory and history</a:t>
            </a:r>
          </a:p>
          <a:p xmlns:a="http://schemas.openxmlformats.org/drawingml/2006/main">
            <a:r>
              <a:t/>
            </a:r>
          </a:p>
          <a:p xmlns:a="http://schemas.openxmlformats.org/drawingml/2006/main">
            <a:r>
              <a:t>Fastify backend: validation, evidence, Muse calls and SQLite</a:t>
            </a:r>
          </a:p>
          <a:p xmlns:a="http://schemas.openxmlformats.org/drawingml/2006/main">
            <a:r>
              <a:t/>
            </a:r>
          </a:p>
          <a:p xmlns:a="http://schemas.openxmlformats.org/drawingml/2006/main">
            <a:r>
              <a:t>External services: trusted RPC, optional GoPlus and Meta API</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/Users/huoxiyi/Documents/Codex/2026-10-20/w/outputs/walletshield/docs/RELIABILITY-AND-INTEGRATION.md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Flask is MetaMask’s development distribution for installing a local development Snap; it is unrelated to Python Flask. React, Vite and Lucide power the web interface. TypeScript and the Node test runner support static and regression checks. viem handles ABI, quantities and EIP-712; RPC provides network state. GoPlus contributes intelligence only when enabled and supported. Muse assesses the evidence packet supplied by the backend and has no configured browsing or blockchain-query tools.</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MetaMask Flask / Snaps SDK: wallet integration and insight UI</a:t>
            </a:r>
          </a:p>
          <a:p xmlns:a="http://schemas.openxmlformats.org/drawingml/2006/main">
            <a:r>
              <a:t/>
            </a:r>
          </a:p>
          <a:p xmlns:a="http://schemas.openxmlformats.org/drawingml/2006/main">
            <a:r>
              <a:t>viem / Zod / Fastify: decoding, strict validation and API handling</a:t>
            </a:r>
          </a:p>
          <a:p xmlns:a="http://schemas.openxmlformats.org/drawingml/2006/main">
            <a:r>
              <a:t/>
            </a:r>
          </a:p>
          <a:p xmlns:a="http://schemas.openxmlformats.org/drawingml/2006/main">
            <a:r>
              <a:t>Anvil / solc: local fixtures and isolated fork execution</a:t>
            </a:r>
          </a:p>
          <a:p xmlns:a="http://schemas.openxmlformats.org/drawingml/2006/main">
            <a:r>
              <a:t/>
            </a:r>
          </a:p>
          <a:p xmlns:a="http://schemas.openxmlformats.org/drawingml/2006/main">
            <a:r>
              <a:t>Muse / GoPlus / SQLite: assessment, intelligence and report storage</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project’s provider-wrapper SDK is an opt-in integration for website developers. It can submit public summaries of permissions, sessions, UserOperations, network and read-only requests. It is not a global wallet interceptor and users do not separately install it. The Public networks switch button calls the selected wallet provider directly, without the SDK, a security scan or Muse. MetaMask controls message-insight timing and severity requirements, so delivery must be verified in the actual wallet.</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Snap: handles transactions and messages MetaMask actually delivers</a:t>
            </a:r>
          </a:p>
          <a:p xmlns:a="http://schemas.openxmlformats.org/drawingml/2006/main">
            <a:r>
              <a:t/>
            </a:r>
          </a:p>
          <a:p xmlns:a="http://schemas.openxmlformats.org/drawingml/2006/main">
            <a:r>
              <a:t>Lab: an actual wallet request must match a Snap-submitted report</a:t>
            </a:r>
          </a:p>
          <a:p xmlns:a="http://schemas.openxmlformats.org/drawingml/2006/main">
            <a:r>
              <a:t/>
            </a:r>
          </a:p>
          <a:p xmlns:a="http://schemas.openxmlformats.org/drawingml/2006/main">
            <a:r>
              <a:t>Explicit API: cooperating dApps submit additional permission requests</a:t>
            </a:r>
          </a:p>
          <a:p xmlns:a="http://schemas.openxmlformats.org/drawingml/2006/main">
            <a:r>
              <a:t/>
            </a:r>
          </a:p>
          <a:p xmlns:a="http://schemas.openxmlformats.org/drawingml/2006/main">
            <a:r>
              <a:t>Connection checks and network switching do not generate risk scores</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/Users/huoxiyi/Documents/Codex/2026-10-20/w/outputs/walletshield/docs/CURRENT-COVERAGE.md</a:t>
            </a:r>
          </a:p>
          <a:p xmlns:a="http://schemas.openxmlformats.org/drawingml/2006/main">
            <a:r>
              <a:t/>
            </a:r>
          </a:p>
          <a:p xmlns:a="http://schemas.openxmlformats.org/drawingml/2006/main">
            <a:r>
              <a:t>/Users/huoxiyi/Documents/Codex/2026-10-20/w/outputs/walletshield/src/integration/provider.ts</a:t>
            </a:r>
          </a:p>
          <a:p xmlns:a="http://schemas.openxmlformats.org/drawingml/2006/main">
            <a:r>
              <a:t/>
            </a:r>
          </a:p>
          <a:p xmlns:a="http://schemas.openxmlformats.org/drawingml/2006/main">
            <a:r>
              <a:t>/Users/huoxiyi/Documents/Codex/2026-10-20/w/outputs/walletshield/docs/USER-MANUAL.md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profiles without executable wallet-lab cases are raw eth_sign, permissions/sessions, UserOperation, network configuration and read-only RPC. Backend support for those summaries does not mean the Snap automatically captures them. Counts cannot be converted into a risk-coverage percentage or accuracy claim across arbitrary deployments, states and adversarial inputs. Profile descriptions in coverage.ts are shared by the interface, Snap and generated guide.</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30 analysis profiles select operation-specific evidence paths</a:t>
            </a:r>
          </a:p>
          <a:p xmlns:a="http://schemas.openxmlformats.org/drawingml/2006/main">
            <a:r>
              <a:t/>
            </a:r>
          </a:p>
          <a:p xmlns:a="http://schemas.openxmlformats.org/drawingml/2006/main">
            <a:r>
              <a:t>66 representative wallet cases: 51 transactions and 15 messages</a:t>
            </a:r>
          </a:p>
          <a:p xmlns:a="http://schemas.openxmlformats.org/drawingml/2006/main">
            <a:r>
              <a:t/>
            </a:r>
          </a:p>
          <a:p xmlns:a="http://schemas.openxmlformats.org/drawingml/2006/main">
            <a:r>
              <a:t>Local cases represent 25 of the 30 profiles</a:t>
            </a:r>
          </a:p>
          <a:p xmlns:a="http://schemas.openxmlformats.org/drawingml/2006/main">
            <a:r>
              <a:t/>
            </a:r>
          </a:p>
          <a:p xmlns:a="http://schemas.openxmlformats.org/drawingml/2006/main">
            <a:r>
              <a:t>Five explicit-submission profiles are not automatic wallet coverage</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/Users/huoxiyi/Documents/Codex/2026-10-20/w/outputs/walletshield/src/security/coverage.ts</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/Users/huoxiyi/Documents/Codex/2026-10-20/w/outputs/walletshield/docs/CURRENT-COVERAGE.md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Whether a recipient has code affects execution meaning, but does not authenticate identity. transferFrom requires separating the asset owner, actual caller and recipient. NFT and ERC-20 methods can share encodings, so interface and state checks are needed. NFT batch observation is bounded. Deceptive interfaces, fees, rebasing, hidden assets and nonstandard events can still make observations incomplete.</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Native: from/to/value, fees, nonce, balance and recipient code</a:t>
            </a:r>
          </a:p>
          <a:p xmlns:a="http://schemas.openxmlformats.org/drawingml/2006/main">
            <a:r>
              <a:t/>
            </a:r>
          </a:p>
          <a:p xmlns:a="http://schemas.openxmlformats.org/drawingml/2006/main">
            <a:r>
              <a:t>ERC-20: token, recipient, decimals, amount and balance</a:t>
            </a:r>
          </a:p>
          <a:p xmlns:a="http://schemas.openxmlformats.org/drawingml/2006/main">
            <a:r>
              <a:t/>
            </a:r>
          </a:p>
          <a:p xmlns:a="http://schemas.openxmlformats.org/drawingml/2006/main">
            <a:r>
              <a:t>NFT: owner/recipient, IDs/amounts and existing approvals</a:t>
            </a:r>
          </a:p>
          <a:p xmlns:a="http://schemas.openxmlformats.org/drawingml/2006/main">
            <a:r>
              <a:t/>
            </a:r>
          </a:p>
          <a:p xmlns:a="http://schemas.openxmlformats.org/drawingml/2006/main">
            <a:r>
              <a:t>Add pinned-block observations and fork asset changes when available</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/Users/huoxiyi/Documents/Codex/2026-10-20/w/outputs/walletshield/src/security/coverage.ts</a:t>
            </a:r>
          </a:p>
          <a:p xmlns:a="http://schemas.openxmlformats.org/drawingml/2006/main">
            <a:r>
              <a:t/>
            </a:r>
          </a:p>
          <a:p xmlns:a="http://schemas.openxmlformats.org/drawingml/2006/main">
            <a:r>
              <a:t>/Users/huoxiyi/Documents/Codex/2026-10-20/w/outputs/walletshield/src/security/assets.ts</a:t>
            </a:r>
          </a:p>
          <a:p xmlns:a="http://schemas.openxmlformats.org/drawingml/2006/main">
            <a:r>
              <a:t/>
            </a:r>
          </a:p>
          <a:p xmlns:a="http://schemas.openxmlformats.org/drawingml/2006/main">
            <a:r>
              <a:t>/Users/huoxiyi/Documents/Codex/2026-10-20/w/outputs/walletshield/docs/CURRENT-COVERAGE.md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Unlimited allowance can expose future deposits of the same token where the authority semantics support that interpretation. Finite allowance can also be abused, and revocation cannot retrieve assets already moved. Permit2 has two layers: the owner’s ERC-20 approval to the claimed Permit2 contract, and its internal owner/token/final-spender cap, expiry and nonce. Failure of one layer remains unknown and cannot be replaced by the other. A readable method shape does not authenticate deployment identity.</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ERC-20: spender, cap, existing allowance and balance</a:t>
            </a:r>
          </a:p>
          <a:p xmlns:a="http://schemas.openxmlformats.org/drawingml/2006/main">
            <a:r>
              <a:t/>
            </a:r>
          </a:p>
          <a:p xmlns:a="http://schemas.openxmlformats.org/drawingml/2006/main">
            <a:r>
              <a:t>NFT: a single-item approval or collection-wide operator authority</a:t>
            </a:r>
          </a:p>
          <a:p xmlns:a="http://schemas.openxmlformats.org/drawingml/2006/main">
            <a:r>
              <a:t/>
            </a:r>
          </a:p>
          <a:p xmlns:a="http://schemas.openxmlformats.org/drawingml/2006/main">
            <a:r>
              <a:t>Revocation: zero allowance or disabled operator, with distinct semantics</a:t>
            </a:r>
          </a:p>
          <a:p xmlns:a="http://schemas.openxmlformats.org/drawingml/2006/main">
            <a:r>
              <a:t/>
            </a:r>
          </a:p>
          <a:p xmlns:a="http://schemas.openxmlformats.org/drawingml/2006/main">
            <a:r>
              <a:t>Permit2: read underlying ERC-20 and internal allowances separately</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/Users/huoxiyi/Documents/Codex/2026-10-20/w/outputs/walletshield/src/security/coverage.ts</a:t>
            </a:r>
          </a:p>
          <a:p xmlns:a="http://schemas.openxmlformats.org/drawingml/2006/main">
            <a:r>
              <a:t/>
            </a:r>
          </a:p>
          <a:p xmlns:a="http://schemas.openxmlformats.org/drawingml/2006/main">
            <a:r>
              <a:t>/Users/huoxiyi/Documents/Codex/2026-10-20/w/outputs/walletshield/docs/USER-MANUAL.md</a:t>
            </a:r>
          </a:p>
          <a:p xmlns:a="http://schemas.openxmlformats.org/drawingml/2006/main">
            <a:r>
              <a:t/>
            </a:r>
          </a:p>
          <a:p xmlns:a="http://schemas.openxmlformats.org/drawingml/2006/main">
            <a:r>
              <a:t>/Users/huoxiyi/Documents/Codex/2026-10-20/w/outputs/walletshield/src/security/signatures.ts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uses fields actually committed by the typed-data graph; extra JSON properties cannot invent signed authority. Integer normalization preserves the signed digest. DAI’s allowed semantics and ERC-3009’s one-time transfers must not both be described as standing allowance. Seaport support interprets signed commitments without claiming complete fulfillment, cancellation-state or conduit verification. Before signing there is no generated asset signature to validate, and this report cannot prove later consumption.</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SIWE / personal_sign: source, account, domain and time conditions</a:t>
            </a:r>
          </a:p>
          <a:p xmlns:a="http://schemas.openxmlformats.org/drawingml/2006/main">
            <a:r>
              <a:t/>
            </a:r>
          </a:p>
          <a:p xmlns:a="http://schemas.openxmlformats.org/drawingml/2006/main">
            <a:r>
              <a:t>Permit / DAI</a:t>
            </a:r>
          </a:p>
          <a:p xmlns:a="http://schemas.openxmlformats.org/drawingml/2006/main">
            <a:r>
              <a:t>ERC-3009: allowance or one-time transfer commitments</a:t>
            </a:r>
          </a:p>
          <a:p xmlns:a="http://schemas.openxmlformats.org/drawingml/2006/main">
            <a:r>
              <a:t/>
            </a:r>
          </a:p>
          <a:p xmlns:a="http://schemas.openxmlformats.org/drawingml/2006/main">
            <a:r>
              <a:t>Permit2: token/cap/spender/nonce/deadline and witness envelope</a:t>
            </a:r>
          </a:p>
          <a:p xmlns:a="http://schemas.openxmlformats.org/drawingml/2006/main">
            <a:r>
              <a:t/>
            </a:r>
          </a:p>
          <a:p xmlns:a="http://schemas.openxmlformats.org/drawingml/2006/main">
            <a:r>
              <a:t>EIP-712 orders: assets, recipients, quantities, time and commitment hashes</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/Users/huoxiyi/Documents/Codex/2026-10-20/w/outputs/walletshield/src/security/signatures.ts</a:t>
            </a:r>
          </a:p>
          <a:p xmlns:a="http://schemas.openxmlformats.org/drawingml/2006/main">
            <a:r>
              <a:t/>
            </a:r>
          </a:p>
          <a:p xmlns:a="http://schemas.openxmlformats.org/drawingml/2006/main">
            <a:r>
              <a:t>/Users/huoxiyi/Documents/Codex/2026-10-20/w/outputs/walletshield/src/security/orders.ts</a:t>
            </a:r>
          </a:p>
          <a:p xmlns:a="http://schemas.openxmlformats.org/drawingml/2006/main">
            <a:r>
              <a:t/>
            </a:r>
          </a:p>
          <a:p xmlns:a="http://schemas.openxmlformats.org/drawingml/2006/main">
            <a:r>
              <a:t>/Users/huoxiyi/Documents/Codex/2026-10-20/w/outputs/walletshield/src/security/witness.ts</a:t>
            </a:r>
          </a:p>
          <a:p xmlns:a="http://schemas.openxmlformats.org/drawingml/2006/main">
            <a:r>
              <a:t/>
            </a:r>
          </a:p>
          <a:p xmlns:a="http://schemas.openxmlformats.org/drawingml/2006/main">
            <a:r>
              <a:t>/Users/huoxiyi/Documents/Codex/2026-10-20/w/outputs/walletshield/src/security/siwe.ts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not universal understanding of DeFi. ERC-4626 and Aave shapes identify candidate interfaces, while before/after state describes the particular fork execution. Lending base-currency units are not automatically USD. V3 round trips support canonical token-funded paths with the actual sender as recipient; native-funded V3 and router-specific sender-sentinel aliases lack that specialized experiment. Locking, slashing, future solvency, full liquidation stress and market valuation require additional protocol evidence.</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Swaps: V2 / token-funded V3 paths, limits, recipients and deadlines</a:t>
            </a:r>
          </a:p>
          <a:p xmlns:a="http://schemas.openxmlformats.org/drawingml/2006/main">
            <a:r>
              <a:t/>
            </a:r>
          </a:p>
          <a:p xmlns:a="http://schemas.openxmlformats.org/drawingml/2006/main">
            <a:r>
              <a:t>Vaults / lending: shares, previews, collateral, debt and health factor</a:t>
            </a:r>
          </a:p>
          <a:p xmlns:a="http://schemas.openxmlformats.org/drawingml/2006/main">
            <a:r>
              <a:t/>
            </a:r>
          </a:p>
          <a:p xmlns:a="http://schemas.openxmlformats.org/drawingml/2006/main">
            <a:r>
              <a:t>Liquidity / staking: selected parameters, positions and candidate pools</a:t>
            </a:r>
          </a:p>
          <a:p xmlns:a="http://schemas.openxmlformats.org/drawingml/2006/main">
            <a:r>
              <a:t/>
            </a:r>
          </a:p>
          <a:p xmlns:a="http://schemas.openxmlformats.org/drawingml/2006/main">
            <a:r>
              <a:t>Claims / wrapping / mint-burn: amounts, recipients and generic simulation</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/Users/huoxiyi/Documents/Codex/2026-10-20/w/outputs/walletshield/src/security/coverage.ts</a:t>
            </a:r>
          </a:p>
          <a:p xmlns:a="http://schemas.openxmlformats.org/drawingml/2006/main">
            <a:r>
              <a:t/>
            </a:r>
          </a:p>
          <a:p xmlns:a="http://schemas.openxmlformats.org/drawingml/2006/main">
            <a:r>
              <a:t>/Users/huoxiyi/Documents/Codex/2026-10-20/w/outputs/walletshield/src/security/swap-experiments.ts</a:t>
            </a:r>
          </a:p>
          <a:p xmlns:a="http://schemas.openxmlformats.org/drawingml/2006/main">
            <a:r>
              <a:t/>
            </a:r>
          </a:p>
          <a:p xmlns:a="http://schemas.openxmlformats.org/drawingml/2006/main">
            <a:r>
              <a:t>/Users/huoxiyi/Documents/Codex/2026-10-20/w/outputs/walletshield/src/security/fork-protocol-state.ts</a:t>
            </a:r>
          </a:p>
          <a:p xmlns:a="http://schemas.openxmlformats.org/drawingml/2006/main">
            <a:r>
              <a:t/>
            </a:r>
          </a:p>
          <a:p xmlns:a="http://schemas.openxmlformats.org/drawingml/2006/main">
            <a:r>
              <a:t>/Users/huoxiyi/Documents/Codex/2026-10-20/w/outputs/walletshield/src/security/position-evidence.ts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Batch structural parsing is limited to depth three, 32 children and byte budgets. Structure does not prove the actual child caller or storage context. EIP-7702 can verify supplied authorization tuples but does not certify full set-code execution or future module policy. UserOperation requires explicit delivery and provides code/fee observations without complete bundler/account/paymaster validation. Bridge requests do not establish endpoint identity, message proofs, finality or arrival.</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Control: owner/role/upgrade and selected Safe-style control fields</a:t>
            </a:r>
          </a:p>
          <a:p xmlns:a="http://schemas.openxmlformats.org/drawingml/2006/main">
            <a:r>
              <a:t/>
            </a:r>
          </a:p>
          <a:p xmlns:a="http://schemas.openxmlformats.org/drawingml/2006/main">
            <a:r>
              <a:t>Delegation: EIP-7702 recovery, chain/nonce and conditional state</a:t>
            </a:r>
          </a:p>
          <a:p xmlns:a="http://schemas.openxmlformats.org/drawingml/2006/main">
            <a:r>
              <a:t/>
            </a:r>
          </a:p>
          <a:p xmlns:a="http://schemas.openxmlformats.org/drawingml/2006/main">
            <a:r>
              <a:t>Batches: bounded targets/values/selectors and CALL/delegatecall</a:t>
            </a:r>
          </a:p>
          <a:p xmlns:a="http://schemas.openxmlformats.org/drawingml/2006/main">
            <a:r>
              <a:t/>
            </a:r>
          </a:p>
          <a:p xmlns:a="http://schemas.openxmlformats.org/drawingml/2006/main">
            <a:r>
              <a:t>Bridging: selected source-chain fields and generic fork observations</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/Users/huoxiyi/Documents/Codex/2026-10-20/w/outputs/walletshield/src/security/batch-evidence.ts</a:t>
            </a:r>
          </a:p>
          <a:p xmlns:a="http://schemas.openxmlformats.org/drawingml/2006/main">
            <a:r>
              <a:t/>
            </a:r>
          </a:p>
          <a:p xmlns:a="http://schemas.openxmlformats.org/drawingml/2006/main">
            <a:r>
              <a:t>/Users/huoxiyi/Documents/Codex/2026-10-20/w/outputs/walletshield/src/security/delegation-evidence.ts</a:t>
            </a:r>
          </a:p>
          <a:p xmlns:a="http://schemas.openxmlformats.org/drawingml/2006/main">
            <a:r>
              <a:t/>
            </a:r>
          </a:p>
          <a:p xmlns:a="http://schemas.openxmlformats.org/drawingml/2006/main">
            <a:r>
              <a:t>/Users/huoxiyi/Documents/Codex/2026-10-20/w/outputs/walletshield/src/security/user-operation-evidence.ts</a:t>
            </a:r>
          </a:p>
          <a:p xmlns:a="http://schemas.openxmlformats.org/drawingml/2006/main">
            <a:r>
              <a:t/>
            </a:r>
          </a:p>
          <a:p xmlns:a="http://schemas.openxmlformats.org/drawingml/2006/main">
            <a:r>
              <a:t>/Users/huoxiyi/Documents/Codex/2026-10-20/w/outputs/walletshield/src/security/bridge-scope.ts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Failure of one collector must not erase successful evidence from others. Unavailable balances, code or allowances are not silently converted to zero. Confirmed-state reads are pinned to a verified network and block; pending nonce is labeled separately. Collectors may complete at different blocks and times, so the report is not presented as one globally synchronized snapshot. Selecting a tool is not the same as completing a check.</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1. Validate input; reject client-supplied scores or reputation conclusions</a:t>
            </a:r>
          </a:p>
          <a:p xmlns:a="http://schemas.openxmlformats.org/drawingml/2006/main">
            <a:r>
              <a:t/>
            </a:r>
          </a:p>
          <a:p xmlns:a="http://schemas.openxmlformats.org/drawingml/2006/main">
            <a:r>
              <a:t>2. Decode ABI / type graphs into a candidate operation</a:t>
            </a:r>
          </a:p>
          <a:p xmlns:a="http://schemas.openxmlformats.org/drawingml/2006/main">
            <a:r>
              <a:t/>
            </a:r>
          </a:p>
          <a:p xmlns:a="http://schemas.openxmlformats.org/drawingml/2006/main">
            <a:r>
              <a:t>3. Select independent RPC, intelligence and simulation collectors</a:t>
            </a:r>
          </a:p>
          <a:p xmlns:a="http://schemas.openxmlformats.org/drawingml/2006/main">
            <a:r>
              <a:t/>
            </a:r>
          </a:p>
          <a:p xmlns:a="http://schemas.openxmlformats.org/drawingml/2006/main">
            <a:r>
              <a:t>4. Assemble facts, qualitative signals, provenance and unresolved checks</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/Users/huoxiyi/Documents/Codex/2026-10-20/w/outputs/walletshield/src/security/routing.ts</a:t>
            </a:r>
          </a:p>
          <a:p xmlns:a="http://schemas.openxmlformats.org/drawingml/2006/main">
            <a:r>
              <a:t/>
            </a:r>
          </a:p>
          <a:p xmlns:a="http://schemas.openxmlformats.org/drawingml/2006/main">
            <a:r>
              <a:t>/Users/huoxiyi/Documents/Codex/2026-10-20/w/outputs/walletshield/src/security/providers.ts</a:t>
            </a:r>
          </a:p>
          <a:p xmlns:a="http://schemas.openxmlformats.org/drawingml/2006/main">
            <a:r>
              <a:t/>
            </a:r>
          </a:p>
          <a:p xmlns:a="http://schemas.openxmlformats.org/drawingml/2006/main">
            <a:r>
              <a:t>/Users/huoxiyi/Documents/Codex/2026-10-20/w/outputs/walletshield/src/security/assessment-scope.ts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usable fact retains a subject, field, value, source, chain, block, time and scope. The packet is a bounded whitelisted summary and evidence set, not full calldata or complete wallet history. Origins are normalized and URL paths, queries and credentials are removed. Message previews and financial fields can still reveal private information; minimization is not anonymity. Missing checks also enter the packet so the model must address insufficient evidence.</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Common: kind, chain, origin, from/to, value, fees and nonce</a:t>
            </a:r>
          </a:p>
          <a:p xmlns:a="http://schemas.openxmlformats.org/drawingml/2006/main">
            <a:r>
              <a:t/>
            </a:r>
          </a:p>
          <a:p xmlns:a="http://schemas.openxmlformats.org/drawingml/2006/main">
            <a:r>
              <a:t>Approval: asset, spender/operator, cap, expiry and current permissions</a:t>
            </a:r>
          </a:p>
          <a:p xmlns:a="http://schemas.openxmlformats.org/drawingml/2006/main">
            <a:r>
              <a:t/>
            </a:r>
          </a:p>
          <a:p xmlns:a="http://schemas.openxmlformats.org/drawingml/2006/main">
            <a:r>
              <a:t>Swap: path, fees, limits, recipient, deadline and simulated changes</a:t>
            </a:r>
          </a:p>
          <a:p xmlns:a="http://schemas.openxmlformats.org/drawingml/2006/main">
            <a:r>
              <a:t/>
            </a:r>
          </a:p>
          <a:p xmlns:a="http://schemas.openxmlformats.org/drawingml/2006/main">
            <a:r>
              <a:t>Signature: type/domain, commitments, digest, nonce/deadline checks</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/Users/huoxiyi/Documents/Codex/2026-10-20/w/outputs/walletshield/src/security/model-facts.ts</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Anvil uses chain 31337 on port 8545. An Infura key configures backend Ethereum-mainnet and Sepolia endpoints; other EVM networks need explicit trusted URLs. No private key is needed for RPC reads. The webpage’s connectivity check calls no Muse and produces no score. A fixed eth_call, one historical balance and a trace probe are bounded capability observations, not proof of full archive or trace availability. Forking also depends on historical state, quotas and supported methods.</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The wallet provider connects accounts and handles user consent</a:t>
            </a:r>
          </a:p>
          <a:p xmlns:a="http://schemas.openxmlformats.org/drawingml/2006/main">
            <a:r>
              <a:t/>
            </a:r>
          </a:p>
          <a:p xmlns:a="http://schemas.openxmlformats.org/drawingml/2006/main">
            <a:r>
              <a:t>RPC supplies chain ID, blocks, balances, code and contract reads</a:t>
            </a:r>
          </a:p>
          <a:p xmlns:a="http://schemas.openxmlformats.org/drawingml/2006/main">
            <a:r>
              <a:t/>
            </a:r>
          </a:p>
          <a:p xmlns:a="http://schemas.openxmlformats.org/drawingml/2006/main">
            <a:r>
              <a:t>Infura is one configurable provider of public-network RPC access</a:t>
            </a:r>
          </a:p>
          <a:p xmlns:a="http://schemas.openxmlformats.org/drawingml/2006/main">
            <a:r>
              <a:t/>
            </a:r>
          </a:p>
          <a:p xmlns:a="http://schemas.openxmlformats.org/drawingml/2006/main">
            <a:r>
              <a:t>RPC availability does not prove trust, safety or complete history</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/Users/huoxiyi/Documents/Codex/2026-10-20/w/outputs/walletshield/src/security/trusted-rpc.ts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GoPlus is off by repository default and controlled by backend settings; inspect status for a particular installation. Candidate counts, concurrency, deadlines and caching are bounded. Fetch timestamps generally do not establish the provider’s underlying data date, so a recent fetch does not prove fresh intelligence. Sourcify contributes source-match observations rather than an audit, official-identity proof or exclusion of malicious behavior. Failures remain unknown.</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GoPlus: supported-chain address, website and token-risk observations</a:t>
            </a:r>
          </a:p>
          <a:p xmlns:a="http://schemas.openxmlformats.org/drawingml/2006/main">
            <a:r>
              <a:t/>
            </a:r>
          </a:p>
          <a:p xmlns:a="http://schemas.openxmlformats.org/drawingml/2006/main">
            <a:r>
              <a:t>Fields may describe sell restrictions, taxes, blacklists and control risks</a:t>
            </a:r>
          </a:p>
          <a:p xmlns:a="http://schemas.openxmlformats.org/drawingml/2006/main">
            <a:r>
              <a:t/>
            </a:r>
          </a:p>
          <a:p xmlns:a="http://schemas.openxmlformats.org/drawingml/2006/main">
            <a:r>
              <a:t>Optional Sourcify: bounded source-match observations</a:t>
            </a:r>
          </a:p>
          <a:p xmlns:a="http://schemas.openxmlformats.org/drawingml/2006/main">
            <a:r>
              <a:t/>
            </a:r>
          </a:p>
          <a:p xmlns:a="http://schemas.openxmlformats.org/drawingml/2006/main">
            <a:r>
              <a:t>A non-hit, missing field or open-source status does not establish safety</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/Users/huoxiyi/Documents/Codex/2026-10-20/w/outputs/walletshield/src/security/intelligence.ts</a:t>
            </a:r>
          </a:p>
          <a:p xmlns:a="http://schemas.openxmlformats.org/drawingml/2006/main">
            <a:r>
              <a:t/>
            </a:r>
          </a:p>
          <a:p xmlns:a="http://schemas.openxmlformats.org/drawingml/2006/main">
            <a:r>
              <a:t>/Users/huoxiyi/Documents/Codex/2026-10-20/w/outputs/walletshield/src/security/source-verification.ts</a:t>
            </a:r>
          </a:p>
          <a:p xmlns:a="http://schemas.openxmlformats.org/drawingml/2006/main">
            <a:r>
              <a:t/>
            </a:r>
          </a:p>
          <a:p xmlns:a="http://schemas.openxmlformats.org/drawingml/2006/main">
            <a:r>
              <a:t>/Users/huoxiyi/Documents/Codex/2026-10-20/w/outputs/walletshield/docs/CURRENT-COVERAGE.md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generic eth_call is distinct from actual fork execution and is not full asset simulation. Fork execution can observe logs, calls, gas and selected asset/authority/vault/lending state changes. Sale failure may result from routing, balances or liquidity rather than fraud. Round-trip loss includes price impact and fees, not only tax. One successful sale cannot exclude later blacklisting, upgrades, MEV or liquidity withdrawal. Specialized V3 round trips require supported token funding and recipients.</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Create a temporary Anvil fork from a recorded upstream block</a:t>
            </a:r>
          </a:p>
          <a:p xmlns:a="http://schemas.openxmlformats.org/drawingml/2006/main">
            <a:r>
              <a:t/>
            </a:r>
          </a:p>
          <a:p xmlns:a="http://schemas.openxmlformats.org/drawingml/2006/main">
            <a:r>
              <a:t>Preserve supplied gas/fees/nonce and observe actual asset changes</a:t>
            </a:r>
          </a:p>
          <a:p xmlns:a="http://schemas.openxmlformats.org/drawingml/2006/main">
            <a:r>
              <a:t/>
            </a:r>
          </a:p>
          <a:p xmlns:a="http://schemas.openxmlformats.org/drawingml/2006/main">
            <a:r>
              <a:t>Supported routes attempt buy → approval → reverse sale</a:t>
            </a:r>
          </a:p>
          <a:p xmlns:a="http://schemas.openxmlformats.org/drawingml/2006/main">
            <a:r>
              <a:t/>
            </a:r>
          </a:p>
          <a:p xmlns:a="http://schemas.openxmlformats.org/drawingml/2006/main">
            <a:r>
              <a:t>Success and failure describe that scenario at that particular state</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/Users/huoxiyi/Documents/Codex/2026-10-20/w/outputs/walletshield/src/security/simulation.ts</a:t>
            </a:r>
          </a:p>
          <a:p xmlns:a="http://schemas.openxmlformats.org/drawingml/2006/main">
            <a:r>
              <a:t/>
            </a:r>
          </a:p>
          <a:p xmlns:a="http://schemas.openxmlformats.org/drawingml/2006/main">
            <a:r>
              <a:t>/Users/huoxiyi/Documents/Codex/2026-10-20/w/outputs/walletshield/src/security/swap-experiments.ts</a:t>
            </a:r>
          </a:p>
          <a:p xmlns:a="http://schemas.openxmlformats.org/drawingml/2006/main">
            <a:r>
              <a:t/>
            </a:r>
          </a:p>
          <a:p xmlns:a="http://schemas.openxmlformats.org/drawingml/2006/main">
            <a:r>
              <a:t>/Users/huoxiyi/Documents/Codex/2026-10-20/w/outputs/walletshield/tests/v3-isolated-execution.integration.ts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has no configured browsing or RPC tools. The backend collects operation-specific data and submits a bounded packet to the Meta Responses API. The number is an independently uncalibrated risk indicator, not a fraud probability, loss probability or trust percentage. Disabled service, exhausted budget, timeout, 429, refusal, invalid output or valid abstention produces no number. Qualitative rules may identify authority or inconsistencies, but do not calculate the score.</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Fixed model: Meta Muse Wonder, muse-wonder-1.0</a:t>
            </a:r>
          </a:p>
          <a:p xmlns:a="http://schemas.openxmlformats.org/drawingml/2006/main">
            <a:r>
              <a:t/>
            </a:r>
          </a:p>
          <a:p xmlns:a="http://schemas.openxmlformats.org/drawingml/2006/main">
            <a:r>
              <a:t>Input: request summary, facts, qualitative signals and gaps</a:t>
            </a:r>
          </a:p>
          <a:p xmlns:a="http://schemas.openxmlformats.org/drawingml/2006/main">
            <a:r>
              <a:t/>
            </a:r>
          </a:p>
          <a:p xmlns:a="http://schemas.openxmlformats.org/drawingml/2006/main">
            <a:r>
              <a:t>Output: an integer 0–100 or null, with reasons and advice</a:t>
            </a:r>
          </a:p>
          <a:p xmlns:a="http://schemas.openxmlformats.org/drawingml/2006/main">
            <a:r>
              <a:t/>
            </a:r>
          </a:p>
          <a:p xmlns:a="http://schemas.openxmlformats.org/drawingml/2006/main">
            <a:r>
              <a:t>No fixed weights, rule points, score floors or fallback number</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/Users/huoxiyi/Documents/Codex/2026-10-20/w/outputs/walletshield/src/security/ai.ts</a:t>
            </a:r>
          </a:p>
          <a:p xmlns:a="http://schemas.openxmlformats.org/drawingml/2006/main">
            <a:r>
              <a:t/>
            </a:r>
          </a:p>
          <a:p xmlns:a="http://schemas.openxmlformats.org/drawingml/2006/main">
            <a:r>
              <a:t>/Users/huoxiyi/Documents/Codex/2026-10-20/w/outputs/walletshield/docs/RELIABILITY-AND-INTEGRATION.md</a:t>
            </a:r>
          </a:p>
          <a:p xmlns:a="http://schemas.openxmlformats.org/drawingml/2006/main">
            <a:r>
              <a:t/>
            </a:r>
          </a:p>
          <a:p xmlns:a="http://schemas.openxmlformats.org/drawingml/2006/main">
            <a:r>
              <a:t>/Users/huoxiyi/Documents/Codex/2026-10-20/w/outputs/walletshield/README.md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dimension must appear exactly once and cite supporting facts and evidence. Exposure uses supported same-asset quantities, balances and fees, without inventing USD loss. Identity cannot rest only on familiar names, source availability or intelligence non-hits. Protocol judgments require supported state and execution observations. Deception uses observable signals and no private-chat, purpose or promised-return questionnaire. Dimensions may remain unknown rather than being forced to a conclusion.</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Authority: who gains asset or account capabilities</a:t>
            </a:r>
          </a:p>
          <a:p xmlns:a="http://schemas.openxmlformats.org/drawingml/2006/main">
            <a:r>
              <a:t/>
            </a:r>
          </a:p>
          <a:p xmlns:a="http://schemas.openxmlformats.org/drawingml/2006/main">
            <a:r>
              <a:t>Exposure: which assets and amounts may be affected</a:t>
            </a:r>
          </a:p>
          <a:p xmlns:a="http://schemas.openxmlformats.org/drawingml/2006/main">
            <a:r>
              <a:t/>
            </a:r>
          </a:p>
          <a:p xmlns:a="http://schemas.openxmlformats.org/drawingml/2006/main">
            <a:r>
              <a:t>Execution: observed calls, effects and failures</a:t>
            </a:r>
          </a:p>
          <a:p xmlns:a="http://schemas.openxmlformats.org/drawingml/2006/main">
            <a:r>
              <a:t/>
            </a:r>
          </a:p>
          <a:p xmlns:a="http://schemas.openxmlformats.org/drawingml/2006/main">
            <a:r>
              <a:t>Identity: address, domain and reputation consistency</a:t>
            </a:r>
          </a:p>
          <a:p xmlns:a="http://schemas.openxmlformats.org/drawingml/2006/main">
            <a:r>
              <a:t/>
            </a:r>
          </a:p>
          <a:p xmlns:a="http://schemas.openxmlformats.org/drawingml/2006/main">
            <a:r>
              <a:t>Protocol: mechanism and supported protocol evidence</a:t>
            </a:r>
          </a:p>
          <a:p xmlns:a="http://schemas.openxmlformats.org/drawingml/2006/main">
            <a:r>
              <a:t/>
            </a:r>
          </a:p>
          <a:p xmlns:a="http://schemas.openxmlformats.org/drawingml/2006/main">
            <a:r>
              <a:t>Deception: inconsistencies in observable messages and requests</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/Users/huoxiyi/Documents/Codex/2026-10-20/w/outputs/walletshield/src/security/model-facts.ts</a:t>
            </a:r>
          </a:p>
          <a:p xmlns:a="http://schemas.openxmlformats.org/drawingml/2006/main">
            <a:r>
              <a:t/>
            </a:r>
          </a:p>
          <a:p xmlns:a="http://schemas.openxmlformats.org/drawingml/2006/main">
            <a:r>
              <a:t>/Users/huoxiyi/Documents/Codex/2026-10-20/w/outputs/walletshield/src/security/ai.ts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format is walletshield-facts-v1. The backend checks citation existence, exact observation copying, dimension relevance, nonce/domain assertions and selected unsupported certainty. Critical gaps prohibit overall low or strong evidence support without imposing a numeric floor. All-unknown or not-applicable dimensions cannot support a number. A repair uses the same evidence and controlled feedback and consumes another attempt. HTTP errors, authentication failures, 429 and refusals do not trigger that repair.</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Facts must match subject/field/value/source and provenance</a:t>
            </a:r>
          </a:p>
          <a:p xmlns:a="http://schemas.openxmlformats.org/drawingml/2006/main">
            <a:r>
              <a:t/>
            </a:r>
          </a:p>
          <a:p xmlns:a="http://schemas.openxmlformats.org/drawingml/2006/main">
            <a:r>
              <a:t>Reasons and dimensions cite real, relevant fact_ids</a:t>
            </a:r>
          </a:p>
          <a:p xmlns:a="http://schemas.openxmlformats.org/drawingml/2006/main">
            <a:r>
              <a:t/>
            </a:r>
          </a:p>
          <a:p xmlns:a="http://schemas.openxmlformats.org/drawingml/2006/main">
            <a:r>
              <a:t>Missing, stale or conflicting evidence limits reassuring and high-confidence claims</a:t>
            </a:r>
          </a:p>
          <a:p xmlns:a="http://schemas.openxmlformats.org/drawingml/2006/main">
            <a:r>
              <a:t/>
            </a:r>
          </a:p>
          <a:p xmlns:a="http://schemas.openxmlformats.org/drawingml/2006/main">
            <a:r>
              <a:t>Invalid output may receive one budgeted repair; otherwise no score</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/Users/huoxiyi/Documents/Codex/2026-10-20/w/outputs/walletshield/src/security/model-facts.ts</a:t>
            </a:r>
          </a:p>
          <a:p xmlns:a="http://schemas.openxmlformats.org/drawingml/2006/main">
            <a:r>
              <a:t/>
            </a:r>
          </a:p>
          <a:p xmlns:a="http://schemas.openxmlformats.org/drawingml/2006/main">
            <a:r>
              <a:t>/Users/huoxiyi/Documents/Codex/2026-10-20/w/outputs/walletshield/src/security/ai-claims.ts</a:t>
            </a:r>
          </a:p>
          <a:p xmlns:a="http://schemas.openxmlformats.org/drawingml/2006/main">
            <a:r>
              <a:t/>
            </a:r>
          </a:p>
          <a:p xmlns:a="http://schemas.openxmlformats.org/drawingml/2006/main">
            <a:r>
              <a:t>/Users/huoxiyi/Documents/Codex/2026-10-20/w/outputs/walletshield/src/security/assessment-scope.ts</a:t>
            </a:r>
          </a:p>
          <a:p xmlns:a="http://schemas.openxmlformats.org/drawingml/2006/main">
            <a:r>
              <a:t/>
            </a:r>
          </a:p>
          <a:p xmlns:a="http://schemas.openxmlformats.org/drawingml/2006/main">
            <a:r>
              <a:t>/Users/huoxiyi/Documents/Codex/2026-10-20/w/outputs/walletshield/docs/RELIABILITY-AND-INTEGRATION.md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preset 90 or other illustrative score is shown because a real number must come from that request’s valid Muse response. The same unlimited cap may yield different assessments for different spenders, assets, existing permissions and evidence. Unknown identity is not evidence of malice, while unlimited authority is an explainable authority signal. Start by canceling this local case, then compare finite approval and revocation. Compare permission scope rather than numbers alone.</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Request: LAB-USD approve(spender, the uint256 maximum)</a:t>
            </a:r>
          </a:p>
          <a:p xmlns:a="http://schemas.openxmlformats.org/drawingml/2006/main">
            <a:r>
              <a:t/>
            </a:r>
          </a:p>
          <a:p xmlns:a="http://schemas.openxmlformats.org/drawingml/2006/main">
            <a:r>
              <a:t>Evidence: spender, cap, balance, allowance, code and intelligence</a:t>
            </a:r>
          </a:p>
          <a:p xmlns:a="http://schemas.openxmlformats.org/drawingml/2006/main">
            <a:r>
              <a:t/>
            </a:r>
          </a:p>
          <a:p xmlns:a="http://schemas.openxmlformats.org/drawingml/2006/main">
            <a:r>
              <a:t>Meaning: valid authority may allow later token transfers</a:t>
            </a:r>
          </a:p>
          <a:p xmlns:a="http://schemas.openxmlformats.org/drawingml/2006/main">
            <a:r>
              <a:t/>
            </a:r>
          </a:p>
          <a:p xmlns:a="http://schemas.openxmlformats.org/drawingml/2006/main">
            <a:r>
              <a:t>Read Muse’s reasons and gaps in the wallet, then confirm or cancel</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/Users/huoxiyi/Documents/Codex/2026-10-20/w/outputs/walletshield/src/security/coverage.ts</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/Users/huoxiyi/Documents/Codex/2026-10-20/w/outputs/walletshield/src/security/rules.ts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builds the web app and Snap, starts a fresh owned Anvil node, deploys the base token and lab contracts, and launches services. A new demo has fresh in-memory chain state: old balances and transactions disappear while SQLite history remains. Keep the terminal open and use Ctrl+C there to stop its owned services. Do not run another instance on the same ports. Keep MODEL_API_KEY, ENABLE_META_AI and daily attempt limits in ignored local configuration, never source code or slides.</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Install: npm ci; start: npm run demo</a:t>
            </a:r>
          </a:p>
          <a:p xmlns:a="http://schemas.openxmlformats.org/drawingml/2006/main">
            <a:r>
              <a:t/>
            </a:r>
          </a:p>
          <a:p xmlns:a="http://schemas.openxmlformats.org/drawingml/2006/main">
            <a:r>
              <a:t>Services: web 5173 / API 8787 / Snap 8080 / chain 8545</a:t>
            </a:r>
          </a:p>
          <a:p xmlns:a="http://schemas.openxmlformats.org/drawingml/2006/main">
            <a:r>
              <a:t/>
            </a:r>
          </a:p>
          <a:p xmlns:a="http://schemas.openxmlformats.org/drawingml/2006/main">
            <a:r>
              <a:t>Meta key: .local/meta.env; configured, enabled scans call Muse</a:t>
            </a:r>
          </a:p>
          <a:p xmlns:a="http://schemas.openxmlformats.org/drawingml/2006/main">
            <a:r>
              <a:t/>
            </a:r>
          </a:p>
          <a:p xmlns:a="http://schemas.openxmlformats.org/drawingml/2006/main">
            <a:r>
              <a:t>Local tests need no Infura; configure RPC for public-network reads</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Preparation tops up TEST-USD, LAB-USD, LAB-Q, LAB-BLOCK and test NFTs while preserving larger balances. WLAB is obtained through wrapping. LAB-BLOCK deliberately restricts sales to exercise evidence paths rather than model a market. Clearing affects only the selected account’s known local fixture wallet assets. It does not reset the chain, remove unknown tokens, or clear protocol positions, history and every standing approval. Partial completion may persist after a failure; refresh inventory before retrying.</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Prepare target balances: 10 test ETH plus fixture tokens and NFTs</a:t>
            </a:r>
          </a:p>
          <a:p xmlns:a="http://schemas.openxmlformats.org/drawingml/2006/main">
            <a:r>
              <a:t/>
            </a:r>
          </a:p>
          <a:p xmlns:a="http://schemas.openxmlformats.org/drawingml/2006/main">
            <a:r>
              <a:t>wallet_watchAsset requests display; it does not create chain balances</a:t>
            </a:r>
          </a:p>
          <a:p xmlns:a="http://schemas.openxmlformats.org/drawingml/2006/main">
            <a:r>
              <a:t/>
            </a:r>
          </a:p>
          <a:p xmlns:a="http://schemas.openxmlformats.org/drawingml/2006/main">
            <a:r>
              <a:t>deploy:lab checks or deploys fixtures on an existing local chain</a:t>
            </a:r>
          </a:p>
          <a:p xmlns:a="http://schemas.openxmlformats.org/drawingml/2006/main">
            <a:r>
              <a:t/>
            </a:r>
          </a:p>
          <a:p xmlns:a="http://schemas.openxmlformats.org/drawingml/2006/main">
            <a:r>
              <a:t>Router approvals, deposits and positions need separate wallet consent</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/Users/huoxiyi/Documents/Codex/2026-10-20/w/outputs/walletshield/docs/USER-MANUAL.md</a:t>
            </a:r>
          </a:p>
          <a:p xmlns:a="http://schemas.openxmlformats.org/drawingml/2006/main">
            <a:r>
              <a:t/>
            </a:r>
          </a:p>
          <a:p xmlns:a="http://schemas.openxmlformats.org/drawingml/2006/main">
            <a:r>
              <a:t>/Users/huoxiyi/Documents/Codex/2026-10-20/w/outputs/walletshield/scripts/deploy-lab.ts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simple permissions before complex operations: inspect and cancel unlimited approval, compare finite approval, then revoke. Compare a normal swap with restricted selling. Message cases may need advancing to MetaMask’s Sign step before insights appear. Not observed does not count as completed Snap delivery, even with a signature response or webpage API report. Without a successful model result, delivery and evidence can still be tested, but AI scoring has not passed.</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Connect a test account, install/pair the Snap and verify health</a:t>
            </a:r>
          </a:p>
          <a:p xmlns:a="http://schemas.openxmlformats.org/drawingml/2006/main">
            <a:r>
              <a:t/>
            </a:r>
          </a:p>
          <a:p xmlns:a="http://schemas.openxmlformats.org/drawingml/2006/main">
            <a:r>
              <a:t>Prepare assets; compare unlimited, finite and revoked approval</a:t>
            </a:r>
          </a:p>
          <a:p xmlns:a="http://schemas.openxmlformats.org/drawingml/2006/main">
            <a:r>
              <a:t/>
            </a:r>
          </a:p>
          <a:p xmlns:a="http://schemas.openxmlformats.org/drawingml/2006/main">
            <a:r>
              <a:t>Then test transfers, NFTs, Permit, swaps and control cases</a:t>
            </a:r>
          </a:p>
          <a:p xmlns:a="http://schemas.openxmlformats.org/drawingml/2006/main">
            <a:r>
              <a:t/>
            </a:r>
          </a:p>
          <a:p xmlns:a="http://schemas.openxmlformats.org/drawingml/2006/main">
            <a:r>
              <a:t>Check report ID, paired-snap capture and wallet confirm/cancel outcome</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/Users/huoxiyi/Documents/Codex/2026-10-20/w/outputs/walletshield/docs/USER-MANUAL.md</a:t>
            </a:r>
          </a:p>
          <a:p xmlns:a="http://schemas.openxmlformats.org/drawingml/2006/main">
            <a:r>
              <a:t/>
            </a:r>
          </a:p>
          <a:p xmlns:a="http://schemas.openxmlformats.org/drawingml/2006/main">
            <a:r>
              <a:t>/Users/huoxiyi/Documents/Codex/2026-10-20/w/outputs/walletshield/src/security/types.ts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Approve report names the method; it does not prove user confirmation. A returned signature does not prove third-party consumption. Unsigned messages and selected fields may reach the backend and Meta; RPC sees queried addresses and GoPlus sees selected candidates. The backend and AI do not receive generated asset signatures. The lab webpage receives them in-browser, checks their return format and discards them. No seed phrase or private key is requested. SQLite is not application-encrypted. Deletion is logical, not forensic erasure from disks, WAL, backups or third-party logs. Hosted login uses a separate explicit one-time signature.</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Reports store parsed input, evidence, Muse output and unresolved checks</a:t>
            </a:r>
          </a:p>
          <a:p xmlns:a="http://schemas.openxmlformats.org/drawingml/2006/main">
            <a:r>
              <a:t/>
            </a:r>
          </a:p>
          <a:p xmlns:a="http://schemas.openxmlformats.org/drawingml/2006/main">
            <a:r>
              <a:t>Canceling can still leave a completed pre-sign report</a:t>
            </a:r>
          </a:p>
          <a:p xmlns:a="http://schemas.openxmlformats.org/drawingml/2006/main">
            <a:r>
              <a:t/>
            </a:r>
          </a:p>
          <a:p xmlns:a="http://schemas.openxmlformats.org/drawingml/2006/main">
            <a:r>
              <a:t>Generated lab asset signatures are format-checked, then discarded in-browser</a:t>
            </a:r>
          </a:p>
          <a:p xmlns:a="http://schemas.openxmlformats.org/drawingml/2006/main">
            <a:r>
              <a:t/>
            </a:r>
          </a:p>
          <a:p xmlns:a="http://schemas.openxmlformats.org/drawingml/2006/main">
            <a:r>
              <a:t>Hosted reports are owner-scoped, with credential revocation and deletion</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/Users/huoxiyi/Documents/Codex/2026-10-20/w/outputs/walletshield/docs/CURRENT-COVERAGE.md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networks checks backend RPC and optional account state, then uses a unique ordinary personal_sign message to verify actual Snap submission. It is not a Permit, order or asset transfer, and the generated signature is discarded; enabled analysis consumes model budget. Backend RPC and wallet network settings are separate. Hosted implementation provides address-bound authentication, pairing, quotas and private history. Building a package is not publishing it or establishing unlimited public capacity.</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Start on Sepolia with a dedicated account and verify RPC/pairing/delivery</a:t>
            </a:r>
          </a:p>
          <a:p xmlns:a="http://schemas.openxmlformats.org/drawingml/2006/main">
            <a:r>
              <a:t/>
            </a:r>
          </a:p>
          <a:p xmlns:a="http://schemas.openxmlformats.org/drawingml/2006/main">
            <a:r>
              <a:t>Public network switching calls the wallet directly without Muse</a:t>
            </a:r>
          </a:p>
          <a:p xmlns:a="http://schemas.openxmlformats.org/drawingml/2006/main">
            <a:r>
              <a:t/>
            </a:r>
          </a:p>
          <a:p xmlns:a="http://schemas.openxmlformats.org/drawingml/2006/main">
            <a:r>
              <a:t>Initiate asset requests in external dApps and review each wallet insight</a:t>
            </a:r>
          </a:p>
          <a:p xmlns:a="http://schemas.openxmlformats.org/drawingml/2006/main">
            <a:r>
              <a:t/>
            </a:r>
          </a:p>
          <a:p xmlns:a="http://schemas.openxmlformats.org/drawingml/2006/main">
            <a:r>
              <a:t>Hosting needs HTTPS, identity login, Snap distribution and browser acceptance</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/Users/huoxiyi/Documents/Codex/2026-10-20/w/outputs/walletshield/docs/USER-MANUAL.md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23 integration scenarios comprise 16 token-funded V3 normal/blocked-sale paths, one generic native simulation, two vault/lending before-and-after observations and four authority changes. They run on disposable isolated nodes, without writing to the user’s lab or public chains. Offline evaluate:ai makes no model or RPC calls; it tests evidence and output guards. Real MetaMask delivery, paid Muse output and public deployment require separate acceptance and cannot be inferred from unit tests.</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441 unit tests pass across validation, evidence, boundaries and persistence</a:t>
            </a:r>
          </a:p>
          <a:p xmlns:a="http://schemas.openxmlformats.org/drawingml/2006/main">
            <a:r>
              <a:t/>
            </a:r>
          </a:p>
          <a:p xmlns:a="http://schemas.openxmlformats.org/drawingml/2006/main">
            <a:r>
              <a:t>23 isolated scenarios cover V3, generic native, vault/lending and authority</a:t>
            </a:r>
          </a:p>
          <a:p xmlns:a="http://schemas.openxmlformats.org/drawingml/2006/main">
            <a:r>
              <a:t/>
            </a:r>
          </a:p>
          <a:p xmlns:a="http://schemas.openxmlformats.org/drawingml/2006/main">
            <a:r>
              <a:t>Offline AI validation: 12 synthetic cases and 120 adversarial mutations</a:t>
            </a:r>
          </a:p>
          <a:p xmlns:a="http://schemas.openxmlformats.org/drawingml/2006/main">
            <a:r>
              <a:t/>
            </a:r>
          </a:p>
          <a:p xmlns:a="http://schemas.openxmlformats.org/drawingml/2006/main">
            <a:r>
              <a:t>No independent false-positive/negative, calibration or live-repeatability result</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/Users/huoxiyi/Documents/Codex/2026-10-20/w/outputs/walletshield/tests/v3-isolated-execution.integration.ts</a:t>
            </a:r>
          </a:p>
          <a:p xmlns:a="http://schemas.openxmlformats.org/drawingml/2006/main">
            <a:r>
              <a:t/>
            </a:r>
          </a:p>
          <a:p xmlns:a="http://schemas.openxmlformats.org/drawingml/2006/main">
            <a:r>
              <a:t>/Users/huoxiyi/Documents/Codex/2026-10-20/w/outputs/walletshield/scripts/evaluate-ai.ts</a:t>
            </a:r>
          </a:p>
          <a:p xmlns:a="http://schemas.openxmlformats.org/drawingml/2006/main">
            <a:r>
              <a:t/>
            </a:r>
          </a:p>
          <a:p xmlns:a="http://schemas.openxmlformats.org/drawingml/2006/main">
            <a:r>
              <a:t>/Users/huoxiyi/Documents/Codex/2026-10-20/w/outputs/walletshield/README.md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Unknown is not automatically dangerous, but cannot be treated as safe. Contracts may lie about interfaces; RPC and intelligence may be wrong or stale. Chain state cannot prove real-world identity or future honesty, and available source is not a completed audit. Complete market quotes, economic stress tests, administrator graphs and arbitrary-code semantics remain unavailable. Reports should state these limits rather than use model memory to invent facts.</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Requests never delivered by the wallet cannot be observed</a:t>
            </a:r>
          </a:p>
          <a:p xmlns:a="http://schemas.openxmlformats.org/drawingml/2006/main">
            <a:r>
              <a:t/>
            </a:r>
          </a:p>
          <a:p xmlns:a="http://schemas.openxmlformats.org/drawingml/2006/main">
            <a:r>
              <a:t>Coverage is partial for custom protocols, witnesses and opaque aggregators</a:t>
            </a:r>
          </a:p>
          <a:p xmlns:a="http://schemas.openxmlformats.org/drawingml/2006/main">
            <a:r>
              <a:t/>
            </a:r>
          </a:p>
          <a:p xmlns:a="http://schemas.openxmlformats.org/drawingml/2006/main">
            <a:r>
              <a:t>Future prices, sales, upgrades, MEV and bridge arrival are not guaranteed</a:t>
            </a:r>
          </a:p>
          <a:p xmlns:a="http://schemas.openxmlformats.org/drawingml/2006/main">
            <a:r>
              <a:t/>
            </a:r>
          </a:p>
          <a:p xmlns:a="http://schemas.openxmlformats.org/drawingml/2006/main">
            <a:r>
              <a:t>Non-EVM, device compromise, exchange internals and recovery are out of scope</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/Users/huoxiyi/Documents/Codex/2026-10-20/w/outputs/walletshield/docs/CURRENT-COVERAGE.md</a:t>
            </a:r>
          </a:p>
          <a:p xmlns:a="http://schemas.openxmlformats.org/drawingml/2006/main">
            <a:r>
              <a:t/>
            </a:r>
          </a:p>
          <a:p xmlns:a="http://schemas.openxmlformats.org/drawingml/2006/main">
            <a:r>
              <a:t>/Users/huoxiyi/Documents/Codex/2026-10-20/w/outputs/walletshield/src/security/coverage.ts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demonstrable value is connecting request meaning, tool evidence and model reasoning with a traceable report, not claiming universal risk coverage. Freeze the demonstration scope and use a bounded acceptance matrix for delivery, field correctness, preserved gaps, valid scoring and outcome association. Then evaluate underestimated dangerous requests and false alarms on independently labeled cases before expanding protocols or wallets. Public release is a separate engineering stage; configuring Infura or Meta keys does not launch the product.</a:t>
            </a:r>
          </a:p>
          <a:p xmlns:a="http://schemas.openxmlformats.org/drawingml/2006/main">
            <a:r>
              <a:t/>
            </a:r>
          </a:p>
          <a:p xmlns:a="http://schemas.openxmlformats.org/drawingml/2006/main">
            <a:r>
              <a:t>Slide detail</a:t>
            </a:r>
          </a:p>
          <a:p xmlns:a="http://schemas.openxmlformats.org/drawingml/2006/main">
            <a:r>
              <a:t/>
            </a:r>
          </a:p>
          <a:p xmlns:a="http://schemas.openxmlformats.org/drawingml/2006/main">
            <a:r>
              <a:t>Near term: validate core transactions and signatures through the real Snap</a:t>
            </a:r>
          </a:p>
          <a:p xmlns:a="http://schemas.openxmlformats.org/drawingml/2006/main">
            <a:r>
              <a:t/>
            </a:r>
          </a:p>
          <a:p xmlns:a="http://schemas.openxmlformats.org/drawingml/2006/main">
            <a:r>
              <a:t>Evaluation: independent benign/adverse cases and repeated Muse tests</a:t>
            </a:r>
          </a:p>
          <a:p xmlns:a="http://schemas.openxmlformats.org/drawingml/2006/main">
            <a:r>
              <a:t/>
            </a:r>
          </a:p>
          <a:p xmlns:a="http://schemas.openxmlformats.org/drawingml/2006/main">
            <a:r>
              <a:t>Reliability: priority adapters, failure recovery and cost/latency observation</a:t>
            </a:r>
          </a:p>
          <a:p xmlns:a="http://schemas.openxmlformats.org/drawingml/2006/main">
            <a:r>
              <a:t/>
            </a:r>
          </a:p>
          <a:p xmlns:a="http://schemas.openxmlformats.org/drawingml/2006/main">
            <a:r>
              <a:t>Release: HTTPS, distribution, privacy policy and load/operations validation</a:t>
            </a:r>
          </a:p>
          <a:p xmlns:a="http://schemas.openxmlformats.org/drawingml/2006/main">
            <a:r>
              <a:t/>
            </a:r>
          </a:p>
          <a:p xmlns:a="http://schemas.openxmlformats.org/drawingml/2006/main">
            <a:r>
              <a:t/>
            </a:r>
          </a:p>
          <a:p xmlns:a="http://schemas.openxmlformats.org/drawingml/2006/main">
            <a:r>
              <a:t>Sources (project snapshot, 2026-10-22):</a:t>
            </a:r>
          </a:p>
          <a:p xmlns:a="http://schemas.openxmlformats.org/drawingml/2006/main">
            <a:r>
              <a:t/>
            </a:r>
          </a:p>
          <a:p xmlns:a="http://schemas.openxmlformats.org/drawingml/2006/main">
            <a:r>
              <a:t>/Users/huoxiyi/Documents/Codex/2026-10-20/w/outputs/walletshield/README.md</a:t>
            </a:r>
          </a:p>
          <a:p xmlns:a="http://schemas.openxmlformats.org/drawingml/2006/main">
            <a:r>
              <a:t/>
            </a:r>
          </a:p>
          <a:p xmlns:a="http://schemas.openxmlformats.org/drawingml/2006/main">
            <a:r>
              <a:t>/Users/huoxiyi/Documents/Codex/2026-10-20/w/outputs/walletshield/docs/CURRENT-COVERAGE.md</a:t>
            </a:r>
          </a:p>
          <a:p xmlns:a="http://schemas.openxmlformats.org/drawingml/2006/main">
            <a:r>
              <a:t/>
            </a:r>
          </a:p>
          <a:p xmlns:a="http://schemas.openxmlformats.org/drawingml/2006/main">
            <a:r>
              <a:t>/Users/huoxiyi/Documents/Codex/2026-10-20/w/outputs/walletshield/docs/RELIABILITY-AND-INTEGRATION.md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1f886c3dba42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f4c0366b624c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454872c059f4c9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9883001fac46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0743e0b1ab433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3206841724743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1862A3-4094-440A-9517-18039F6073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9CBE50A-E8B1-470A-B0DC-B1507834B10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4FEE011-9DEE-4229-9321-0DE477DF0F0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830EF4-DB74-40CD-8939-CA52962B6D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267714C-5F31-4733-8296-C42D054F6A8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A3A7D2-AB98-4888-A224-D7A7342387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D0DF7A-A799-47A6-A99F-275ECF3E45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7637C2F-3515-4764-B24F-7CC1C1C838A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3BF357-BCF6-4C35-B258-6C97187A39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F155A9-B669-422C-892E-21753DCE692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e7bdae8b604e72" /><Relationship Type="http://schemas.openxmlformats.org/officeDocument/2006/relationships/slideLayout" Target="/ppt/slideLayouts/slideLayout1.xml" Id="R175f56c95c854d89" /><Relationship Type="http://schemas.openxmlformats.org/officeDocument/2006/relationships/slideLayout" Target="/ppt/slideLayouts/slideLayout2.xml" Id="R9097901bf221482c" /><Relationship Type="http://schemas.openxmlformats.org/officeDocument/2006/relationships/slideLayout" Target="/ppt/slideLayouts/slideLayout3.xml" Id="R5172a8c31e754d45" /><Relationship Type="http://schemas.openxmlformats.org/officeDocument/2006/relationships/slideLayout" Target="/ppt/slideLayouts/slideLayout4.xml" Id="R5e52c4fa1c1e4d1f" /><Relationship Type="http://schemas.openxmlformats.org/officeDocument/2006/relationships/slideLayout" Target="/ppt/slideLayouts/slideLayout5.xml" Id="Ra81f942f3c854e69" /><Relationship Type="http://schemas.openxmlformats.org/officeDocument/2006/relationships/slideLayout" Target="/ppt/slideLayouts/slideLayout6.xml" Id="Rce77d2a59af145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5f56c95c854d89"/>
    <p:sldLayoutId xmlns:r="http://schemas.openxmlformats.org/officeDocument/2006/relationships" id="2147483650" r:id="R9097901bf221482c"/>
    <p:sldLayoutId xmlns:r="http://schemas.openxmlformats.org/officeDocument/2006/relationships" id="2147483651" r:id="R5172a8c31e754d45"/>
    <p:sldLayoutId xmlns:r="http://schemas.openxmlformats.org/officeDocument/2006/relationships" id="2147483652" r:id="R5e52c4fa1c1e4d1f"/>
    <p:sldLayoutId xmlns:r="http://schemas.openxmlformats.org/officeDocument/2006/relationships" id="2147483653" r:id="Ra81f942f3c854e69"/>
    <p:sldLayoutId xmlns:r="http://schemas.openxmlformats.org/officeDocument/2006/relationships" id="2147483654" r:id="Rce77d2a59af145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7b06f0a83254088" /><Relationship Type="http://schemas.openxmlformats.org/officeDocument/2006/relationships/image" Target="/ppt/media/image.png" Id="R7a77ad312edb47c6" /><Relationship Type="http://schemas.openxmlformats.org/officeDocument/2006/relationships/notesSlide" Target="/ppt/notesSlides/notesSlide1.xml" Id="R61ff746cfdbb41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da9d9467954e17" /><Relationship Type="http://schemas.openxmlformats.org/officeDocument/2006/relationships/notesSlide" Target="/ppt/notesSlides/notesSlide2.xml" Id="Rb64dfd55cb5944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4b46da0a4c498d" /><Relationship Type="http://schemas.openxmlformats.org/officeDocument/2006/relationships/notesSlide" Target="/ppt/notesSlides/notesSlide3.xml" Id="R9f33ccdf1dbc49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a21f2587be549d5" /><Relationship Type="http://schemas.openxmlformats.org/officeDocument/2006/relationships/notesSlide" Target="/ppt/notesSlides/notesSlide4.xml" Id="R3d788dcc173f47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6c331dfebc84adc" /><Relationship Type="http://schemas.openxmlformats.org/officeDocument/2006/relationships/notesSlide" Target="/ppt/notesSlides/notesSlide5.xml" Id="R83a265a08eaf4f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a7e5e8ee5f44d72" /><Relationship Type="http://schemas.openxmlformats.org/officeDocument/2006/relationships/notesSlide" Target="/ppt/notesSlides/notesSlide6.xml" Id="R4cfe606f7eda43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1985ab5f11e4f30" /><Relationship Type="http://schemas.openxmlformats.org/officeDocument/2006/relationships/notesSlide" Target="/ppt/notesSlides/notesSlide7.xml" Id="Rfee4a2b6db1b47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39362bb032248c5" /><Relationship Type="http://schemas.openxmlformats.org/officeDocument/2006/relationships/chart" Target="/ppt/slides/charts/chart1.xml" Id="Rdf9c1f990d894ed5" /><Relationship Type="http://schemas.openxmlformats.org/officeDocument/2006/relationships/notesSlide" Target="/ppt/notesSlides/notesSlide8.xml" Id="R741f211f8b664f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80b1c28d7614811" /><Relationship Type="http://schemas.openxmlformats.org/officeDocument/2006/relationships/notesSlide" Target="/ppt/notesSlides/notesSlide9.xml" Id="R6db8f913f1a545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1b4e1392ad74e5c" /><Relationship Type="http://schemas.openxmlformats.org/officeDocument/2006/relationships/notesSlide" Target="/ppt/notesSlides/notesSlide10.xml" Id="Rd1f4f813c6eb4f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41dc40b42b1451a" /><Relationship Type="http://schemas.openxmlformats.org/officeDocument/2006/relationships/notesSlide" Target="/ppt/notesSlides/notesSlide11.xml" Id="R03fb58ae465043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2bb98ae4f794ead" /><Relationship Type="http://schemas.openxmlformats.org/officeDocument/2006/relationships/notesSlide" Target="/ppt/notesSlides/notesSlide12.xml" Id="R77a22e7845d643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bdbed9b48b5445a" /><Relationship Type="http://schemas.openxmlformats.org/officeDocument/2006/relationships/notesSlide" Target="/ppt/notesSlides/notesSlide13.xml" Id="Rcc60398dad5a4f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70b478d1ee5402c" /><Relationship Type="http://schemas.openxmlformats.org/officeDocument/2006/relationships/notesSlide" Target="/ppt/notesSlides/notesSlide14.xml" Id="Ra377d153f9fd4ed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746e9e8af9b4748" /><Relationship Type="http://schemas.openxmlformats.org/officeDocument/2006/relationships/notesSlide" Target="/ppt/notesSlides/notesSlide15.xml" Id="Rb703d4f78d60440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001b7a6e0e849c4" /><Relationship Type="http://schemas.openxmlformats.org/officeDocument/2006/relationships/notesSlide" Target="/ppt/notesSlides/notesSlide16.xml" Id="R68938f0efd754a9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9702a8208eb4b29" /><Relationship Type="http://schemas.openxmlformats.org/officeDocument/2006/relationships/notesSlide" Target="/ppt/notesSlides/notesSlide17.xml" Id="R8c101b483d8649b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8d1b98752514ffd" /><Relationship Type="http://schemas.openxmlformats.org/officeDocument/2006/relationships/notesSlide" Target="/ppt/notesSlides/notesSlide18.xml" Id="Racb039e49f99447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519b7b779074671" /><Relationship Type="http://schemas.openxmlformats.org/officeDocument/2006/relationships/notesSlide" Target="/ppt/notesSlides/notesSlide19.xml" Id="R1a7b019cc34b491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6426a8a8abd4236" /><Relationship Type="http://schemas.openxmlformats.org/officeDocument/2006/relationships/notesSlide" Target="/ppt/notesSlides/notesSlide20.xml" Id="R8cb3e82063ec407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86c12bd0c3b4695" /><Relationship Type="http://schemas.openxmlformats.org/officeDocument/2006/relationships/notesSlide" Target="/ppt/notesSlides/notesSlide21.xml" Id="R08baed1f10e34d5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e9cc84597ab450f" /><Relationship Type="http://schemas.openxmlformats.org/officeDocument/2006/relationships/notesSlide" Target="/ppt/notesSlides/notesSlide22.xml" Id="R1ac313729760438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a2b3ae82be843fa" /><Relationship Type="http://schemas.openxmlformats.org/officeDocument/2006/relationships/notesSlide" Target="/ppt/notesSlides/notesSlide23.xml" Id="R65d27612d9e5454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9df238c55eb4b47" /><Relationship Type="http://schemas.openxmlformats.org/officeDocument/2006/relationships/notesSlide" Target="/ppt/notesSlides/notesSlide24.xml" Id="Ree9bf57fbb434bc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59c1035fa8d4fdb" /><Relationship Type="http://schemas.openxmlformats.org/officeDocument/2006/relationships/notesSlide" Target="/ppt/notesSlides/notesSlide25.xml" Id="Rcde4667d947f415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a145f63098b4d11" /><Relationship Type="http://schemas.openxmlformats.org/officeDocument/2006/relationships/notesSlide" Target="/ppt/notesSlides/notesSlide26.xml" Id="Rd16ef4dea2804c5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5a5a5f886624b99" /><Relationship Type="http://schemas.openxmlformats.org/officeDocument/2006/relationships/notesSlide" Target="/ppt/notesSlides/notesSlide27.xml" Id="R1541ad673590465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4eabf1b73e546df" /><Relationship Type="http://schemas.openxmlformats.org/officeDocument/2006/relationships/notesSlide" Target="/ppt/notesSlides/notesSlide28.xml" Id="Ra0c563566ac246b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8c8896892a44bf2" /><Relationship Type="http://schemas.openxmlformats.org/officeDocument/2006/relationships/notesSlide" Target="/ppt/notesSlides/notesSlide29.xml" Id="R0738dae8a93e402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845bd7f794a4893" /><Relationship Type="http://schemas.openxmlformats.org/officeDocument/2006/relationships/notesSlide" Target="/ppt/notesSlides/notesSlide30.xml" Id="Rac6d8fbbfeec45b0"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10232E"/>
                </a:solidFill>
                <a:latin typeface="Avenir Next"/>
                <a:ea typeface="Avenir Next"/>
                <a:cs typeface="Avenir Next"/>
              </a:rPr>
              <a:t>Local cases by request type</a:t>
            </a:r>
          </a:p>
        </c:rich>
      </c:tx>
      <c:overlay val="0"/>
      <c:txPr>
        <a:bodyPr xmlns:a="http://schemas.openxmlformats.org/drawingml/2006/main" anchorCtr="1"/>
        <a:lstStyle xmlns:a="http://schemas.openxmlformats.org/drawingml/2006/main"/>
        <a:p xmlns:a="http://schemas.openxmlformats.org/drawingml/2006/main">
          <a:pPr>
            <a:defRPr sz="1725" b="1">
              <a:solidFill>
                <a:srgbClr val="10232E"/>
              </a:solidFill>
              <a:latin typeface="Avenir Next"/>
              <a:ea typeface="Avenir Next"/>
              <a:cs typeface="Avenir Next"/>
            </a:defRPr>
          </a:pPr>
        </a:p>
      </c:txPr>
    </c:title>
    <c:plotArea>
      <c:barChart>
        <c:barDir val="col"/>
        <c:grouping val="clustered"/>
        <c:varyColors val="0"/>
        <c:ser>
          <c:idx val="0"/>
          <c:order val="0"/>
          <c:tx>
            <c:v>Cases</c:v>
          </c:tx>
          <c:spPr>
            <a:solidFill xmlns:a="http://schemas.openxmlformats.org/drawingml/2006/main">
              <a:srgbClr val="0E7668"/>
            </a:solidFill>
          </c:spPr>
          <c:invertIfNegative val="0"/>
          <c:cat>
            <c:strLit>
              <c:ptCount val="2"/>
              <c:pt idx="0">
                <c:v>Transactions</c:v>
              </c:pt>
              <c:pt idx="1">
                <c:v>Message signatures</c:v>
              </c:pt>
            </c:strLit>
          </c:cat>
          <c:val>
            <c:numLit>
              <c:formatCode>0</c:formatCode>
              <c:ptCount val="2"/>
              <c:pt idx="0">
                <c:v>51</c:v>
              </c:pt>
              <c:pt idx="1">
                <c:v>15</c:v>
              </c:pt>
            </c:numLit>
          </c:val>
        </c:ser>
        <c:dLbls>
          <c:txPr>
            <a:bodyPr xmlns:a="http://schemas.openxmlformats.org/drawingml/2006/main" anchorCtr="1"/>
            <a:lstStyle xmlns:a="http://schemas.openxmlformats.org/drawingml/2006/main"/>
            <a:p xmlns:a="http://schemas.openxmlformats.org/drawingml/2006/main">
              <a:pPr>
                <a:defRPr sz="1800" b="1">
                  <a:solidFill>
                    <a:srgbClr val="10232E"/>
                  </a:solidFill>
                  <a:latin typeface="Avenir Next"/>
                  <a:ea typeface="Avenir Next"/>
                  <a:cs typeface="Avenir Next"/>
                </a:defRPr>
              </a:pPr>
            </a:p>
          </c:txPr>
          <c:dLblPos val="outEnd"/>
          <c:showLegendKey val="0"/>
          <c:showVal val="1"/>
          <c:showCatName val="0"/>
          <c:showSerName val="0"/>
          <c:showPercent val="0"/>
          <c:showBubbleSize val="0"/>
          <c:showLeaderLines val="0"/>
        </c:dLbls>
        <c:gapWidth val="1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26B78"/>
                </a:solidFill>
                <a:latin typeface="Avenir Next"/>
                <a:ea typeface="Avenir Next"/>
                <a:cs typeface="Avenir Next"/>
              </a:defRPr>
            </a:pPr>
          </a:p>
        </c:txPr>
        <c:crossAx val="48672768"/>
      </c:catAx>
      <c:valAx>
        <c:axId val="48672768"/>
        <c:scaling>
          <c:orientation val="minMax"/>
          <c:max val="60"/>
          <c:min val="0"/>
        </c:scaling>
        <c:delete val="0"/>
        <c:axPos val="l"/>
        <c:majorGridlines>
          <c:spPr>
            <a:ln xmlns:a="http://schemas.openxmlformats.org/drawingml/2006/main" w="4763">
              <a:solidFill>
                <a:srgbClr val="D9E4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B78"/>
                </a:solidFill>
                <a:latin typeface="Avenir Next"/>
                <a:ea typeface="Avenir Next"/>
                <a:cs typeface="Avenir Next"/>
              </a:defRPr>
            </a:pPr>
          </a:p>
        </c:txPr>
        <c:crossAx val="48650112"/>
        <c:crossBetween val="between"/>
        <c:majorUnit val="15"/>
      </c:valAx>
      <c:spPr>
        <a:solidFill xmlns:a="http://schemas.openxmlformats.org/drawingml/2006/main">
          <a:srgbClr val="F7FAFA"/>
        </a:solidFill>
        <a:ln xmlns:a="http://schemas.openxmlformats.org/drawingml/2006/main" w="0">
          <a:noFill/>
        </a:ln>
      </c:spPr>
    </c:plotArea>
    <c:plotVisOnly val="1"/>
  </c:chart>
  <c:spPr>
    <a:solidFill xmlns:a="http://schemas.openxmlformats.org/drawingml/2006/main">
      <a:srgbClr val="F7FAFA"/>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0A1118"/>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D313DD6-5A5C-4083-8153-0FD197DEA83F}"/>
              </a:ext>
            </a:extLst>
          </p:cNvPr>
          <p:cNvSpPr>
            <a:spLocks xmlns:a="http://schemas.openxmlformats.org/drawingml/2006/main" noGrp="1"/>
          </p:cNvSpPr>
          <p:nvPr/>
        </p:nvSpPr>
        <p:spPr>
          <a:xfrm xmlns:a="http://schemas.openxmlformats.org/drawingml/2006/main">
            <a:off x="723900" y="1571625"/>
            <a:ext cx="1000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850" b="1">
                <a:solidFill>
                  <a:srgbClr val="FFFFFF"/>
                </a:solidFill>
                <a:latin typeface="Avenir Next"/>
                <a:ea typeface="Avenir Next"/>
                <a:cs typeface="Avenir Next"/>
              </a:defRPr>
            </a:defPPr>
            <a:lvl1pPr>
              <a:defRPr sz="5850" b="1">
                <a:solidFill>
                  <a:srgbClr val="FFFFFF"/>
                </a:solidFill>
                <a:latin typeface="Avenir Next"/>
                <a:ea typeface="Avenir Next"/>
                <a:cs typeface="Avenir Next"/>
              </a:defRPr>
            </a:lvl1pPr>
            <a:lvl2pPr>
              <a:defRPr sz="5850" b="1">
                <a:solidFill>
                  <a:srgbClr val="FFFFFF"/>
                </a:solidFill>
                <a:latin typeface="Avenir Next"/>
                <a:ea typeface="Avenir Next"/>
                <a:cs typeface="Avenir Next"/>
              </a:defRPr>
            </a:lvl2pPr>
            <a:lvl3pPr>
              <a:defRPr sz="5850" b="1">
                <a:solidFill>
                  <a:srgbClr val="FFFFFF"/>
                </a:solidFill>
                <a:latin typeface="Avenir Next"/>
                <a:ea typeface="Avenir Next"/>
                <a:cs typeface="Avenir Next"/>
              </a:defRPr>
            </a:lvl3pPr>
            <a:lvl4pPr>
              <a:defRPr sz="5850" b="1">
                <a:solidFill>
                  <a:srgbClr val="FFFFFF"/>
                </a:solidFill>
                <a:latin typeface="Avenir Next"/>
                <a:ea typeface="Avenir Next"/>
                <a:cs typeface="Avenir Next"/>
              </a:defRPr>
            </a:lvl4pPr>
            <a:lvl5pPr>
              <a:defRPr sz="5850" b="1">
                <a:solidFill>
                  <a:srgbClr val="FFFFFF"/>
                </a:solidFill>
                <a:latin typeface="Avenir Next"/>
                <a:ea typeface="Avenir Next"/>
                <a:cs typeface="Avenir Next"/>
              </a:defRPr>
            </a:lvl5pPr>
            <a:lvl6pPr>
              <a:defRPr sz="5850" b="1">
                <a:solidFill>
                  <a:srgbClr val="FFFFFF"/>
                </a:solidFill>
                <a:latin typeface="Avenir Next"/>
                <a:ea typeface="Avenir Next"/>
                <a:cs typeface="Avenir Next"/>
              </a:defRPr>
            </a:lvl6pPr>
            <a:lvl7pPr>
              <a:defRPr sz="5850" b="1">
                <a:solidFill>
                  <a:srgbClr val="FFFFFF"/>
                </a:solidFill>
                <a:latin typeface="Avenir Next"/>
                <a:ea typeface="Avenir Next"/>
                <a:cs typeface="Avenir Next"/>
              </a:defRPr>
            </a:lvl7pPr>
            <a:lvl8pPr>
              <a:defRPr sz="5850" b="1">
                <a:solidFill>
                  <a:srgbClr val="FFFFFF"/>
                </a:solidFill>
                <a:latin typeface="Avenir Next"/>
                <a:ea typeface="Avenir Next"/>
                <a:cs typeface="Avenir Next"/>
              </a:defRPr>
            </a:lvl8pPr>
            <a:lvl9pPr>
              <a:defRPr sz="5850" b="1">
                <a:solidFill>
                  <a:srgbClr val="FFFFFF"/>
                </a:solidFill>
                <a:latin typeface="Avenir Next"/>
                <a:ea typeface="Avenir Next"/>
                <a:cs typeface="Avenir Next"/>
              </a:defRPr>
            </a:lvl9pPr>
          </a:lstStyle>
          <a:p xmlns:a="http://schemas.openxmlformats.org/drawingml/2006/main">
            <a:pPr>
              <a:defRPr sz="5850" b="1">
                <a:solidFill>
                  <a:srgbClr val="FFFFFF"/>
                </a:solidFill>
                <a:latin typeface="Avenir Next"/>
                <a:ea typeface="Avenir Next"/>
                <a:cs typeface="Avenir Next"/>
              </a:defRPr>
            </a:pPr>
            <a:r>
              <a:rPr sz="5850" b="1">
                <a:solidFill>
                  <a:srgbClr val="FFFFFF"/>
                </a:solidFill>
                <a:latin typeface="Avenir Next"/>
                <a:ea typeface="Avenir Next"/>
                <a:cs typeface="Avenir Next"/>
              </a:rPr>
              <a:t>WalletShield</a:t>
            </a:r>
          </a:p>
        </p:txBody>
      </p:sp>
      <p:sp>
        <p:nvSpPr>
          <p:cNvPr id="3" name="subtitle">
            <a:extLst xmlns:a="http://schemas.openxmlformats.org/drawingml/2006/main">
              <a:ext uri="{FF2B5EF4-FFF2-40B4-BE49-F238E27FC236}">
                <a16:creationId xmlns:a16="http://schemas.microsoft.com/office/drawing/2014/main" id="{A0745285-EF8A-446C-902B-74B2D61BAF14}"/>
              </a:ext>
            </a:extLst>
          </p:cNvPr>
          <p:cNvSpPr>
            <a:spLocks xmlns:a="http://schemas.openxmlformats.org/drawingml/2006/main" noGrp="1"/>
          </p:cNvSpPr>
          <p:nvPr/>
        </p:nvSpPr>
        <p:spPr>
          <a:xfrm xmlns:a="http://schemas.openxmlformats.org/drawingml/2006/main">
            <a:off x="762000" y="2762250"/>
            <a:ext cx="10429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85E7D1"/>
                </a:solidFill>
                <a:latin typeface="Avenir Next"/>
                <a:ea typeface="Avenir Next"/>
                <a:cs typeface="Avenir Next"/>
              </a:defRPr>
            </a:defPPr>
            <a:lvl1pPr>
              <a:defRPr sz="2850" b="1">
                <a:solidFill>
                  <a:srgbClr val="85E7D1"/>
                </a:solidFill>
                <a:latin typeface="Avenir Next"/>
                <a:ea typeface="Avenir Next"/>
                <a:cs typeface="Avenir Next"/>
              </a:defRPr>
            </a:lvl1pPr>
            <a:lvl2pPr>
              <a:defRPr sz="2850" b="1">
                <a:solidFill>
                  <a:srgbClr val="85E7D1"/>
                </a:solidFill>
                <a:latin typeface="Avenir Next"/>
                <a:ea typeface="Avenir Next"/>
                <a:cs typeface="Avenir Next"/>
              </a:defRPr>
            </a:lvl2pPr>
            <a:lvl3pPr>
              <a:defRPr sz="2850" b="1">
                <a:solidFill>
                  <a:srgbClr val="85E7D1"/>
                </a:solidFill>
                <a:latin typeface="Avenir Next"/>
                <a:ea typeface="Avenir Next"/>
                <a:cs typeface="Avenir Next"/>
              </a:defRPr>
            </a:lvl3pPr>
            <a:lvl4pPr>
              <a:defRPr sz="2850" b="1">
                <a:solidFill>
                  <a:srgbClr val="85E7D1"/>
                </a:solidFill>
                <a:latin typeface="Avenir Next"/>
                <a:ea typeface="Avenir Next"/>
                <a:cs typeface="Avenir Next"/>
              </a:defRPr>
            </a:lvl4pPr>
            <a:lvl5pPr>
              <a:defRPr sz="2850" b="1">
                <a:solidFill>
                  <a:srgbClr val="85E7D1"/>
                </a:solidFill>
                <a:latin typeface="Avenir Next"/>
                <a:ea typeface="Avenir Next"/>
                <a:cs typeface="Avenir Next"/>
              </a:defRPr>
            </a:lvl5pPr>
            <a:lvl6pPr>
              <a:defRPr sz="2850" b="1">
                <a:solidFill>
                  <a:srgbClr val="85E7D1"/>
                </a:solidFill>
                <a:latin typeface="Avenir Next"/>
                <a:ea typeface="Avenir Next"/>
                <a:cs typeface="Avenir Next"/>
              </a:defRPr>
            </a:lvl6pPr>
            <a:lvl7pPr>
              <a:defRPr sz="2850" b="1">
                <a:solidFill>
                  <a:srgbClr val="85E7D1"/>
                </a:solidFill>
                <a:latin typeface="Avenir Next"/>
                <a:ea typeface="Avenir Next"/>
                <a:cs typeface="Avenir Next"/>
              </a:defRPr>
            </a:lvl7pPr>
            <a:lvl8pPr>
              <a:defRPr sz="2850" b="1">
                <a:solidFill>
                  <a:srgbClr val="85E7D1"/>
                </a:solidFill>
                <a:latin typeface="Avenir Next"/>
                <a:ea typeface="Avenir Next"/>
                <a:cs typeface="Avenir Next"/>
              </a:defRPr>
            </a:lvl8pPr>
            <a:lvl9pPr>
              <a:defRPr sz="2850" b="1">
                <a:solidFill>
                  <a:srgbClr val="85E7D1"/>
                </a:solidFill>
                <a:latin typeface="Avenir Next"/>
                <a:ea typeface="Avenir Next"/>
                <a:cs typeface="Avenir Next"/>
              </a:defRPr>
            </a:lvl9pPr>
          </a:lstStyle>
          <a:p xmlns:a="http://schemas.openxmlformats.org/drawingml/2006/main">
            <a:pPr>
              <a:defRPr sz="2850" b="1">
                <a:solidFill>
                  <a:srgbClr val="85E7D1"/>
                </a:solidFill>
                <a:latin typeface="Avenir Next"/>
                <a:ea typeface="Avenir Next"/>
                <a:cs typeface="Avenir Next"/>
              </a:defRPr>
            </a:pPr>
            <a:r>
              <a:rPr sz="2850" b="1">
                <a:solidFill>
                  <a:srgbClr val="85E7D1"/>
                </a:solidFill>
                <a:latin typeface="Avenir Next"/>
                <a:ea typeface="Avenir Next"/>
                <a:cs typeface="Avenir Next"/>
              </a:rPr>
              <a:t>Risk analysis before wallet signing</a:t>
            </a:r>
          </a:p>
        </p:txBody>
      </p:sp>
      <p:sp>
        <p:nvSpPr>
          <p:cNvPr id="4" name="description">
            <a:extLst xmlns:a="http://schemas.openxmlformats.org/drawingml/2006/main">
              <a:ext uri="{FF2B5EF4-FFF2-40B4-BE49-F238E27FC236}">
                <a16:creationId xmlns:a16="http://schemas.microsoft.com/office/drawing/2014/main" id="{90F128C2-D3E5-4C17-856C-C1E12E67EF7A}"/>
              </a:ext>
            </a:extLst>
          </p:cNvPr>
          <p:cNvSpPr>
            <a:spLocks xmlns:a="http://schemas.openxmlformats.org/drawingml/2006/main" noGrp="1"/>
          </p:cNvSpPr>
          <p:nvPr/>
        </p:nvSpPr>
        <p:spPr>
          <a:xfrm xmlns:a="http://schemas.openxmlformats.org/drawingml/2006/main">
            <a:off x="762000" y="3905250"/>
            <a:ext cx="1038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7C8D2"/>
                </a:solidFill>
                <a:latin typeface="Avenir Next"/>
                <a:ea typeface="Avenir Next"/>
                <a:cs typeface="Avenir Next"/>
              </a:defRPr>
            </a:defPPr>
            <a:lvl1pPr>
              <a:defRPr sz="2175" b="0">
                <a:solidFill>
                  <a:srgbClr val="B7C8D2"/>
                </a:solidFill>
                <a:latin typeface="Avenir Next"/>
                <a:ea typeface="Avenir Next"/>
                <a:cs typeface="Avenir Next"/>
              </a:defRPr>
            </a:lvl1pPr>
            <a:lvl2pPr>
              <a:defRPr sz="2175" b="0">
                <a:solidFill>
                  <a:srgbClr val="B7C8D2"/>
                </a:solidFill>
                <a:latin typeface="Avenir Next"/>
                <a:ea typeface="Avenir Next"/>
                <a:cs typeface="Avenir Next"/>
              </a:defRPr>
            </a:lvl2pPr>
            <a:lvl3pPr>
              <a:defRPr sz="2175" b="0">
                <a:solidFill>
                  <a:srgbClr val="B7C8D2"/>
                </a:solidFill>
                <a:latin typeface="Avenir Next"/>
                <a:ea typeface="Avenir Next"/>
                <a:cs typeface="Avenir Next"/>
              </a:defRPr>
            </a:lvl3pPr>
            <a:lvl4pPr>
              <a:defRPr sz="2175" b="0">
                <a:solidFill>
                  <a:srgbClr val="B7C8D2"/>
                </a:solidFill>
                <a:latin typeface="Avenir Next"/>
                <a:ea typeface="Avenir Next"/>
                <a:cs typeface="Avenir Next"/>
              </a:defRPr>
            </a:lvl4pPr>
            <a:lvl5pPr>
              <a:defRPr sz="2175" b="0">
                <a:solidFill>
                  <a:srgbClr val="B7C8D2"/>
                </a:solidFill>
                <a:latin typeface="Avenir Next"/>
                <a:ea typeface="Avenir Next"/>
                <a:cs typeface="Avenir Next"/>
              </a:defRPr>
            </a:lvl5pPr>
            <a:lvl6pPr>
              <a:defRPr sz="2175" b="0">
                <a:solidFill>
                  <a:srgbClr val="B7C8D2"/>
                </a:solidFill>
                <a:latin typeface="Avenir Next"/>
                <a:ea typeface="Avenir Next"/>
                <a:cs typeface="Avenir Next"/>
              </a:defRPr>
            </a:lvl6pPr>
            <a:lvl7pPr>
              <a:defRPr sz="2175" b="0">
                <a:solidFill>
                  <a:srgbClr val="B7C8D2"/>
                </a:solidFill>
                <a:latin typeface="Avenir Next"/>
                <a:ea typeface="Avenir Next"/>
                <a:cs typeface="Avenir Next"/>
              </a:defRPr>
            </a:lvl7pPr>
            <a:lvl8pPr>
              <a:defRPr sz="2175" b="0">
                <a:solidFill>
                  <a:srgbClr val="B7C8D2"/>
                </a:solidFill>
                <a:latin typeface="Avenir Next"/>
                <a:ea typeface="Avenir Next"/>
                <a:cs typeface="Avenir Next"/>
              </a:defRPr>
            </a:lvl8pPr>
            <a:lvl9pPr>
              <a:defRPr sz="2175" b="0">
                <a:solidFill>
                  <a:srgbClr val="B7C8D2"/>
                </a:solidFill>
                <a:latin typeface="Avenir Next"/>
                <a:ea typeface="Avenir Next"/>
                <a:cs typeface="Avenir Next"/>
              </a:defRPr>
            </a:lvl9pPr>
          </a:lstStyle>
          <a:p xmlns:a="http://schemas.openxmlformats.org/drawingml/2006/main">
            <a:pPr>
              <a:defRPr sz="2175" b="0">
                <a:solidFill>
                  <a:srgbClr val="B7C8D2"/>
                </a:solidFill>
                <a:latin typeface="Avenir Next"/>
                <a:ea typeface="Avenir Next"/>
                <a:cs typeface="Avenir Next"/>
              </a:defRPr>
            </a:pPr>
            <a:r>
              <a:rPr sz="2175" b="0">
                <a:solidFill>
                  <a:srgbClr val="B7C8D2"/>
                </a:solidFill>
                <a:latin typeface="Avenir Next"/>
                <a:ea typeface="Avenir Next"/>
                <a:cs typeface="Avenir Next"/>
              </a:rPr>
              <a:t>Understand wallet risk before signing</a:t>
            </a:r>
          </a:p>
        </p:txBody>
      </p:sp>
      <p:sp>
        <p:nvSpPr>
          <p:cNvPr id="5" name="edition">
            <a:extLst xmlns:a="http://schemas.openxmlformats.org/drawingml/2006/main">
              <a:ext uri="{FF2B5EF4-FFF2-40B4-BE49-F238E27FC236}">
                <a16:creationId xmlns:a16="http://schemas.microsoft.com/office/drawing/2014/main" id="{21855DE2-97BE-4F00-9B1B-C0AFC9E33649}"/>
              </a:ext>
            </a:extLst>
          </p:cNvPr>
          <p:cNvSpPr>
            <a:spLocks xmlns:a="http://schemas.openxmlformats.org/drawingml/2006/main" noGrp="1"/>
          </p:cNvSpPr>
          <p:nvPr/>
        </p:nvSpPr>
        <p:spPr>
          <a:xfrm xmlns:a="http://schemas.openxmlformats.org/drawingml/2006/main">
            <a:off x="762000" y="5876925"/>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8197A6"/>
                </a:solidFill>
                <a:latin typeface="Avenir Next"/>
                <a:ea typeface="Avenir Next"/>
                <a:cs typeface="Avenir Next"/>
              </a:defRPr>
            </a:defPPr>
            <a:lvl1pPr>
              <a:defRPr sz="1500" b="0">
                <a:solidFill>
                  <a:srgbClr val="8197A6"/>
                </a:solidFill>
                <a:latin typeface="Avenir Next"/>
                <a:ea typeface="Avenir Next"/>
                <a:cs typeface="Avenir Next"/>
              </a:defRPr>
            </a:lvl1pPr>
            <a:lvl2pPr>
              <a:defRPr sz="1500" b="0">
                <a:solidFill>
                  <a:srgbClr val="8197A6"/>
                </a:solidFill>
                <a:latin typeface="Avenir Next"/>
                <a:ea typeface="Avenir Next"/>
                <a:cs typeface="Avenir Next"/>
              </a:defRPr>
            </a:lvl2pPr>
            <a:lvl3pPr>
              <a:defRPr sz="1500" b="0">
                <a:solidFill>
                  <a:srgbClr val="8197A6"/>
                </a:solidFill>
                <a:latin typeface="Avenir Next"/>
                <a:ea typeface="Avenir Next"/>
                <a:cs typeface="Avenir Next"/>
              </a:defRPr>
            </a:lvl3pPr>
            <a:lvl4pPr>
              <a:defRPr sz="1500" b="0">
                <a:solidFill>
                  <a:srgbClr val="8197A6"/>
                </a:solidFill>
                <a:latin typeface="Avenir Next"/>
                <a:ea typeface="Avenir Next"/>
                <a:cs typeface="Avenir Next"/>
              </a:defRPr>
            </a:lvl4pPr>
            <a:lvl5pPr>
              <a:defRPr sz="1500" b="0">
                <a:solidFill>
                  <a:srgbClr val="8197A6"/>
                </a:solidFill>
                <a:latin typeface="Avenir Next"/>
                <a:ea typeface="Avenir Next"/>
                <a:cs typeface="Avenir Next"/>
              </a:defRPr>
            </a:lvl5pPr>
            <a:lvl6pPr>
              <a:defRPr sz="1500" b="0">
                <a:solidFill>
                  <a:srgbClr val="8197A6"/>
                </a:solidFill>
                <a:latin typeface="Avenir Next"/>
                <a:ea typeface="Avenir Next"/>
                <a:cs typeface="Avenir Next"/>
              </a:defRPr>
            </a:lvl6pPr>
            <a:lvl7pPr>
              <a:defRPr sz="1500" b="0">
                <a:solidFill>
                  <a:srgbClr val="8197A6"/>
                </a:solidFill>
                <a:latin typeface="Avenir Next"/>
                <a:ea typeface="Avenir Next"/>
                <a:cs typeface="Avenir Next"/>
              </a:defRPr>
            </a:lvl7pPr>
            <a:lvl8pPr>
              <a:defRPr sz="1500" b="0">
                <a:solidFill>
                  <a:srgbClr val="8197A6"/>
                </a:solidFill>
                <a:latin typeface="Avenir Next"/>
                <a:ea typeface="Avenir Next"/>
                <a:cs typeface="Avenir Next"/>
              </a:defRPr>
            </a:lvl8pPr>
            <a:lvl9pPr>
              <a:defRPr sz="1500" b="0">
                <a:solidFill>
                  <a:srgbClr val="8197A6"/>
                </a:solidFill>
                <a:latin typeface="Avenir Next"/>
                <a:ea typeface="Avenir Next"/>
                <a:cs typeface="Avenir Next"/>
              </a:defRPr>
            </a:lvl9pPr>
          </a:lstStyle>
          <a:p xmlns:a="http://schemas.openxmlformats.org/drawingml/2006/main">
            <a:pPr>
              <a:defRPr sz="1500" b="0">
                <a:solidFill>
                  <a:srgbClr val="8197A6"/>
                </a:solidFill>
                <a:latin typeface="Avenir Next"/>
                <a:ea typeface="Avenir Next"/>
                <a:cs typeface="Avenir Next"/>
              </a:defRPr>
            </a:pPr>
            <a:r>
              <a:rPr sz="1500" b="0">
                <a:solidFill>
                  <a:srgbClr val="8197A6"/>
                </a:solidFill>
                <a:latin typeface="Avenir Next"/>
                <a:ea typeface="Avenir Next"/>
                <a:cs typeface="Avenir Next"/>
              </a:rPr>
              <a:t>Project introduction · v0.4.1 · October 2026</a:t>
            </a:r>
          </a:p>
        </p:txBody>
      </p:sp>
      <p:pic>
        <p:nvPicPr>
          <p:cNvPr id="6" name="">
            <a:extLst xmlns:a="http://schemas.openxmlformats.org/drawingml/2006/main">
              <a:ext uri="{FF2B5EF4-FFF2-40B4-BE49-F238E27FC236}">
                <a16:creationId xmlns:a16="http://schemas.microsoft.com/office/drawing/2014/main" id="{272E13F6-188D-4CED-9589-6AD5A0D65945}"/>
              </a:ext>
            </a:extLst>
          </p:cNvPr>
          <p:cNvPicPr>
            <a:picLocks xmlns:a="http://schemas.openxmlformats.org/drawingml/2006/main" noChangeAspect="1"/>
          </p:cNvPicPr>
          <p:nvPr/>
        </p:nvPicPr>
        <p:blipFill>
          <a:blip xmlns:r="http://schemas.openxmlformats.org/officeDocument/2006/relationships" xmlns:a="http://schemas.openxmlformats.org/drawingml/2006/main" r:embed="R7a77ad312edb47c6"/>
          <a:stretch xmlns:a="http://schemas.openxmlformats.org/drawingml/2006/main"/>
        </p:blipFill>
        <p:spPr>
          <a:xfrm xmlns:a="http://schemas.openxmlformats.org/drawingml/2006/main">
            <a:off x="10382250" y="609600"/>
            <a:ext cx="1066800" cy="1066800"/>
          </a:xfrm>
          <a:prstGeom xmlns:a="http://schemas.openxmlformats.org/drawingml/2006/main" prst="rect">
            <a:avLst/>
          </a:prstGeom>
        </p:spPr>
      </p:pic>
    </p:spTree>
    <p:extLst>
      <p:ext uri="{BB962C8B-B14F-4D97-AF65-F5344CB8AC3E}">
        <p14:creationId xmlns:p14="http://schemas.microsoft.com/office/powerpoint/2010/main" val="1827384407"/>
      </p:ext>
    </p:extLst>
  </p:cSld>
</p:sld>
</file>

<file path=ppt/slides/slide2.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DC5F84E-5E76-4B8A-8747-B86B2DA5C4D4}"/>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Positioning: a pre-sign risk advisory layer</a:t>
            </a:r>
          </a:p>
        </p:txBody>
      </p:sp>
      <p:sp>
        <p:nvSpPr>
          <p:cNvPr id="3" name="summary">
            <a:extLst xmlns:a="http://schemas.openxmlformats.org/drawingml/2006/main">
              <a:ext uri="{FF2B5EF4-FFF2-40B4-BE49-F238E27FC236}">
                <a16:creationId xmlns:a16="http://schemas.microsoft.com/office/drawing/2014/main" id="{D8E36ACE-92C0-45C3-BBF6-B09214C66114}"/>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Explain risk and evidence for one unsigned request</a:t>
            </a:r>
          </a:p>
        </p:txBody>
      </p:sp>
      <p:sp>
        <p:nvSpPr>
          <p:cNvPr id="4" name="compare-left">
            <a:extLst xmlns:a="http://schemas.openxmlformats.org/drawingml/2006/main">
              <a:ext uri="{FF2B5EF4-FFF2-40B4-BE49-F238E27FC236}">
                <a16:creationId xmlns:a16="http://schemas.microsoft.com/office/drawing/2014/main" id="{2880FDC4-2E41-4A66-B336-1802F3AE9BC4}"/>
              </a:ext>
            </a:extLst>
          </p:cNvPr>
          <p:cNvSpPr>
            <a:spLocks xmlns:a="http://schemas.openxmlformats.org/drawingml/2006/main" noGrp="1"/>
          </p:cNvSpPr>
          <p:nvPr/>
        </p:nvSpPr>
        <p:spPr>
          <a:xfrm xmlns:a="http://schemas.openxmlformats.org/drawingml/2006/main">
            <a:off x="647700" y="2552700"/>
            <a:ext cx="5143500"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Analyze transactions, signatures and explicitly submitted requests</a:t>
            </a:r>
          </a:p>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Show a score, reasons, evidence and unresolved checks</a:t>
            </a:r>
          </a:p>
        </p:txBody>
      </p:sp>
      <p:sp>
        <p:nvSpPr>
          <p:cNvPr id="5" name="compare-right">
            <a:extLst xmlns:a="http://schemas.openxmlformats.org/drawingml/2006/main">
              <a:ext uri="{FF2B5EF4-FFF2-40B4-BE49-F238E27FC236}">
                <a16:creationId xmlns:a16="http://schemas.microsoft.com/office/drawing/2014/main" id="{0A08C61B-ADF1-4419-8C46-A1228FA70822}"/>
              </a:ext>
            </a:extLst>
          </p:cNvPr>
          <p:cNvSpPr>
            <a:spLocks xmlns:a="http://schemas.openxmlformats.org/drawingml/2006/main" noGrp="1"/>
          </p:cNvSpPr>
          <p:nvPr/>
        </p:nvSpPr>
        <p:spPr>
          <a:xfrm xmlns:a="http://schemas.openxmlformats.org/drawingml/2006/main">
            <a:off x="6429375" y="2552700"/>
            <a:ext cx="5048250"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No signing for users, enforced blocking or post-sign monitoring</a:t>
            </a:r>
          </a:p>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Prioritize reproducible local tests and bounded public-network use</a:t>
            </a:r>
          </a:p>
        </p:txBody>
      </p:sp>
      <p:sp>
        <p:nvSpPr>
          <p:cNvPr id="6" name="footer">
            <a:extLst xmlns:a="http://schemas.openxmlformats.org/drawingml/2006/main">
              <a:ext uri="{FF2B5EF4-FFF2-40B4-BE49-F238E27FC236}">
                <a16:creationId xmlns:a16="http://schemas.microsoft.com/office/drawing/2014/main" id="{E2AE88AA-9AAD-4527-8EFA-89AC6561C8C6}"/>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02 / 30</a:t>
            </a:r>
          </a:p>
        </p:txBody>
      </p:sp>
    </p:spTree>
    <p:extLst>
      <p:ext uri="{BB962C8B-B14F-4D97-AF65-F5344CB8AC3E}">
        <p14:creationId xmlns:p14="http://schemas.microsoft.com/office/powerpoint/2010/main" val="1963489218"/>
      </p:ext>
    </p:extLst>
  </p:cSld>
</p:sld>
</file>

<file path=ppt/slides/slide3.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225A2E1F-43C0-4E09-ADA4-7B6D0BF9FEE9}"/>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A wallet confirmation does not imply understanding</a:t>
            </a:r>
          </a:p>
        </p:txBody>
      </p:sp>
      <p:sp>
        <p:nvSpPr>
          <p:cNvPr id="3" name="summary">
            <a:extLst xmlns:a="http://schemas.openxmlformats.org/drawingml/2006/main">
              <a:ext uri="{FF2B5EF4-FFF2-40B4-BE49-F238E27FC236}">
                <a16:creationId xmlns:a16="http://schemas.microsoft.com/office/drawing/2014/main" id="{873016A4-A41B-4E5B-988C-94D45B6FD85C}"/>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The same Confirm button can authorize very different consequences</a:t>
            </a:r>
          </a:p>
        </p:txBody>
      </p:sp>
      <p:sp>
        <p:nvSpPr>
          <p:cNvPr id="4" name="body">
            <a:extLst xmlns:a="http://schemas.openxmlformats.org/drawingml/2006/main">
              <a:ext uri="{FF2B5EF4-FFF2-40B4-BE49-F238E27FC236}">
                <a16:creationId xmlns:a16="http://schemas.microsoft.com/office/drawing/2014/main" id="{21E74A72-2635-44B6-A88D-4C2D60D69D30}"/>
              </a:ext>
            </a:extLst>
          </p:cNvPr>
          <p:cNvSpPr>
            <a:spLocks xmlns:a="http://schemas.openxmlformats.org/drawingml/2006/main" noGrp="1"/>
          </p:cNvSpPr>
          <p:nvPr/>
        </p:nvSpPr>
        <p:spPr>
          <a:xfrm xmlns:a="http://schemas.openxmlformats.org/drawingml/2006/main">
            <a:off x="714375" y="2552700"/>
            <a:ext cx="10715625"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32E"/>
                </a:solidFill>
                <a:latin typeface="Avenir Next"/>
                <a:ea typeface="Avenir Next"/>
                <a:cs typeface="Avenir Next"/>
              </a:defRPr>
            </a:defPPr>
            <a:lvl1pPr>
              <a:defRPr sz="2100" b="0">
                <a:solidFill>
                  <a:srgbClr val="10232E"/>
                </a:solidFill>
                <a:latin typeface="Avenir Next"/>
                <a:ea typeface="Avenir Next"/>
                <a:cs typeface="Avenir Next"/>
              </a:defRPr>
            </a:lvl1pPr>
            <a:lvl2pPr>
              <a:defRPr sz="2100" b="0">
                <a:solidFill>
                  <a:srgbClr val="10232E"/>
                </a:solidFill>
                <a:latin typeface="Avenir Next"/>
                <a:ea typeface="Avenir Next"/>
                <a:cs typeface="Avenir Next"/>
              </a:defRPr>
            </a:lvl2pPr>
            <a:lvl3pPr>
              <a:defRPr sz="2100" b="0">
                <a:solidFill>
                  <a:srgbClr val="10232E"/>
                </a:solidFill>
                <a:latin typeface="Avenir Next"/>
                <a:ea typeface="Avenir Next"/>
                <a:cs typeface="Avenir Next"/>
              </a:defRPr>
            </a:lvl3pPr>
            <a:lvl4pPr>
              <a:defRPr sz="2100" b="0">
                <a:solidFill>
                  <a:srgbClr val="10232E"/>
                </a:solidFill>
                <a:latin typeface="Avenir Next"/>
                <a:ea typeface="Avenir Next"/>
                <a:cs typeface="Avenir Next"/>
              </a:defRPr>
            </a:lvl4pPr>
            <a:lvl5pPr>
              <a:defRPr sz="2100" b="0">
                <a:solidFill>
                  <a:srgbClr val="10232E"/>
                </a:solidFill>
                <a:latin typeface="Avenir Next"/>
                <a:ea typeface="Avenir Next"/>
                <a:cs typeface="Avenir Next"/>
              </a:defRPr>
            </a:lvl5pPr>
            <a:lvl6pPr>
              <a:defRPr sz="2100" b="0">
                <a:solidFill>
                  <a:srgbClr val="10232E"/>
                </a:solidFill>
                <a:latin typeface="Avenir Next"/>
                <a:ea typeface="Avenir Next"/>
                <a:cs typeface="Avenir Next"/>
              </a:defRPr>
            </a:lvl6pPr>
            <a:lvl7pPr>
              <a:defRPr sz="2100" b="0">
                <a:solidFill>
                  <a:srgbClr val="10232E"/>
                </a:solidFill>
                <a:latin typeface="Avenir Next"/>
                <a:ea typeface="Avenir Next"/>
                <a:cs typeface="Avenir Next"/>
              </a:defRPr>
            </a:lvl7pPr>
            <a:lvl8pPr>
              <a:defRPr sz="2100" b="0">
                <a:solidFill>
                  <a:srgbClr val="10232E"/>
                </a:solidFill>
                <a:latin typeface="Avenir Next"/>
                <a:ea typeface="Avenir Next"/>
                <a:cs typeface="Avenir Next"/>
              </a:defRPr>
            </a:lvl8pPr>
            <a:lvl9pPr>
              <a:defRPr sz="2100"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An approval can enable a third party to move assets later</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A signature can commit asset authority beyond a login</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A successful purchase does not establish future sellability</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A complex batch can include additional authority changes</a:t>
            </a:r>
          </a:p>
        </p:txBody>
      </p:sp>
      <p:sp>
        <p:nvSpPr>
          <p:cNvPr id="5" name="footer">
            <a:extLst xmlns:a="http://schemas.openxmlformats.org/drawingml/2006/main">
              <a:ext uri="{FF2B5EF4-FFF2-40B4-BE49-F238E27FC236}">
                <a16:creationId xmlns:a16="http://schemas.microsoft.com/office/drawing/2014/main" id="{14BEB804-FDDC-4C82-8E88-FB89F6429997}"/>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03 / 30</a:t>
            </a:r>
          </a:p>
        </p:txBody>
      </p:sp>
    </p:spTree>
    <p:extLst>
      <p:ext uri="{BB962C8B-B14F-4D97-AF65-F5344CB8AC3E}">
        <p14:creationId xmlns:p14="http://schemas.microsoft.com/office/powerpoint/2010/main" val="121137725"/>
      </p:ext>
    </p:extLst>
  </p:cSld>
</p:sld>
</file>

<file path=ppt/slides/slide4.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468B9E5-4003-4B7D-87AA-DC219DC017CE}"/>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The end-to-end wallet journey</a:t>
            </a:r>
          </a:p>
        </p:txBody>
      </p:sp>
      <p:sp>
        <p:nvSpPr>
          <p:cNvPr id="3" name="summary">
            <a:extLst xmlns:a="http://schemas.openxmlformats.org/drawingml/2006/main">
              <a:ext uri="{FF2B5EF4-FFF2-40B4-BE49-F238E27FC236}">
                <a16:creationId xmlns:a16="http://schemas.microsoft.com/office/drawing/2014/main" id="{04673E83-2BF1-493A-AE92-F256BDF3A23F}"/>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The request reaches the wallet; evidence returns as advice</a:t>
            </a:r>
          </a:p>
        </p:txBody>
      </p:sp>
      <p:sp>
        <p:nvSpPr>
          <p:cNvPr id="4" name="step-number-0">
            <a:extLst xmlns:a="http://schemas.openxmlformats.org/drawingml/2006/main">
              <a:ext uri="{FF2B5EF4-FFF2-40B4-BE49-F238E27FC236}">
                <a16:creationId xmlns:a16="http://schemas.microsoft.com/office/drawing/2014/main" id="{7ECDDC4C-B4E5-4163-9A79-044EBA8AA492}"/>
              </a:ext>
            </a:extLst>
          </p:cNvPr>
          <p:cNvSpPr>
            <a:spLocks xmlns:a="http://schemas.openxmlformats.org/drawingml/2006/main" noGrp="1"/>
          </p:cNvSpPr>
          <p:nvPr/>
        </p:nvSpPr>
        <p:spPr>
          <a:xfrm xmlns:a="http://schemas.openxmlformats.org/drawingml/2006/main">
            <a:off x="685800" y="255270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01</a:t>
            </a:r>
          </a:p>
        </p:txBody>
      </p:sp>
      <p:sp>
        <p:nvSpPr>
          <p:cNvPr id="5" name="step-content-0">
            <a:extLst xmlns:a="http://schemas.openxmlformats.org/drawingml/2006/main">
              <a:ext uri="{FF2B5EF4-FFF2-40B4-BE49-F238E27FC236}">
                <a16:creationId xmlns:a16="http://schemas.microsoft.com/office/drawing/2014/main" id="{11D86F3A-B98A-47BA-86FB-DFD3DA82188B}"/>
              </a:ext>
            </a:extLst>
          </p:cNvPr>
          <p:cNvSpPr>
            <a:spLocks xmlns:a="http://schemas.openxmlformats.org/drawingml/2006/main" noGrp="1"/>
          </p:cNvSpPr>
          <p:nvPr/>
        </p:nvSpPr>
        <p:spPr>
          <a:xfrm xmlns:a="http://schemas.openxmlformats.org/drawingml/2006/main">
            <a:off x="1619250" y="2562225"/>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A webpage or dApp prepares an unsigned transaction or message</a:t>
            </a:r>
          </a:p>
        </p:txBody>
      </p:sp>
      <p:sp>
        <p:nvSpPr>
          <p:cNvPr id="6" name="step-number-1">
            <a:extLst xmlns:a="http://schemas.openxmlformats.org/drawingml/2006/main">
              <a:ext uri="{FF2B5EF4-FFF2-40B4-BE49-F238E27FC236}">
                <a16:creationId xmlns:a16="http://schemas.microsoft.com/office/drawing/2014/main" id="{2C0C5D7C-A336-45C4-BB9E-218029498EFD}"/>
              </a:ext>
            </a:extLst>
          </p:cNvPr>
          <p:cNvSpPr>
            <a:spLocks xmlns:a="http://schemas.openxmlformats.org/drawingml/2006/main" noGrp="1"/>
          </p:cNvSpPr>
          <p:nvPr/>
        </p:nvSpPr>
        <p:spPr>
          <a:xfrm xmlns:a="http://schemas.openxmlformats.org/drawingml/2006/main">
            <a:off x="685800" y="341947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02</a:t>
            </a:r>
          </a:p>
        </p:txBody>
      </p:sp>
      <p:sp>
        <p:nvSpPr>
          <p:cNvPr id="7" name="step-content-1">
            <a:extLst xmlns:a="http://schemas.openxmlformats.org/drawingml/2006/main">
              <a:ext uri="{FF2B5EF4-FFF2-40B4-BE49-F238E27FC236}">
                <a16:creationId xmlns:a16="http://schemas.microsoft.com/office/drawing/2014/main" id="{01D2E6D8-C961-48A6-AEF1-84FF1E8F1DE8}"/>
              </a:ext>
            </a:extLst>
          </p:cNvPr>
          <p:cNvSpPr>
            <a:spLocks xmlns:a="http://schemas.openxmlformats.org/drawingml/2006/main" noGrp="1"/>
          </p:cNvSpPr>
          <p:nvPr/>
        </p:nvSpPr>
        <p:spPr>
          <a:xfrm xmlns:a="http://schemas.openxmlformats.org/drawingml/2006/main">
            <a:off x="1619250" y="342900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MetaMask delivers a supported request to the paired Snap</a:t>
            </a:r>
          </a:p>
        </p:txBody>
      </p:sp>
      <p:sp>
        <p:nvSpPr>
          <p:cNvPr id="8" name="step-number-2">
            <a:extLst xmlns:a="http://schemas.openxmlformats.org/drawingml/2006/main">
              <a:ext uri="{FF2B5EF4-FFF2-40B4-BE49-F238E27FC236}">
                <a16:creationId xmlns:a16="http://schemas.microsoft.com/office/drawing/2014/main" id="{B2E8DADB-A7D0-44C2-8DAF-3788F69B1D6E}"/>
              </a:ext>
            </a:extLst>
          </p:cNvPr>
          <p:cNvSpPr>
            <a:spLocks xmlns:a="http://schemas.openxmlformats.org/drawingml/2006/main" noGrp="1"/>
          </p:cNvSpPr>
          <p:nvPr/>
        </p:nvSpPr>
        <p:spPr>
          <a:xfrm xmlns:a="http://schemas.openxmlformats.org/drawingml/2006/main">
            <a:off x="685800" y="428625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03</a:t>
            </a:r>
          </a:p>
        </p:txBody>
      </p:sp>
      <p:sp>
        <p:nvSpPr>
          <p:cNvPr id="9" name="step-content-2">
            <a:extLst xmlns:a="http://schemas.openxmlformats.org/drawingml/2006/main">
              <a:ext uri="{FF2B5EF4-FFF2-40B4-BE49-F238E27FC236}">
                <a16:creationId xmlns:a16="http://schemas.microsoft.com/office/drawing/2014/main" id="{9C9104A3-51FF-4F25-8234-2AE62421AAD7}"/>
              </a:ext>
            </a:extLst>
          </p:cNvPr>
          <p:cNvSpPr>
            <a:spLocks xmlns:a="http://schemas.openxmlformats.org/drawingml/2006/main" noGrp="1"/>
          </p:cNvSpPr>
          <p:nvPr/>
        </p:nvSpPr>
        <p:spPr>
          <a:xfrm xmlns:a="http://schemas.openxmlformats.org/drawingml/2006/main">
            <a:off x="1619250" y="4295775"/>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The backend collects evidence, optionally simulates and calls Muse when enabled</a:t>
            </a:r>
          </a:p>
        </p:txBody>
      </p:sp>
      <p:sp>
        <p:nvSpPr>
          <p:cNvPr id="10" name="step-number-3">
            <a:extLst xmlns:a="http://schemas.openxmlformats.org/drawingml/2006/main">
              <a:ext uri="{FF2B5EF4-FFF2-40B4-BE49-F238E27FC236}">
                <a16:creationId xmlns:a16="http://schemas.microsoft.com/office/drawing/2014/main" id="{5E479323-F552-4A62-8E5F-0E3EC786DD23}"/>
              </a:ext>
            </a:extLst>
          </p:cNvPr>
          <p:cNvSpPr>
            <a:spLocks xmlns:a="http://schemas.openxmlformats.org/drawingml/2006/main" noGrp="1"/>
          </p:cNvSpPr>
          <p:nvPr/>
        </p:nvSpPr>
        <p:spPr>
          <a:xfrm xmlns:a="http://schemas.openxmlformats.org/drawingml/2006/main">
            <a:off x="685800" y="515302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04</a:t>
            </a:r>
          </a:p>
        </p:txBody>
      </p:sp>
      <p:sp>
        <p:nvSpPr>
          <p:cNvPr id="11" name="step-content-3">
            <a:extLst xmlns:a="http://schemas.openxmlformats.org/drawingml/2006/main">
              <a:ext uri="{FF2B5EF4-FFF2-40B4-BE49-F238E27FC236}">
                <a16:creationId xmlns:a16="http://schemas.microsoft.com/office/drawing/2014/main" id="{88BF02F5-F8CB-431F-99FE-C2FA0E41C8E6}"/>
              </a:ext>
            </a:extLst>
          </p:cNvPr>
          <p:cNvSpPr>
            <a:spLocks xmlns:a="http://schemas.openxmlformats.org/drawingml/2006/main" noGrp="1"/>
          </p:cNvSpPr>
          <p:nvPr/>
        </p:nvSpPr>
        <p:spPr>
          <a:xfrm xmlns:a="http://schemas.openxmlformats.org/drawingml/2006/main">
            <a:off x="1619250" y="516255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The wallet shows the report; the user confirms or cancels</a:t>
            </a:r>
          </a:p>
        </p:txBody>
      </p:sp>
      <p:sp>
        <p:nvSpPr>
          <p:cNvPr id="12" name="footer">
            <a:extLst xmlns:a="http://schemas.openxmlformats.org/drawingml/2006/main">
              <a:ext uri="{FF2B5EF4-FFF2-40B4-BE49-F238E27FC236}">
                <a16:creationId xmlns:a16="http://schemas.microsoft.com/office/drawing/2014/main" id="{0724105C-D52D-4164-A159-FFCBFA01BB32}"/>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04 / 30</a:t>
            </a:r>
          </a:p>
        </p:txBody>
      </p:sp>
    </p:spTree>
    <p:extLst>
      <p:ext uri="{BB962C8B-B14F-4D97-AF65-F5344CB8AC3E}">
        <p14:creationId xmlns:p14="http://schemas.microsoft.com/office/powerpoint/2010/main" val="1342023034"/>
      </p:ext>
    </p:extLst>
  </p:cSld>
</p:sld>
</file>

<file path=ppt/slides/slide5.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9157FDEF-C12D-49D8-B49F-39C4D7E54159}"/>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Architecture and trust boundaries</a:t>
            </a:r>
          </a:p>
        </p:txBody>
      </p:sp>
      <p:sp>
        <p:nvSpPr>
          <p:cNvPr id="3" name="summary">
            <a:extLst xmlns:a="http://schemas.openxmlformats.org/drawingml/2006/main">
              <a:ext uri="{FF2B5EF4-FFF2-40B4-BE49-F238E27FC236}">
                <a16:creationId xmlns:a16="http://schemas.microsoft.com/office/drawing/2014/main" id="{0EEC47EE-8967-4E7A-9FE3-99979959D388}"/>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Wallet, webpage, backend and services have distinct responsibilities</a:t>
            </a:r>
          </a:p>
        </p:txBody>
      </p:sp>
      <p:sp>
        <p:nvSpPr>
          <p:cNvPr id="4" name="body">
            <a:extLst xmlns:a="http://schemas.openxmlformats.org/drawingml/2006/main">
              <a:ext uri="{FF2B5EF4-FFF2-40B4-BE49-F238E27FC236}">
                <a16:creationId xmlns:a16="http://schemas.microsoft.com/office/drawing/2014/main" id="{11FB13ED-F72A-4B06-ACA0-BB700E6F1FC4}"/>
              </a:ext>
            </a:extLst>
          </p:cNvPr>
          <p:cNvSpPr>
            <a:spLocks xmlns:a="http://schemas.openxmlformats.org/drawingml/2006/main" noGrp="1"/>
          </p:cNvSpPr>
          <p:nvPr/>
        </p:nvSpPr>
        <p:spPr>
          <a:xfrm xmlns:a="http://schemas.openxmlformats.org/drawingml/2006/main">
            <a:off x="714375" y="2552700"/>
            <a:ext cx="10715625"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32E"/>
                </a:solidFill>
                <a:latin typeface="Avenir Next"/>
                <a:ea typeface="Avenir Next"/>
                <a:cs typeface="Avenir Next"/>
              </a:defRPr>
            </a:defPPr>
            <a:lvl1pPr>
              <a:defRPr sz="2100" b="0">
                <a:solidFill>
                  <a:srgbClr val="10232E"/>
                </a:solidFill>
                <a:latin typeface="Avenir Next"/>
                <a:ea typeface="Avenir Next"/>
                <a:cs typeface="Avenir Next"/>
              </a:defRPr>
            </a:lvl1pPr>
            <a:lvl2pPr>
              <a:defRPr sz="2100" b="0">
                <a:solidFill>
                  <a:srgbClr val="10232E"/>
                </a:solidFill>
                <a:latin typeface="Avenir Next"/>
                <a:ea typeface="Avenir Next"/>
                <a:cs typeface="Avenir Next"/>
              </a:defRPr>
            </a:lvl2pPr>
            <a:lvl3pPr>
              <a:defRPr sz="2100" b="0">
                <a:solidFill>
                  <a:srgbClr val="10232E"/>
                </a:solidFill>
                <a:latin typeface="Avenir Next"/>
                <a:ea typeface="Avenir Next"/>
                <a:cs typeface="Avenir Next"/>
              </a:defRPr>
            </a:lvl3pPr>
            <a:lvl4pPr>
              <a:defRPr sz="2100" b="0">
                <a:solidFill>
                  <a:srgbClr val="10232E"/>
                </a:solidFill>
                <a:latin typeface="Avenir Next"/>
                <a:ea typeface="Avenir Next"/>
                <a:cs typeface="Avenir Next"/>
              </a:defRPr>
            </a:lvl4pPr>
            <a:lvl5pPr>
              <a:defRPr sz="2100" b="0">
                <a:solidFill>
                  <a:srgbClr val="10232E"/>
                </a:solidFill>
                <a:latin typeface="Avenir Next"/>
                <a:ea typeface="Avenir Next"/>
                <a:cs typeface="Avenir Next"/>
              </a:defRPr>
            </a:lvl5pPr>
            <a:lvl6pPr>
              <a:defRPr sz="2100" b="0">
                <a:solidFill>
                  <a:srgbClr val="10232E"/>
                </a:solidFill>
                <a:latin typeface="Avenir Next"/>
                <a:ea typeface="Avenir Next"/>
                <a:cs typeface="Avenir Next"/>
              </a:defRPr>
            </a:lvl6pPr>
            <a:lvl7pPr>
              <a:defRPr sz="2100" b="0">
                <a:solidFill>
                  <a:srgbClr val="10232E"/>
                </a:solidFill>
                <a:latin typeface="Avenir Next"/>
                <a:ea typeface="Avenir Next"/>
                <a:cs typeface="Avenir Next"/>
              </a:defRPr>
            </a:lvl7pPr>
            <a:lvl8pPr>
              <a:defRPr sz="2100" b="0">
                <a:solidFill>
                  <a:srgbClr val="10232E"/>
                </a:solidFill>
                <a:latin typeface="Avenir Next"/>
                <a:ea typeface="Avenir Next"/>
                <a:cs typeface="Avenir Next"/>
              </a:defRPr>
            </a:lvl8pPr>
            <a:lvl9pPr>
              <a:defRPr sz="2100"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Wallet and Snap: request entry, pairing and in-wallet reports</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React web app: connection, lab cases, asset inventory and history</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Fastify backend: validation, evidence, Muse calls and SQLite</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External services: trusted RPC, optional GoPlus and Meta API</a:t>
            </a:r>
          </a:p>
        </p:txBody>
      </p:sp>
      <p:sp>
        <p:nvSpPr>
          <p:cNvPr id="5" name="footer">
            <a:extLst xmlns:a="http://schemas.openxmlformats.org/drawingml/2006/main">
              <a:ext uri="{FF2B5EF4-FFF2-40B4-BE49-F238E27FC236}">
                <a16:creationId xmlns:a16="http://schemas.microsoft.com/office/drawing/2014/main" id="{CD0B09C9-8400-4494-8A6C-E9779CA19AF4}"/>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05 / 30</a:t>
            </a:r>
          </a:p>
        </p:txBody>
      </p:sp>
    </p:spTree>
    <p:extLst>
      <p:ext uri="{BB962C8B-B14F-4D97-AF65-F5344CB8AC3E}">
        <p14:creationId xmlns:p14="http://schemas.microsoft.com/office/powerpoint/2010/main" val="212332168"/>
      </p:ext>
    </p:extLst>
  </p:cSld>
</p:sld>
</file>

<file path=ppt/slides/slide6.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0092CA6-3AE8-42A6-A229-57614109083C}"/>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The tool stack: what each component does</a:t>
            </a:r>
          </a:p>
        </p:txBody>
      </p:sp>
      <p:sp>
        <p:nvSpPr>
          <p:cNvPr id="3" name="summary">
            <a:extLst xmlns:a="http://schemas.openxmlformats.org/drawingml/2006/main">
              <a:ext uri="{FF2B5EF4-FFF2-40B4-BE49-F238E27FC236}">
                <a16:creationId xmlns:a16="http://schemas.microsoft.com/office/drawing/2014/main" id="{0F869B18-DCE6-4C3B-A1A8-F3CAA0942072}"/>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Separate presentation, chain observations and model judgment</a:t>
            </a:r>
          </a:p>
        </p:txBody>
      </p:sp>
      <p:graphicFrame>
        <p:nvGraphicFramePr>
          <p:cNvPr id="4" name="">
            <a:extLst xmlns:a="http://schemas.openxmlformats.org/drawingml/2006/main">
              <a:ext uri="{FF2B5EF4-FFF2-40B4-BE49-F238E27FC236}">
                <a16:creationId xmlns:a16="http://schemas.microsoft.com/office/drawing/2014/main" id="{029E44EC-E949-408E-8B21-F299C677A4EC}"/>
              </a:ext>
            </a:extLst>
          </p:cNvPr>
          <p:cNvGraphicFramePr/>
          <p:nvPr/>
        </p:nvGraphicFramePr>
        <p:xfrm>
          <a:off xmlns:a="http://schemas.openxmlformats.org/drawingml/2006/main" x="647700" y="2552700"/>
          <a:ext xmlns:a="http://schemas.openxmlformats.org/drawingml/2006/main" cx="10858500" cy="3409950"/>
        </p:xfrm>
        <a:graphic xmlns:a="http://schemas.openxmlformats.org/drawingml/2006/main">
          <a:graphicData uri="http://schemas.openxmlformats.org/drawingml/2006/table">
            <a:tbl>
              <a:tblPr/>
              <a:tblGrid>
                <a:gridCol w="2809875"/>
                <a:gridCol w="8048625"/>
              </a:tblGrid>
              <a:tr h="495300">
                <a:tc>
                  <a:txBody>
                    <a:bodyPr wrap="square" lIns="142875" tIns="95250" rIns="142875" bIns="95250">
                      <a:noAutofit/>
                    </a:bodyPr>
                    <a:lstStyle/>
                    <a:p>
                      <a:r>
                        <a:rPr sz="1650" b="1">
                          <a:solidFill>
                            <a:srgbClr val="FFFFFF"/>
                          </a:solidFill>
                          <a:latin typeface="Avenir Next"/>
                          <a:ea typeface="Avenir Next"/>
                          <a:cs typeface="Avenir Next"/>
                        </a:rPr>
                        <a:t>Component / field</a:t>
                      </a:r>
                    </a:p>
                  </a:txBody>
                  <a:tcPr marL="91440" marR="91440" marT="45720" marB="45720" anchor="ctr">
                    <a:lnL w="6668">
                      <a:solidFill>
                        <a:srgbClr val="D9E4E8"/>
                      </a:solidFill>
                      <a:prstDash val="solid"/>
                    </a:lnL>
                    <a:lnR w="6668">
                      <a:solidFill>
                        <a:srgbClr val="D9E4E8"/>
                      </a:solidFill>
                      <a:prstDash val="solid"/>
                    </a:lnR>
                    <a:lnT w="6668">
                      <a:solidFill>
                        <a:srgbClr val="D9E4E8"/>
                      </a:solidFill>
                      <a:prstDash val="solid"/>
                    </a:lnT>
                    <a:lnB w="6668">
                      <a:solidFill>
                        <a:srgbClr val="D9E4E8"/>
                      </a:solidFill>
                      <a:prstDash val="solid"/>
                    </a:lnB>
                    <a:solidFill>
                      <a:srgbClr val="10232E"/>
                    </a:solidFill>
                  </a:tcPr>
                </a:tc>
                <a:tc>
                  <a:txBody>
                    <a:bodyPr wrap="square" lIns="142875" tIns="95250" rIns="142875" bIns="95250">
                      <a:noAutofit/>
                    </a:bodyPr>
                    <a:lstStyle/>
                    <a:p>
                      <a:r>
                        <a:rPr sz="1650" b="1">
                          <a:solidFill>
                            <a:srgbClr val="FFFFFF"/>
                          </a:solidFill>
                          <a:latin typeface="Avenir Next"/>
                          <a:ea typeface="Avenir Next"/>
                          <a:cs typeface="Avenir Next"/>
                        </a:rPr>
                        <a:t>Implementation and purpose</a:t>
                      </a:r>
                    </a:p>
                  </a:txBody>
                  <a:tcPr marL="91440" marR="91440" marT="45720" marB="45720" anchor="ctr">
                    <a:lnR w="6668">
                      <a:solidFill>
                        <a:srgbClr val="D9E4E8"/>
                      </a:solidFill>
                      <a:prstDash val="solid"/>
                    </a:lnR>
                    <a:lnT w="6668">
                      <a:solidFill>
                        <a:srgbClr val="D9E4E8"/>
                      </a:solidFill>
                      <a:prstDash val="solid"/>
                    </a:lnT>
                    <a:lnB w="6668">
                      <a:solidFill>
                        <a:srgbClr val="D9E4E8"/>
                      </a:solidFill>
                      <a:prstDash val="solid"/>
                    </a:lnB>
                    <a:solidFill>
                      <a:srgbClr val="10232E"/>
                    </a:solidFill>
                  </a:tcPr>
                </a:tc>
              </a:tr>
              <a:tr h="728663">
                <a:tc>
                  <a:txBody>
                    <a:bodyPr wrap="square" lIns="142875" tIns="95250" rIns="142875" bIns="95250">
                      <a:noAutofit/>
                    </a:bodyPr>
                    <a:lstStyle/>
                    <a:p>
                      <a:r>
                        <a:rPr sz="1725" b="0">
                          <a:solidFill>
                            <a:srgbClr val="10232E"/>
                          </a:solidFill>
                          <a:latin typeface="Avenir Next"/>
                          <a:ea typeface="Avenir Next"/>
                          <a:cs typeface="Avenir Next"/>
                        </a:rPr>
                        <a:t>MetaMask Flask / Snaps SDK</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FFFFF"/>
                    </a:solidFill>
                  </a:tcPr>
                </a:tc>
                <a:tc>
                  <a:txBody>
                    <a:bodyPr wrap="square" lIns="142875" tIns="95250" rIns="142875" bIns="95250">
                      <a:noAutofit/>
                    </a:bodyPr>
                    <a:lstStyle/>
                    <a:p>
                      <a:r>
                        <a:rPr sz="1725" b="0">
                          <a:solidFill>
                            <a:srgbClr val="10232E"/>
                          </a:solidFill>
                          <a:latin typeface="Avenir Next"/>
                          <a:ea typeface="Avenir Next"/>
                          <a:cs typeface="Avenir Next"/>
                        </a:rPr>
                        <a:t>wallet integration and insight UI</a:t>
                      </a:r>
                    </a:p>
                  </a:txBody>
                  <a:tcPr marL="91440" marR="91440" marT="45720" marB="45720" anchor="ctr">
                    <a:lnR w="6668">
                      <a:solidFill>
                        <a:srgbClr val="D9E4E8"/>
                      </a:solidFill>
                      <a:prstDash val="solid"/>
                    </a:lnR>
                    <a:lnB w="6668">
                      <a:solidFill>
                        <a:srgbClr val="D9E4E8"/>
                      </a:solidFill>
                      <a:prstDash val="solid"/>
                    </a:lnB>
                    <a:solidFill>
                      <a:srgbClr val="FFFFFF"/>
                    </a:solidFill>
                  </a:tcPr>
                </a:tc>
              </a:tr>
              <a:tr h="728663">
                <a:tc>
                  <a:txBody>
                    <a:bodyPr wrap="square" lIns="142875" tIns="95250" rIns="142875" bIns="95250">
                      <a:noAutofit/>
                    </a:bodyPr>
                    <a:lstStyle/>
                    <a:p>
                      <a:r>
                        <a:rPr sz="1725" b="0">
                          <a:solidFill>
                            <a:srgbClr val="10232E"/>
                          </a:solidFill>
                          <a:latin typeface="Avenir Next"/>
                          <a:ea typeface="Avenir Next"/>
                          <a:cs typeface="Avenir Next"/>
                        </a:rPr>
                        <a:t>viem / Zod / Fastify</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7FAFA"/>
                    </a:solidFill>
                  </a:tcPr>
                </a:tc>
                <a:tc>
                  <a:txBody>
                    <a:bodyPr wrap="square" lIns="142875" tIns="95250" rIns="142875" bIns="95250">
                      <a:noAutofit/>
                    </a:bodyPr>
                    <a:lstStyle/>
                    <a:p>
                      <a:r>
                        <a:rPr sz="1725" b="0">
                          <a:solidFill>
                            <a:srgbClr val="10232E"/>
                          </a:solidFill>
                          <a:latin typeface="Avenir Next"/>
                          <a:ea typeface="Avenir Next"/>
                          <a:cs typeface="Avenir Next"/>
                        </a:rPr>
                        <a:t>decoding, strict validation and API handling</a:t>
                      </a:r>
                    </a:p>
                  </a:txBody>
                  <a:tcPr marL="91440" marR="91440" marT="45720" marB="45720" anchor="ctr">
                    <a:lnR w="6668">
                      <a:solidFill>
                        <a:srgbClr val="D9E4E8"/>
                      </a:solidFill>
                      <a:prstDash val="solid"/>
                    </a:lnR>
                    <a:lnB w="6668">
                      <a:solidFill>
                        <a:srgbClr val="D9E4E8"/>
                      </a:solidFill>
                      <a:prstDash val="solid"/>
                    </a:lnB>
                    <a:solidFill>
                      <a:srgbClr val="F7FAFA"/>
                    </a:solidFill>
                  </a:tcPr>
                </a:tc>
              </a:tr>
              <a:tr h="728663">
                <a:tc>
                  <a:txBody>
                    <a:bodyPr wrap="square" lIns="142875" tIns="95250" rIns="142875" bIns="95250">
                      <a:noAutofit/>
                    </a:bodyPr>
                    <a:lstStyle/>
                    <a:p>
                      <a:r>
                        <a:rPr sz="1725" b="0">
                          <a:solidFill>
                            <a:srgbClr val="10232E"/>
                          </a:solidFill>
                          <a:latin typeface="Avenir Next"/>
                          <a:ea typeface="Avenir Next"/>
                          <a:cs typeface="Avenir Next"/>
                        </a:rPr>
                        <a:t>Anvil / solc</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FFFFF"/>
                    </a:solidFill>
                  </a:tcPr>
                </a:tc>
                <a:tc>
                  <a:txBody>
                    <a:bodyPr wrap="square" lIns="142875" tIns="95250" rIns="142875" bIns="95250">
                      <a:noAutofit/>
                    </a:bodyPr>
                    <a:lstStyle/>
                    <a:p>
                      <a:r>
                        <a:rPr sz="1725" b="0">
                          <a:solidFill>
                            <a:srgbClr val="10232E"/>
                          </a:solidFill>
                          <a:latin typeface="Avenir Next"/>
                          <a:ea typeface="Avenir Next"/>
                          <a:cs typeface="Avenir Next"/>
                        </a:rPr>
                        <a:t>local fixtures and isolated fork execution</a:t>
                      </a:r>
                    </a:p>
                  </a:txBody>
                  <a:tcPr marL="91440" marR="91440" marT="45720" marB="45720" anchor="ctr">
                    <a:lnR w="6668">
                      <a:solidFill>
                        <a:srgbClr val="D9E4E8"/>
                      </a:solidFill>
                      <a:prstDash val="solid"/>
                    </a:lnR>
                    <a:lnB w="6668">
                      <a:solidFill>
                        <a:srgbClr val="D9E4E8"/>
                      </a:solidFill>
                      <a:prstDash val="solid"/>
                    </a:lnB>
                    <a:solidFill>
                      <a:srgbClr val="FFFFFF"/>
                    </a:solidFill>
                  </a:tcPr>
                </a:tc>
              </a:tr>
              <a:tr h="728663">
                <a:tc>
                  <a:txBody>
                    <a:bodyPr wrap="square" lIns="142875" tIns="95250" rIns="142875" bIns="95250">
                      <a:noAutofit/>
                    </a:bodyPr>
                    <a:lstStyle/>
                    <a:p>
                      <a:r>
                        <a:rPr sz="1725" b="0">
                          <a:solidFill>
                            <a:srgbClr val="10232E"/>
                          </a:solidFill>
                          <a:latin typeface="Avenir Next"/>
                          <a:ea typeface="Avenir Next"/>
                          <a:cs typeface="Avenir Next"/>
                        </a:rPr>
                        <a:t>Muse / GoPlus / SQLite</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7FAFA"/>
                    </a:solidFill>
                  </a:tcPr>
                </a:tc>
                <a:tc>
                  <a:txBody>
                    <a:bodyPr wrap="square" lIns="142875" tIns="95250" rIns="142875" bIns="95250">
                      <a:noAutofit/>
                    </a:bodyPr>
                    <a:lstStyle/>
                    <a:p>
                      <a:r>
                        <a:rPr sz="1725" b="0">
                          <a:solidFill>
                            <a:srgbClr val="10232E"/>
                          </a:solidFill>
                          <a:latin typeface="Avenir Next"/>
                          <a:ea typeface="Avenir Next"/>
                          <a:cs typeface="Avenir Next"/>
                        </a:rPr>
                        <a:t>assessment, intelligence and report storage</a:t>
                      </a:r>
                    </a:p>
                  </a:txBody>
                  <a:tcPr marL="91440" marR="91440" marT="45720" marB="45720" anchor="ctr">
                    <a:lnR w="6668">
                      <a:solidFill>
                        <a:srgbClr val="D9E4E8"/>
                      </a:solidFill>
                      <a:prstDash val="solid"/>
                    </a:lnR>
                    <a:lnB w="6668">
                      <a:solidFill>
                        <a:srgbClr val="D9E4E8"/>
                      </a:solidFill>
                      <a:prstDash val="solid"/>
                    </a:lnB>
                    <a:solidFill>
                      <a:srgbClr val="F7FAFA"/>
                    </a:solidFill>
                  </a:tcPr>
                </a:tc>
              </a:tr>
            </a:tbl>
          </a:graphicData>
        </a:graphic>
      </p:graphicFrame>
      <p:sp>
        <p:nvSpPr>
          <p:cNvPr id="5" name="footer">
            <a:extLst xmlns:a="http://schemas.openxmlformats.org/drawingml/2006/main">
              <a:ext uri="{FF2B5EF4-FFF2-40B4-BE49-F238E27FC236}">
                <a16:creationId xmlns:a16="http://schemas.microsoft.com/office/drawing/2014/main" id="{EB28FE5C-F396-4423-94EE-0C8820540DC9}"/>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06 / 30</a:t>
            </a:r>
          </a:p>
        </p:txBody>
      </p:sp>
    </p:spTree>
    <p:extLst>
      <p:ext uri="{BB962C8B-B14F-4D97-AF65-F5344CB8AC3E}">
        <p14:creationId xmlns:p14="http://schemas.microsoft.com/office/powerpoint/2010/main" val="1019356414"/>
      </p:ext>
    </p:extLst>
  </p:cSld>
</p:sld>
</file>

<file path=ppt/slides/slide7.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E8DB6287-49E2-44D6-BA83-842D191B29C2}"/>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Which entry points trigger analysis</a:t>
            </a:r>
          </a:p>
        </p:txBody>
      </p:sp>
      <p:sp>
        <p:nvSpPr>
          <p:cNvPr id="3" name="summary">
            <a:extLst xmlns:a="http://schemas.openxmlformats.org/drawingml/2006/main">
              <a:ext uri="{FF2B5EF4-FFF2-40B4-BE49-F238E27FC236}">
                <a16:creationId xmlns:a16="http://schemas.microsoft.com/office/drawing/2014/main" id="{ED161D0A-D993-4FDF-8941-9261BC73628B}"/>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Receiving the request is a prerequisite to assessment</a:t>
            </a:r>
          </a:p>
        </p:txBody>
      </p:sp>
      <p:sp>
        <p:nvSpPr>
          <p:cNvPr id="4" name="compare-left">
            <a:extLst xmlns:a="http://schemas.openxmlformats.org/drawingml/2006/main">
              <a:ext uri="{FF2B5EF4-FFF2-40B4-BE49-F238E27FC236}">
                <a16:creationId xmlns:a16="http://schemas.microsoft.com/office/drawing/2014/main" id="{4065FAB1-E6C1-4144-85C4-A24D01368989}"/>
              </a:ext>
            </a:extLst>
          </p:cNvPr>
          <p:cNvSpPr>
            <a:spLocks xmlns:a="http://schemas.openxmlformats.org/drawingml/2006/main" noGrp="1"/>
          </p:cNvSpPr>
          <p:nvPr/>
        </p:nvSpPr>
        <p:spPr>
          <a:xfrm xmlns:a="http://schemas.openxmlformats.org/drawingml/2006/main">
            <a:off x="647700" y="2552700"/>
            <a:ext cx="5143500"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Snap: handles transactions and messages MetaMask actually delivers</a:t>
            </a:r>
          </a:p>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Lab: an actual wallet request must match a Snap-submitted report</a:t>
            </a:r>
          </a:p>
        </p:txBody>
      </p:sp>
      <p:sp>
        <p:nvSpPr>
          <p:cNvPr id="5" name="compare-right">
            <a:extLst xmlns:a="http://schemas.openxmlformats.org/drawingml/2006/main">
              <a:ext uri="{FF2B5EF4-FFF2-40B4-BE49-F238E27FC236}">
                <a16:creationId xmlns:a16="http://schemas.microsoft.com/office/drawing/2014/main" id="{EC062711-3F05-49A9-AC6C-496B21CF47C3}"/>
              </a:ext>
            </a:extLst>
          </p:cNvPr>
          <p:cNvSpPr>
            <a:spLocks xmlns:a="http://schemas.openxmlformats.org/drawingml/2006/main" noGrp="1"/>
          </p:cNvSpPr>
          <p:nvPr/>
        </p:nvSpPr>
        <p:spPr>
          <a:xfrm xmlns:a="http://schemas.openxmlformats.org/drawingml/2006/main">
            <a:off x="6429375" y="2552700"/>
            <a:ext cx="5048250"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Explicit API: cooperating dApps submit additional permission requests</a:t>
            </a:r>
          </a:p>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Connection checks and network switching do not generate risk scores</a:t>
            </a:r>
          </a:p>
        </p:txBody>
      </p:sp>
      <p:sp>
        <p:nvSpPr>
          <p:cNvPr id="6" name="footer">
            <a:extLst xmlns:a="http://schemas.openxmlformats.org/drawingml/2006/main">
              <a:ext uri="{FF2B5EF4-FFF2-40B4-BE49-F238E27FC236}">
                <a16:creationId xmlns:a16="http://schemas.microsoft.com/office/drawing/2014/main" id="{A9BDA43C-B754-4E2B-B304-889E5E705A1D}"/>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07 / 30</a:t>
            </a:r>
          </a:p>
        </p:txBody>
      </p:sp>
    </p:spTree>
    <p:extLst>
      <p:ext uri="{BB962C8B-B14F-4D97-AF65-F5344CB8AC3E}">
        <p14:creationId xmlns:p14="http://schemas.microsoft.com/office/powerpoint/2010/main" val="300937026"/>
      </p:ext>
    </p:extLst>
  </p:cSld>
</p:sld>
</file>

<file path=ppt/slides/slide8.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609245C-DC6D-43C6-8AEA-5216C7F8A44B}"/>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Coverage structure and local case inventory</a:t>
            </a:r>
          </a:p>
        </p:txBody>
      </p:sp>
      <p:sp>
        <p:nvSpPr>
          <p:cNvPr id="3" name="summary">
            <a:extLst xmlns:a="http://schemas.openxmlformats.org/drawingml/2006/main">
              <a:ext uri="{FF2B5EF4-FFF2-40B4-BE49-F238E27FC236}">
                <a16:creationId xmlns:a16="http://schemas.microsoft.com/office/drawing/2014/main" id="{0C4D7D0A-8879-48FE-AF04-BFC9293CC3DB}"/>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Profiles and cases describe paths—not detection accuracy</a:t>
            </a:r>
          </a:p>
        </p:txBody>
      </p:sp>
      <p:graphicFrame>
        <p:nvGraphicFramePr>
          <p:cNvPr id="4" name="Chart">
            <a:extLst xmlns:a="http://schemas.openxmlformats.org/drawingml/2006/main">
              <a:ext uri="{FF2B5EF4-FFF2-40B4-BE49-F238E27FC236}">
                <a16:creationId xmlns:a16="http://schemas.microsoft.com/office/drawing/2014/main" id="{F9C59BDB-CDAC-4AF1-994F-84DAF2D98225}"/>
              </a:ext>
            </a:extLst>
          </p:cNvPr>
          <p:cNvGraphicFramePr/>
          <p:nvPr/>
        </p:nvGraphicFramePr>
        <p:xfrm>
          <a:off xmlns:a="http://schemas.openxmlformats.org/drawingml/2006/main" x="647700" y="2552700"/>
          <a:ext xmlns:a="http://schemas.openxmlformats.org/drawingml/2006/main" cx="5715000" cy="3219450"/>
        </p:xfrm>
        <a:graphic xmlns:a="http://schemas.openxmlformats.org/drawingml/2006/main">
          <a:graphicData uri="http://schemas.openxmlformats.org/drawingml/2006/chart">
            <c:chart xmlns:r="http://schemas.openxmlformats.org/officeDocument/2006/relationships" xmlns:c="http://schemas.openxmlformats.org/drawingml/2006/chart" r:id="Rdf9c1f990d894ed5"/>
          </a:graphicData>
        </a:graphic>
      </p:graphicFrame>
      <p:sp>
        <p:nvSpPr>
          <p:cNvPr id="5" name="catalog-detail">
            <a:extLst xmlns:a="http://schemas.openxmlformats.org/drawingml/2006/main">
              <a:ext uri="{FF2B5EF4-FFF2-40B4-BE49-F238E27FC236}">
                <a16:creationId xmlns:a16="http://schemas.microsoft.com/office/drawing/2014/main" id="{33E0E6D8-65AB-4442-AEB1-F835B56F09BF}"/>
              </a:ext>
            </a:extLst>
          </p:cNvPr>
          <p:cNvSpPr>
            <a:spLocks xmlns:a="http://schemas.openxmlformats.org/drawingml/2006/main" noGrp="1"/>
          </p:cNvSpPr>
          <p:nvPr/>
        </p:nvSpPr>
        <p:spPr>
          <a:xfrm xmlns:a="http://schemas.openxmlformats.org/drawingml/2006/main">
            <a:off x="7000875" y="2819400"/>
            <a:ext cx="44291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66 representative local cases</a:t>
            </a:r>
          </a:p>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30 analysis profiles; cases represent 25</a:t>
            </a:r>
          </a:p>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Catalog size is not accuracy or risk coverage</a:t>
            </a:r>
          </a:p>
        </p:txBody>
      </p:sp>
      <p:sp>
        <p:nvSpPr>
          <p:cNvPr id="6" name="footer">
            <a:extLst xmlns:a="http://schemas.openxmlformats.org/drawingml/2006/main">
              <a:ext uri="{FF2B5EF4-FFF2-40B4-BE49-F238E27FC236}">
                <a16:creationId xmlns:a16="http://schemas.microsoft.com/office/drawing/2014/main" id="{9EA509DD-8BB2-4EC8-8F55-6238E4C1ECA9}"/>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08 / 30</a:t>
            </a:r>
          </a:p>
        </p:txBody>
      </p:sp>
    </p:spTree>
    <p:extLst>
      <p:ext uri="{BB962C8B-B14F-4D97-AF65-F5344CB8AC3E}">
        <p14:creationId xmlns:p14="http://schemas.microsoft.com/office/powerpoint/2010/main" val="1305491649"/>
      </p:ext>
    </p:extLst>
  </p:cSld>
</p:sld>
</file>

<file path=ppt/slides/slide9.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18497B2-5CBD-4C8D-805D-FD27F64088F9}"/>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Core asset operations: transfers and recipients</a:t>
            </a:r>
          </a:p>
        </p:txBody>
      </p:sp>
      <p:sp>
        <p:nvSpPr>
          <p:cNvPr id="3" name="summary">
            <a:extLst xmlns:a="http://schemas.openxmlformats.org/drawingml/2006/main">
              <a:ext uri="{FF2B5EF4-FFF2-40B4-BE49-F238E27FC236}">
                <a16:creationId xmlns:a16="http://schemas.microsoft.com/office/drawing/2014/main" id="{56AD4311-31BA-43FB-B5AA-9D2BF8176E9E}"/>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Distinguish native currency, tokens and NFT semantics</a:t>
            </a:r>
          </a:p>
        </p:txBody>
      </p:sp>
      <p:sp>
        <p:nvSpPr>
          <p:cNvPr id="4" name="body">
            <a:extLst xmlns:a="http://schemas.openxmlformats.org/drawingml/2006/main">
              <a:ext uri="{FF2B5EF4-FFF2-40B4-BE49-F238E27FC236}">
                <a16:creationId xmlns:a16="http://schemas.microsoft.com/office/drawing/2014/main" id="{171237F3-C225-40CD-AFE6-8B3BCB8BA677}"/>
              </a:ext>
            </a:extLst>
          </p:cNvPr>
          <p:cNvSpPr>
            <a:spLocks xmlns:a="http://schemas.openxmlformats.org/drawingml/2006/main" noGrp="1"/>
          </p:cNvSpPr>
          <p:nvPr/>
        </p:nvSpPr>
        <p:spPr>
          <a:xfrm xmlns:a="http://schemas.openxmlformats.org/drawingml/2006/main">
            <a:off x="714375" y="2552700"/>
            <a:ext cx="10715625"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32E"/>
                </a:solidFill>
                <a:latin typeface="Avenir Next"/>
                <a:ea typeface="Avenir Next"/>
                <a:cs typeface="Avenir Next"/>
              </a:defRPr>
            </a:defPPr>
            <a:lvl1pPr>
              <a:defRPr sz="2100" b="0">
                <a:solidFill>
                  <a:srgbClr val="10232E"/>
                </a:solidFill>
                <a:latin typeface="Avenir Next"/>
                <a:ea typeface="Avenir Next"/>
                <a:cs typeface="Avenir Next"/>
              </a:defRPr>
            </a:lvl1pPr>
            <a:lvl2pPr>
              <a:defRPr sz="2100" b="0">
                <a:solidFill>
                  <a:srgbClr val="10232E"/>
                </a:solidFill>
                <a:latin typeface="Avenir Next"/>
                <a:ea typeface="Avenir Next"/>
                <a:cs typeface="Avenir Next"/>
              </a:defRPr>
            </a:lvl2pPr>
            <a:lvl3pPr>
              <a:defRPr sz="2100" b="0">
                <a:solidFill>
                  <a:srgbClr val="10232E"/>
                </a:solidFill>
                <a:latin typeface="Avenir Next"/>
                <a:ea typeface="Avenir Next"/>
                <a:cs typeface="Avenir Next"/>
              </a:defRPr>
            </a:lvl3pPr>
            <a:lvl4pPr>
              <a:defRPr sz="2100" b="0">
                <a:solidFill>
                  <a:srgbClr val="10232E"/>
                </a:solidFill>
                <a:latin typeface="Avenir Next"/>
                <a:ea typeface="Avenir Next"/>
                <a:cs typeface="Avenir Next"/>
              </a:defRPr>
            </a:lvl4pPr>
            <a:lvl5pPr>
              <a:defRPr sz="2100" b="0">
                <a:solidFill>
                  <a:srgbClr val="10232E"/>
                </a:solidFill>
                <a:latin typeface="Avenir Next"/>
                <a:ea typeface="Avenir Next"/>
                <a:cs typeface="Avenir Next"/>
              </a:defRPr>
            </a:lvl5pPr>
            <a:lvl6pPr>
              <a:defRPr sz="2100" b="0">
                <a:solidFill>
                  <a:srgbClr val="10232E"/>
                </a:solidFill>
                <a:latin typeface="Avenir Next"/>
                <a:ea typeface="Avenir Next"/>
                <a:cs typeface="Avenir Next"/>
              </a:defRPr>
            </a:lvl6pPr>
            <a:lvl7pPr>
              <a:defRPr sz="2100" b="0">
                <a:solidFill>
                  <a:srgbClr val="10232E"/>
                </a:solidFill>
                <a:latin typeface="Avenir Next"/>
                <a:ea typeface="Avenir Next"/>
                <a:cs typeface="Avenir Next"/>
              </a:defRPr>
            </a:lvl7pPr>
            <a:lvl8pPr>
              <a:defRPr sz="2100" b="0">
                <a:solidFill>
                  <a:srgbClr val="10232E"/>
                </a:solidFill>
                <a:latin typeface="Avenir Next"/>
                <a:ea typeface="Avenir Next"/>
                <a:cs typeface="Avenir Next"/>
              </a:defRPr>
            </a:lvl8pPr>
            <a:lvl9pPr>
              <a:defRPr sz="2100"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Native: from/to/value, fees, nonce, balance and recipient code</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ERC-20: token, recipient, decimals, amount and balance</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NFT: owner/recipient, IDs/amounts and existing approvals</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Add pinned-block observations and fork asset changes when available</a:t>
            </a:r>
          </a:p>
        </p:txBody>
      </p:sp>
      <p:sp>
        <p:nvSpPr>
          <p:cNvPr id="5" name="footer">
            <a:extLst xmlns:a="http://schemas.openxmlformats.org/drawingml/2006/main">
              <a:ext uri="{FF2B5EF4-FFF2-40B4-BE49-F238E27FC236}">
                <a16:creationId xmlns:a16="http://schemas.microsoft.com/office/drawing/2014/main" id="{068BD82D-B9C9-4B4E-99B2-8AF7042E265D}"/>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09 / 30</a:t>
            </a:r>
          </a:p>
        </p:txBody>
      </p:sp>
    </p:spTree>
    <p:extLst>
      <p:ext uri="{BB962C8B-B14F-4D97-AF65-F5344CB8AC3E}">
        <p14:creationId xmlns:p14="http://schemas.microsoft.com/office/powerpoint/2010/main" val="684025321"/>
      </p:ext>
    </p:extLst>
  </p:cSld>
</p:sld>
</file>

<file path=ppt/slides/slide10.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C518A72-991E-4D49-BB6E-36FBFFB256B6}"/>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Approval risk: who may move which assets</a:t>
            </a:r>
          </a:p>
        </p:txBody>
      </p:sp>
      <p:sp>
        <p:nvSpPr>
          <p:cNvPr id="3" name="summary">
            <a:extLst xmlns:a="http://schemas.openxmlformats.org/drawingml/2006/main">
              <a:ext uri="{FF2B5EF4-FFF2-40B4-BE49-F238E27FC236}">
                <a16:creationId xmlns:a16="http://schemas.microsoft.com/office/drawing/2014/main" id="{68B479F2-52CC-48D3-9930-0C4058E14279}"/>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Permission scope matters beyond the immediate transfer amount</a:t>
            </a:r>
          </a:p>
        </p:txBody>
      </p:sp>
      <p:graphicFrame>
        <p:nvGraphicFramePr>
          <p:cNvPr id="4" name="">
            <a:extLst xmlns:a="http://schemas.openxmlformats.org/drawingml/2006/main">
              <a:ext uri="{FF2B5EF4-FFF2-40B4-BE49-F238E27FC236}">
                <a16:creationId xmlns:a16="http://schemas.microsoft.com/office/drawing/2014/main" id="{96966689-6F80-4760-AEA8-5243D43F8C1B}"/>
              </a:ext>
            </a:extLst>
          </p:cNvPr>
          <p:cNvGraphicFramePr/>
          <p:nvPr/>
        </p:nvGraphicFramePr>
        <p:xfrm>
          <a:off xmlns:a="http://schemas.openxmlformats.org/drawingml/2006/main" x="647700" y="2552700"/>
          <a:ext xmlns:a="http://schemas.openxmlformats.org/drawingml/2006/main" cx="10858500" cy="3409950"/>
        </p:xfrm>
        <a:graphic xmlns:a="http://schemas.openxmlformats.org/drawingml/2006/main">
          <a:graphicData uri="http://schemas.openxmlformats.org/drawingml/2006/table">
            <a:tbl>
              <a:tblPr/>
              <a:tblGrid>
                <a:gridCol w="2809875"/>
                <a:gridCol w="8048625"/>
              </a:tblGrid>
              <a:tr h="495300">
                <a:tc>
                  <a:txBody>
                    <a:bodyPr wrap="square" lIns="142875" tIns="95250" rIns="142875" bIns="95250">
                      <a:noAutofit/>
                    </a:bodyPr>
                    <a:lstStyle/>
                    <a:p>
                      <a:r>
                        <a:rPr sz="1650" b="1">
                          <a:solidFill>
                            <a:srgbClr val="FFFFFF"/>
                          </a:solidFill>
                          <a:latin typeface="Avenir Next"/>
                          <a:ea typeface="Avenir Next"/>
                          <a:cs typeface="Avenir Next"/>
                        </a:rPr>
                        <a:t>Component / field</a:t>
                      </a:r>
                    </a:p>
                  </a:txBody>
                  <a:tcPr marL="91440" marR="91440" marT="45720" marB="45720" anchor="ctr">
                    <a:lnL w="6668">
                      <a:solidFill>
                        <a:srgbClr val="D9E4E8"/>
                      </a:solidFill>
                      <a:prstDash val="solid"/>
                    </a:lnL>
                    <a:lnR w="6668">
                      <a:solidFill>
                        <a:srgbClr val="D9E4E8"/>
                      </a:solidFill>
                      <a:prstDash val="solid"/>
                    </a:lnR>
                    <a:lnT w="6668">
                      <a:solidFill>
                        <a:srgbClr val="D9E4E8"/>
                      </a:solidFill>
                      <a:prstDash val="solid"/>
                    </a:lnT>
                    <a:lnB w="6668">
                      <a:solidFill>
                        <a:srgbClr val="D9E4E8"/>
                      </a:solidFill>
                      <a:prstDash val="solid"/>
                    </a:lnB>
                    <a:solidFill>
                      <a:srgbClr val="10232E"/>
                    </a:solidFill>
                  </a:tcPr>
                </a:tc>
                <a:tc>
                  <a:txBody>
                    <a:bodyPr wrap="square" lIns="142875" tIns="95250" rIns="142875" bIns="95250">
                      <a:noAutofit/>
                    </a:bodyPr>
                    <a:lstStyle/>
                    <a:p>
                      <a:r>
                        <a:rPr sz="1650" b="1">
                          <a:solidFill>
                            <a:srgbClr val="FFFFFF"/>
                          </a:solidFill>
                          <a:latin typeface="Avenir Next"/>
                          <a:ea typeface="Avenir Next"/>
                          <a:cs typeface="Avenir Next"/>
                        </a:rPr>
                        <a:t>Implementation and purpose</a:t>
                      </a:r>
                    </a:p>
                  </a:txBody>
                  <a:tcPr marL="91440" marR="91440" marT="45720" marB="45720" anchor="ctr">
                    <a:lnR w="6668">
                      <a:solidFill>
                        <a:srgbClr val="D9E4E8"/>
                      </a:solidFill>
                      <a:prstDash val="solid"/>
                    </a:lnR>
                    <a:lnT w="6668">
                      <a:solidFill>
                        <a:srgbClr val="D9E4E8"/>
                      </a:solidFill>
                      <a:prstDash val="solid"/>
                    </a:lnT>
                    <a:lnB w="6668">
                      <a:solidFill>
                        <a:srgbClr val="D9E4E8"/>
                      </a:solidFill>
                      <a:prstDash val="solid"/>
                    </a:lnB>
                    <a:solidFill>
                      <a:srgbClr val="10232E"/>
                    </a:solidFill>
                  </a:tcPr>
                </a:tc>
              </a:tr>
              <a:tr h="728663">
                <a:tc>
                  <a:txBody>
                    <a:bodyPr wrap="square" lIns="142875" tIns="95250" rIns="142875" bIns="95250">
                      <a:noAutofit/>
                    </a:bodyPr>
                    <a:lstStyle/>
                    <a:p>
                      <a:r>
                        <a:rPr sz="1725" b="0">
                          <a:solidFill>
                            <a:srgbClr val="10232E"/>
                          </a:solidFill>
                          <a:latin typeface="Avenir Next"/>
                          <a:ea typeface="Avenir Next"/>
                          <a:cs typeface="Avenir Next"/>
                        </a:rPr>
                        <a:t>ERC-20</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FFFFF"/>
                    </a:solidFill>
                  </a:tcPr>
                </a:tc>
                <a:tc>
                  <a:txBody>
                    <a:bodyPr wrap="square" lIns="142875" tIns="95250" rIns="142875" bIns="95250">
                      <a:noAutofit/>
                    </a:bodyPr>
                    <a:lstStyle/>
                    <a:p>
                      <a:r>
                        <a:rPr sz="1725" b="0">
                          <a:solidFill>
                            <a:srgbClr val="10232E"/>
                          </a:solidFill>
                          <a:latin typeface="Avenir Next"/>
                          <a:ea typeface="Avenir Next"/>
                          <a:cs typeface="Avenir Next"/>
                        </a:rPr>
                        <a:t>spender, cap, existing allowance and balance</a:t>
                      </a:r>
                    </a:p>
                  </a:txBody>
                  <a:tcPr marL="91440" marR="91440" marT="45720" marB="45720" anchor="ctr">
                    <a:lnR w="6668">
                      <a:solidFill>
                        <a:srgbClr val="D9E4E8"/>
                      </a:solidFill>
                      <a:prstDash val="solid"/>
                    </a:lnR>
                    <a:lnB w="6668">
                      <a:solidFill>
                        <a:srgbClr val="D9E4E8"/>
                      </a:solidFill>
                      <a:prstDash val="solid"/>
                    </a:lnB>
                    <a:solidFill>
                      <a:srgbClr val="FFFFFF"/>
                    </a:solidFill>
                  </a:tcPr>
                </a:tc>
              </a:tr>
              <a:tr h="728663">
                <a:tc>
                  <a:txBody>
                    <a:bodyPr wrap="square" lIns="142875" tIns="95250" rIns="142875" bIns="95250">
                      <a:noAutofit/>
                    </a:bodyPr>
                    <a:lstStyle/>
                    <a:p>
                      <a:r>
                        <a:rPr sz="1725" b="0">
                          <a:solidFill>
                            <a:srgbClr val="10232E"/>
                          </a:solidFill>
                          <a:latin typeface="Avenir Next"/>
                          <a:ea typeface="Avenir Next"/>
                          <a:cs typeface="Avenir Next"/>
                        </a:rPr>
                        <a:t>NFT</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7FAFA"/>
                    </a:solidFill>
                  </a:tcPr>
                </a:tc>
                <a:tc>
                  <a:txBody>
                    <a:bodyPr wrap="square" lIns="142875" tIns="95250" rIns="142875" bIns="95250">
                      <a:noAutofit/>
                    </a:bodyPr>
                    <a:lstStyle/>
                    <a:p>
                      <a:r>
                        <a:rPr sz="1725" b="0">
                          <a:solidFill>
                            <a:srgbClr val="10232E"/>
                          </a:solidFill>
                          <a:latin typeface="Avenir Next"/>
                          <a:ea typeface="Avenir Next"/>
                          <a:cs typeface="Avenir Next"/>
                        </a:rPr>
                        <a:t>a single-item approval or collection-wide operator authority</a:t>
                      </a:r>
                    </a:p>
                  </a:txBody>
                  <a:tcPr marL="91440" marR="91440" marT="45720" marB="45720" anchor="ctr">
                    <a:lnR w="6668">
                      <a:solidFill>
                        <a:srgbClr val="D9E4E8"/>
                      </a:solidFill>
                      <a:prstDash val="solid"/>
                    </a:lnR>
                    <a:lnB w="6668">
                      <a:solidFill>
                        <a:srgbClr val="D9E4E8"/>
                      </a:solidFill>
                      <a:prstDash val="solid"/>
                    </a:lnB>
                    <a:solidFill>
                      <a:srgbClr val="F7FAFA"/>
                    </a:solidFill>
                  </a:tcPr>
                </a:tc>
              </a:tr>
              <a:tr h="728663">
                <a:tc>
                  <a:txBody>
                    <a:bodyPr wrap="square" lIns="142875" tIns="95250" rIns="142875" bIns="95250">
                      <a:noAutofit/>
                    </a:bodyPr>
                    <a:lstStyle/>
                    <a:p>
                      <a:r>
                        <a:rPr sz="1725" b="0">
                          <a:solidFill>
                            <a:srgbClr val="10232E"/>
                          </a:solidFill>
                          <a:latin typeface="Avenir Next"/>
                          <a:ea typeface="Avenir Next"/>
                          <a:cs typeface="Avenir Next"/>
                        </a:rPr>
                        <a:t>Revocation</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FFFFF"/>
                    </a:solidFill>
                  </a:tcPr>
                </a:tc>
                <a:tc>
                  <a:txBody>
                    <a:bodyPr wrap="square" lIns="142875" tIns="95250" rIns="142875" bIns="95250">
                      <a:noAutofit/>
                    </a:bodyPr>
                    <a:lstStyle/>
                    <a:p>
                      <a:r>
                        <a:rPr sz="1725" b="0">
                          <a:solidFill>
                            <a:srgbClr val="10232E"/>
                          </a:solidFill>
                          <a:latin typeface="Avenir Next"/>
                          <a:ea typeface="Avenir Next"/>
                          <a:cs typeface="Avenir Next"/>
                        </a:rPr>
                        <a:t>zero allowance or disabled operator, with distinct semantics</a:t>
                      </a:r>
                    </a:p>
                  </a:txBody>
                  <a:tcPr marL="91440" marR="91440" marT="45720" marB="45720" anchor="ctr">
                    <a:lnR w="6668">
                      <a:solidFill>
                        <a:srgbClr val="D9E4E8"/>
                      </a:solidFill>
                      <a:prstDash val="solid"/>
                    </a:lnR>
                    <a:lnB w="6668">
                      <a:solidFill>
                        <a:srgbClr val="D9E4E8"/>
                      </a:solidFill>
                      <a:prstDash val="solid"/>
                    </a:lnB>
                    <a:solidFill>
                      <a:srgbClr val="FFFFFF"/>
                    </a:solidFill>
                  </a:tcPr>
                </a:tc>
              </a:tr>
              <a:tr h="728663">
                <a:tc>
                  <a:txBody>
                    <a:bodyPr wrap="square" lIns="142875" tIns="95250" rIns="142875" bIns="95250">
                      <a:noAutofit/>
                    </a:bodyPr>
                    <a:lstStyle/>
                    <a:p>
                      <a:r>
                        <a:rPr sz="1725" b="0">
                          <a:solidFill>
                            <a:srgbClr val="10232E"/>
                          </a:solidFill>
                          <a:latin typeface="Avenir Next"/>
                          <a:ea typeface="Avenir Next"/>
                          <a:cs typeface="Avenir Next"/>
                        </a:rPr>
                        <a:t>Permit2</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7FAFA"/>
                    </a:solidFill>
                  </a:tcPr>
                </a:tc>
                <a:tc>
                  <a:txBody>
                    <a:bodyPr wrap="square" lIns="142875" tIns="95250" rIns="142875" bIns="95250">
                      <a:noAutofit/>
                    </a:bodyPr>
                    <a:lstStyle/>
                    <a:p>
                      <a:r>
                        <a:rPr sz="1725" b="0">
                          <a:solidFill>
                            <a:srgbClr val="10232E"/>
                          </a:solidFill>
                          <a:latin typeface="Avenir Next"/>
                          <a:ea typeface="Avenir Next"/>
                          <a:cs typeface="Avenir Next"/>
                        </a:rPr>
                        <a:t>read underlying ERC-20 and internal allowances separately</a:t>
                      </a:r>
                    </a:p>
                  </a:txBody>
                  <a:tcPr marL="91440" marR="91440" marT="45720" marB="45720" anchor="ctr">
                    <a:lnR w="6668">
                      <a:solidFill>
                        <a:srgbClr val="D9E4E8"/>
                      </a:solidFill>
                      <a:prstDash val="solid"/>
                    </a:lnR>
                    <a:lnB w="6668">
                      <a:solidFill>
                        <a:srgbClr val="D9E4E8"/>
                      </a:solidFill>
                      <a:prstDash val="solid"/>
                    </a:lnB>
                    <a:solidFill>
                      <a:srgbClr val="F7FAFA"/>
                    </a:solidFill>
                  </a:tcPr>
                </a:tc>
              </a:tr>
            </a:tbl>
          </a:graphicData>
        </a:graphic>
      </p:graphicFrame>
      <p:sp>
        <p:nvSpPr>
          <p:cNvPr id="5" name="footer">
            <a:extLst xmlns:a="http://schemas.openxmlformats.org/drawingml/2006/main">
              <a:ext uri="{FF2B5EF4-FFF2-40B4-BE49-F238E27FC236}">
                <a16:creationId xmlns:a16="http://schemas.microsoft.com/office/drawing/2014/main" id="{FF6B19BC-D99B-41B3-9FCD-F18B139EBBFD}"/>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10 / 30</a:t>
            </a:r>
          </a:p>
        </p:txBody>
      </p:sp>
    </p:spTree>
    <p:extLst>
      <p:ext uri="{BB962C8B-B14F-4D97-AF65-F5344CB8AC3E}">
        <p14:creationId xmlns:p14="http://schemas.microsoft.com/office/powerpoint/2010/main" val="984469694"/>
      </p:ext>
    </p:extLst>
  </p:cSld>
</p:sld>
</file>

<file path=ppt/slides/slide11.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2D1CA03-B5F3-4563-B9D5-E93848E9DFC4}"/>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Message signatures: inspect signed commitments</a:t>
            </a:r>
          </a:p>
        </p:txBody>
      </p:sp>
      <p:sp>
        <p:nvSpPr>
          <p:cNvPr id="3" name="summary">
            <a:extLst xmlns:a="http://schemas.openxmlformats.org/drawingml/2006/main">
              <a:ext uri="{FF2B5EF4-FFF2-40B4-BE49-F238E27FC236}">
                <a16:creationId xmlns:a16="http://schemas.microsoft.com/office/drawing/2014/main" id="{A1C3ACE3-E63D-40A0-8B38-E0424E8332B1}"/>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Supported signed fields—not names alone—form the evidence</a:t>
            </a:r>
          </a:p>
        </p:txBody>
      </p:sp>
      <p:graphicFrame>
        <p:nvGraphicFramePr>
          <p:cNvPr id="4" name="">
            <a:extLst xmlns:a="http://schemas.openxmlformats.org/drawingml/2006/main">
              <a:ext uri="{FF2B5EF4-FFF2-40B4-BE49-F238E27FC236}">
                <a16:creationId xmlns:a16="http://schemas.microsoft.com/office/drawing/2014/main" id="{89078778-F8B7-433E-9B5B-F864AC89B063}"/>
              </a:ext>
            </a:extLst>
          </p:cNvPr>
          <p:cNvGraphicFramePr/>
          <p:nvPr/>
        </p:nvGraphicFramePr>
        <p:xfrm>
          <a:off xmlns:a="http://schemas.openxmlformats.org/drawingml/2006/main" x="647700" y="2552700"/>
          <a:ext xmlns:a="http://schemas.openxmlformats.org/drawingml/2006/main" cx="10858500" cy="3409950"/>
        </p:xfrm>
        <a:graphic xmlns:a="http://schemas.openxmlformats.org/drawingml/2006/main">
          <a:graphicData uri="http://schemas.openxmlformats.org/drawingml/2006/table">
            <a:tbl>
              <a:tblPr/>
              <a:tblGrid>
                <a:gridCol w="2809875"/>
                <a:gridCol w="8048625"/>
              </a:tblGrid>
              <a:tr h="495300">
                <a:tc>
                  <a:txBody>
                    <a:bodyPr wrap="square" lIns="142875" tIns="95250" rIns="142875" bIns="95250">
                      <a:noAutofit/>
                    </a:bodyPr>
                    <a:lstStyle/>
                    <a:p>
                      <a:r>
                        <a:rPr sz="1650" b="1">
                          <a:solidFill>
                            <a:srgbClr val="FFFFFF"/>
                          </a:solidFill>
                          <a:latin typeface="Avenir Next"/>
                          <a:ea typeface="Avenir Next"/>
                          <a:cs typeface="Avenir Next"/>
                        </a:rPr>
                        <a:t>Component / field</a:t>
                      </a:r>
                    </a:p>
                  </a:txBody>
                  <a:tcPr marL="91440" marR="91440" marT="45720" marB="45720" anchor="ctr">
                    <a:lnL w="6668">
                      <a:solidFill>
                        <a:srgbClr val="D9E4E8"/>
                      </a:solidFill>
                      <a:prstDash val="solid"/>
                    </a:lnL>
                    <a:lnR w="6668">
                      <a:solidFill>
                        <a:srgbClr val="D9E4E8"/>
                      </a:solidFill>
                      <a:prstDash val="solid"/>
                    </a:lnR>
                    <a:lnT w="6668">
                      <a:solidFill>
                        <a:srgbClr val="D9E4E8"/>
                      </a:solidFill>
                      <a:prstDash val="solid"/>
                    </a:lnT>
                    <a:lnB w="6668">
                      <a:solidFill>
                        <a:srgbClr val="D9E4E8"/>
                      </a:solidFill>
                      <a:prstDash val="solid"/>
                    </a:lnB>
                    <a:solidFill>
                      <a:srgbClr val="10232E"/>
                    </a:solidFill>
                  </a:tcPr>
                </a:tc>
                <a:tc>
                  <a:txBody>
                    <a:bodyPr wrap="square" lIns="142875" tIns="95250" rIns="142875" bIns="95250">
                      <a:noAutofit/>
                    </a:bodyPr>
                    <a:lstStyle/>
                    <a:p>
                      <a:r>
                        <a:rPr sz="1650" b="1">
                          <a:solidFill>
                            <a:srgbClr val="FFFFFF"/>
                          </a:solidFill>
                          <a:latin typeface="Avenir Next"/>
                          <a:ea typeface="Avenir Next"/>
                          <a:cs typeface="Avenir Next"/>
                        </a:rPr>
                        <a:t>Implementation and purpose</a:t>
                      </a:r>
                    </a:p>
                  </a:txBody>
                  <a:tcPr marL="91440" marR="91440" marT="45720" marB="45720" anchor="ctr">
                    <a:lnR w="6668">
                      <a:solidFill>
                        <a:srgbClr val="D9E4E8"/>
                      </a:solidFill>
                      <a:prstDash val="solid"/>
                    </a:lnR>
                    <a:lnT w="6668">
                      <a:solidFill>
                        <a:srgbClr val="D9E4E8"/>
                      </a:solidFill>
                      <a:prstDash val="solid"/>
                    </a:lnT>
                    <a:lnB w="6668">
                      <a:solidFill>
                        <a:srgbClr val="D9E4E8"/>
                      </a:solidFill>
                      <a:prstDash val="solid"/>
                    </a:lnB>
                    <a:solidFill>
                      <a:srgbClr val="10232E"/>
                    </a:solidFill>
                  </a:tcPr>
                </a:tc>
              </a:tr>
              <a:tr h="728663">
                <a:tc>
                  <a:txBody>
                    <a:bodyPr wrap="square" lIns="142875" tIns="95250" rIns="142875" bIns="95250">
                      <a:noAutofit/>
                    </a:bodyPr>
                    <a:lstStyle/>
                    <a:p>
                      <a:r>
                        <a:rPr sz="1725" b="0">
                          <a:solidFill>
                            <a:srgbClr val="10232E"/>
                          </a:solidFill>
                          <a:latin typeface="Avenir Next"/>
                          <a:ea typeface="Avenir Next"/>
                          <a:cs typeface="Avenir Next"/>
                        </a:rPr>
                        <a:t>SIWE / personal_sign</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FFFFF"/>
                    </a:solidFill>
                  </a:tcPr>
                </a:tc>
                <a:tc>
                  <a:txBody>
                    <a:bodyPr wrap="square" lIns="142875" tIns="95250" rIns="142875" bIns="95250">
                      <a:noAutofit/>
                    </a:bodyPr>
                    <a:lstStyle/>
                    <a:p>
                      <a:r>
                        <a:rPr sz="1725" b="0">
                          <a:solidFill>
                            <a:srgbClr val="10232E"/>
                          </a:solidFill>
                          <a:latin typeface="Avenir Next"/>
                          <a:ea typeface="Avenir Next"/>
                          <a:cs typeface="Avenir Next"/>
                        </a:rPr>
                        <a:t>source, account, domain and time conditions</a:t>
                      </a:r>
                    </a:p>
                  </a:txBody>
                  <a:tcPr marL="91440" marR="91440" marT="45720" marB="45720" anchor="ctr">
                    <a:lnR w="6668">
                      <a:solidFill>
                        <a:srgbClr val="D9E4E8"/>
                      </a:solidFill>
                      <a:prstDash val="solid"/>
                    </a:lnR>
                    <a:lnB w="6668">
                      <a:solidFill>
                        <a:srgbClr val="D9E4E8"/>
                      </a:solidFill>
                      <a:prstDash val="solid"/>
                    </a:lnB>
                    <a:solidFill>
                      <a:srgbClr val="FFFFFF"/>
                    </a:solidFill>
                  </a:tcPr>
                </a:tc>
              </a:tr>
              <a:tr h="728663">
                <a:tc>
                  <a:txBody>
                    <a:bodyPr wrap="square" lIns="142875" tIns="95250" rIns="142875" bIns="95250">
                      <a:noAutofit/>
                    </a:bodyPr>
                    <a:lstStyle/>
                    <a:p>
                      <a:r>
                        <a:rPr sz="1725" b="0">
                          <a:solidFill>
                            <a:srgbClr val="10232E"/>
                          </a:solidFill>
                          <a:latin typeface="Avenir Next"/>
                          <a:ea typeface="Avenir Next"/>
                          <a:cs typeface="Avenir Next"/>
                        </a:rPr>
                        <a:t>Permit / DAI</a:t>
                      </a:r>
                    </a:p>
                    <a:p>
                      <a:r>
                        <a:rPr sz="1725" b="0">
                          <a:solidFill>
                            <a:srgbClr val="10232E"/>
                          </a:solidFill>
                          <a:latin typeface="Avenir Next"/>
                          <a:ea typeface="Avenir Next"/>
                          <a:cs typeface="Avenir Next"/>
                        </a:rPr>
                        <a:t>ERC-3009</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7FAFA"/>
                    </a:solidFill>
                  </a:tcPr>
                </a:tc>
                <a:tc>
                  <a:txBody>
                    <a:bodyPr wrap="square" lIns="142875" tIns="95250" rIns="142875" bIns="95250">
                      <a:noAutofit/>
                    </a:bodyPr>
                    <a:lstStyle/>
                    <a:p>
                      <a:r>
                        <a:rPr sz="1725" b="0">
                          <a:solidFill>
                            <a:srgbClr val="10232E"/>
                          </a:solidFill>
                          <a:latin typeface="Avenir Next"/>
                          <a:ea typeface="Avenir Next"/>
                          <a:cs typeface="Avenir Next"/>
                        </a:rPr>
                        <a:t>allowance or one-time transfer commitments</a:t>
                      </a:r>
                    </a:p>
                  </a:txBody>
                  <a:tcPr marL="91440" marR="91440" marT="45720" marB="45720" anchor="ctr">
                    <a:lnR w="6668">
                      <a:solidFill>
                        <a:srgbClr val="D9E4E8"/>
                      </a:solidFill>
                      <a:prstDash val="solid"/>
                    </a:lnR>
                    <a:lnB w="6668">
                      <a:solidFill>
                        <a:srgbClr val="D9E4E8"/>
                      </a:solidFill>
                      <a:prstDash val="solid"/>
                    </a:lnB>
                    <a:solidFill>
                      <a:srgbClr val="F7FAFA"/>
                    </a:solidFill>
                  </a:tcPr>
                </a:tc>
              </a:tr>
              <a:tr h="728663">
                <a:tc>
                  <a:txBody>
                    <a:bodyPr wrap="square" lIns="142875" tIns="95250" rIns="142875" bIns="95250">
                      <a:noAutofit/>
                    </a:bodyPr>
                    <a:lstStyle/>
                    <a:p>
                      <a:r>
                        <a:rPr sz="1725" b="0">
                          <a:solidFill>
                            <a:srgbClr val="10232E"/>
                          </a:solidFill>
                          <a:latin typeface="Avenir Next"/>
                          <a:ea typeface="Avenir Next"/>
                          <a:cs typeface="Avenir Next"/>
                        </a:rPr>
                        <a:t>Permit2</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FFFFF"/>
                    </a:solidFill>
                  </a:tcPr>
                </a:tc>
                <a:tc>
                  <a:txBody>
                    <a:bodyPr wrap="square" lIns="142875" tIns="95250" rIns="142875" bIns="95250">
                      <a:noAutofit/>
                    </a:bodyPr>
                    <a:lstStyle/>
                    <a:p>
                      <a:r>
                        <a:rPr sz="1725" b="0">
                          <a:solidFill>
                            <a:srgbClr val="10232E"/>
                          </a:solidFill>
                          <a:latin typeface="Avenir Next"/>
                          <a:ea typeface="Avenir Next"/>
                          <a:cs typeface="Avenir Next"/>
                        </a:rPr>
                        <a:t>token/cap/spender/nonce/deadline and witness envelope</a:t>
                      </a:r>
                    </a:p>
                  </a:txBody>
                  <a:tcPr marL="91440" marR="91440" marT="45720" marB="45720" anchor="ctr">
                    <a:lnR w="6668">
                      <a:solidFill>
                        <a:srgbClr val="D9E4E8"/>
                      </a:solidFill>
                      <a:prstDash val="solid"/>
                    </a:lnR>
                    <a:lnB w="6668">
                      <a:solidFill>
                        <a:srgbClr val="D9E4E8"/>
                      </a:solidFill>
                      <a:prstDash val="solid"/>
                    </a:lnB>
                    <a:solidFill>
                      <a:srgbClr val="FFFFFF"/>
                    </a:solidFill>
                  </a:tcPr>
                </a:tc>
              </a:tr>
              <a:tr h="728663">
                <a:tc>
                  <a:txBody>
                    <a:bodyPr wrap="square" lIns="142875" tIns="95250" rIns="142875" bIns="95250">
                      <a:noAutofit/>
                    </a:bodyPr>
                    <a:lstStyle/>
                    <a:p>
                      <a:r>
                        <a:rPr sz="1725" b="0">
                          <a:solidFill>
                            <a:srgbClr val="10232E"/>
                          </a:solidFill>
                          <a:latin typeface="Avenir Next"/>
                          <a:ea typeface="Avenir Next"/>
                          <a:cs typeface="Avenir Next"/>
                        </a:rPr>
                        <a:t>EIP-712 orders</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7FAFA"/>
                    </a:solidFill>
                  </a:tcPr>
                </a:tc>
                <a:tc>
                  <a:txBody>
                    <a:bodyPr wrap="square" lIns="142875" tIns="95250" rIns="142875" bIns="95250">
                      <a:noAutofit/>
                    </a:bodyPr>
                    <a:lstStyle/>
                    <a:p>
                      <a:r>
                        <a:rPr sz="1725" b="0">
                          <a:solidFill>
                            <a:srgbClr val="10232E"/>
                          </a:solidFill>
                          <a:latin typeface="Avenir Next"/>
                          <a:ea typeface="Avenir Next"/>
                          <a:cs typeface="Avenir Next"/>
                        </a:rPr>
                        <a:t>assets, recipients, quantities, time and commitment hashes</a:t>
                      </a:r>
                    </a:p>
                  </a:txBody>
                  <a:tcPr marL="91440" marR="91440" marT="45720" marB="45720" anchor="ctr">
                    <a:lnR w="6668">
                      <a:solidFill>
                        <a:srgbClr val="D9E4E8"/>
                      </a:solidFill>
                      <a:prstDash val="solid"/>
                    </a:lnR>
                    <a:lnB w="6668">
                      <a:solidFill>
                        <a:srgbClr val="D9E4E8"/>
                      </a:solidFill>
                      <a:prstDash val="solid"/>
                    </a:lnB>
                    <a:solidFill>
                      <a:srgbClr val="F7FAFA"/>
                    </a:solidFill>
                  </a:tcPr>
                </a:tc>
              </a:tr>
            </a:tbl>
          </a:graphicData>
        </a:graphic>
      </p:graphicFrame>
      <p:sp>
        <p:nvSpPr>
          <p:cNvPr id="5" name="footer">
            <a:extLst xmlns:a="http://schemas.openxmlformats.org/drawingml/2006/main">
              <a:ext uri="{FF2B5EF4-FFF2-40B4-BE49-F238E27FC236}">
                <a16:creationId xmlns:a16="http://schemas.microsoft.com/office/drawing/2014/main" id="{566568C9-BC99-4690-834A-3085EC6AE5D6}"/>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11 / 30</a:t>
            </a:r>
          </a:p>
        </p:txBody>
      </p:sp>
    </p:spTree>
    <p:extLst>
      <p:ext uri="{BB962C8B-B14F-4D97-AF65-F5344CB8AC3E}">
        <p14:creationId xmlns:p14="http://schemas.microsoft.com/office/powerpoint/2010/main" val="431103511"/>
      </p:ext>
    </p:extLst>
  </p:cSld>
</p:sld>
</file>

<file path=ppt/slides/slide12.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E7FEE8F-CACB-4E98-853E-27F188106072}"/>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DeFi operations: swaps, positions and exit evidence</a:t>
            </a:r>
          </a:p>
        </p:txBody>
      </p:sp>
      <p:sp>
        <p:nvSpPr>
          <p:cNvPr id="3" name="summary">
            <a:extLst xmlns:a="http://schemas.openxmlformats.org/drawingml/2006/main">
              <a:ext uri="{FF2B5EF4-FFF2-40B4-BE49-F238E27FC236}">
                <a16:creationId xmlns:a16="http://schemas.microsoft.com/office/drawing/2014/main" id="{CDA43A0E-FAE4-4939-A063-453DF459E397}"/>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Go beyond parameters to observed state and fork results</a:t>
            </a:r>
          </a:p>
        </p:txBody>
      </p:sp>
      <p:sp>
        <p:nvSpPr>
          <p:cNvPr id="4" name="body">
            <a:extLst xmlns:a="http://schemas.openxmlformats.org/drawingml/2006/main">
              <a:ext uri="{FF2B5EF4-FFF2-40B4-BE49-F238E27FC236}">
                <a16:creationId xmlns:a16="http://schemas.microsoft.com/office/drawing/2014/main" id="{4AA768AF-DEBC-4831-92BB-D9D0B54C612E}"/>
              </a:ext>
            </a:extLst>
          </p:cNvPr>
          <p:cNvSpPr>
            <a:spLocks xmlns:a="http://schemas.openxmlformats.org/drawingml/2006/main" noGrp="1"/>
          </p:cNvSpPr>
          <p:nvPr/>
        </p:nvSpPr>
        <p:spPr>
          <a:xfrm xmlns:a="http://schemas.openxmlformats.org/drawingml/2006/main">
            <a:off x="714375" y="2552700"/>
            <a:ext cx="10715625"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32E"/>
                </a:solidFill>
                <a:latin typeface="Avenir Next"/>
                <a:ea typeface="Avenir Next"/>
                <a:cs typeface="Avenir Next"/>
              </a:defRPr>
            </a:defPPr>
            <a:lvl1pPr>
              <a:defRPr sz="2100" b="0">
                <a:solidFill>
                  <a:srgbClr val="10232E"/>
                </a:solidFill>
                <a:latin typeface="Avenir Next"/>
                <a:ea typeface="Avenir Next"/>
                <a:cs typeface="Avenir Next"/>
              </a:defRPr>
            </a:lvl1pPr>
            <a:lvl2pPr>
              <a:defRPr sz="2100" b="0">
                <a:solidFill>
                  <a:srgbClr val="10232E"/>
                </a:solidFill>
                <a:latin typeface="Avenir Next"/>
                <a:ea typeface="Avenir Next"/>
                <a:cs typeface="Avenir Next"/>
              </a:defRPr>
            </a:lvl2pPr>
            <a:lvl3pPr>
              <a:defRPr sz="2100" b="0">
                <a:solidFill>
                  <a:srgbClr val="10232E"/>
                </a:solidFill>
                <a:latin typeface="Avenir Next"/>
                <a:ea typeface="Avenir Next"/>
                <a:cs typeface="Avenir Next"/>
              </a:defRPr>
            </a:lvl3pPr>
            <a:lvl4pPr>
              <a:defRPr sz="2100" b="0">
                <a:solidFill>
                  <a:srgbClr val="10232E"/>
                </a:solidFill>
                <a:latin typeface="Avenir Next"/>
                <a:ea typeface="Avenir Next"/>
                <a:cs typeface="Avenir Next"/>
              </a:defRPr>
            </a:lvl4pPr>
            <a:lvl5pPr>
              <a:defRPr sz="2100" b="0">
                <a:solidFill>
                  <a:srgbClr val="10232E"/>
                </a:solidFill>
                <a:latin typeface="Avenir Next"/>
                <a:ea typeface="Avenir Next"/>
                <a:cs typeface="Avenir Next"/>
              </a:defRPr>
            </a:lvl5pPr>
            <a:lvl6pPr>
              <a:defRPr sz="2100" b="0">
                <a:solidFill>
                  <a:srgbClr val="10232E"/>
                </a:solidFill>
                <a:latin typeface="Avenir Next"/>
                <a:ea typeface="Avenir Next"/>
                <a:cs typeface="Avenir Next"/>
              </a:defRPr>
            </a:lvl6pPr>
            <a:lvl7pPr>
              <a:defRPr sz="2100" b="0">
                <a:solidFill>
                  <a:srgbClr val="10232E"/>
                </a:solidFill>
                <a:latin typeface="Avenir Next"/>
                <a:ea typeface="Avenir Next"/>
                <a:cs typeface="Avenir Next"/>
              </a:defRPr>
            </a:lvl7pPr>
            <a:lvl8pPr>
              <a:defRPr sz="2100" b="0">
                <a:solidFill>
                  <a:srgbClr val="10232E"/>
                </a:solidFill>
                <a:latin typeface="Avenir Next"/>
                <a:ea typeface="Avenir Next"/>
                <a:cs typeface="Avenir Next"/>
              </a:defRPr>
            </a:lvl8pPr>
            <a:lvl9pPr>
              <a:defRPr sz="2100"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Swaps: V2 / token-funded V3 paths, limits, recipients and deadlines</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Vaults / lending: shares, previews, collateral, debt and health factor</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Liquidity / staking: selected parameters, positions and candidate pools</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Claims / wrapping / mint-burn: amounts, recipients and generic simulation</a:t>
            </a:r>
          </a:p>
        </p:txBody>
      </p:sp>
      <p:sp>
        <p:nvSpPr>
          <p:cNvPr id="5" name="footer">
            <a:extLst xmlns:a="http://schemas.openxmlformats.org/drawingml/2006/main">
              <a:ext uri="{FF2B5EF4-FFF2-40B4-BE49-F238E27FC236}">
                <a16:creationId xmlns:a16="http://schemas.microsoft.com/office/drawing/2014/main" id="{3D667A40-D3ED-495C-A377-6897329A9C75}"/>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12 / 30</a:t>
            </a:r>
          </a:p>
        </p:txBody>
      </p:sp>
    </p:spTree>
    <p:extLst>
      <p:ext uri="{BB962C8B-B14F-4D97-AF65-F5344CB8AC3E}">
        <p14:creationId xmlns:p14="http://schemas.microsoft.com/office/powerpoint/2010/main" val="1279003101"/>
      </p:ext>
    </p:extLst>
  </p:cSld>
</p:sld>
</file>

<file path=ppt/slides/slide13.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875750E-51D3-4134-8717-66D8067AB3E3}"/>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Advanced operations: control, batches and bridging</a:t>
            </a:r>
          </a:p>
        </p:txBody>
      </p:sp>
      <p:sp>
        <p:nvSpPr>
          <p:cNvPr id="3" name="summary">
            <a:extLst xmlns:a="http://schemas.openxmlformats.org/drawingml/2006/main">
              <a:ext uri="{FF2B5EF4-FFF2-40B4-BE49-F238E27FC236}">
                <a16:creationId xmlns:a16="http://schemas.microsoft.com/office/drawing/2014/main" id="{B9A0B86B-E236-4747-83CD-80A68EFEE70C}"/>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Preserve explainable facts and expose unverified semantics</a:t>
            </a:r>
          </a:p>
        </p:txBody>
      </p:sp>
      <p:sp>
        <p:nvSpPr>
          <p:cNvPr id="4" name="body">
            <a:extLst xmlns:a="http://schemas.openxmlformats.org/drawingml/2006/main">
              <a:ext uri="{FF2B5EF4-FFF2-40B4-BE49-F238E27FC236}">
                <a16:creationId xmlns:a16="http://schemas.microsoft.com/office/drawing/2014/main" id="{147B4CA4-5B5F-4F33-A854-75C70EFF29A2}"/>
              </a:ext>
            </a:extLst>
          </p:cNvPr>
          <p:cNvSpPr>
            <a:spLocks xmlns:a="http://schemas.openxmlformats.org/drawingml/2006/main" noGrp="1"/>
          </p:cNvSpPr>
          <p:nvPr/>
        </p:nvSpPr>
        <p:spPr>
          <a:xfrm xmlns:a="http://schemas.openxmlformats.org/drawingml/2006/main">
            <a:off x="714375" y="2552700"/>
            <a:ext cx="10715625"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32E"/>
                </a:solidFill>
                <a:latin typeface="Avenir Next"/>
                <a:ea typeface="Avenir Next"/>
                <a:cs typeface="Avenir Next"/>
              </a:defRPr>
            </a:defPPr>
            <a:lvl1pPr>
              <a:defRPr sz="2100" b="0">
                <a:solidFill>
                  <a:srgbClr val="10232E"/>
                </a:solidFill>
                <a:latin typeface="Avenir Next"/>
                <a:ea typeface="Avenir Next"/>
                <a:cs typeface="Avenir Next"/>
              </a:defRPr>
            </a:lvl1pPr>
            <a:lvl2pPr>
              <a:defRPr sz="2100" b="0">
                <a:solidFill>
                  <a:srgbClr val="10232E"/>
                </a:solidFill>
                <a:latin typeface="Avenir Next"/>
                <a:ea typeface="Avenir Next"/>
                <a:cs typeface="Avenir Next"/>
              </a:defRPr>
            </a:lvl2pPr>
            <a:lvl3pPr>
              <a:defRPr sz="2100" b="0">
                <a:solidFill>
                  <a:srgbClr val="10232E"/>
                </a:solidFill>
                <a:latin typeface="Avenir Next"/>
                <a:ea typeface="Avenir Next"/>
                <a:cs typeface="Avenir Next"/>
              </a:defRPr>
            </a:lvl3pPr>
            <a:lvl4pPr>
              <a:defRPr sz="2100" b="0">
                <a:solidFill>
                  <a:srgbClr val="10232E"/>
                </a:solidFill>
                <a:latin typeface="Avenir Next"/>
                <a:ea typeface="Avenir Next"/>
                <a:cs typeface="Avenir Next"/>
              </a:defRPr>
            </a:lvl4pPr>
            <a:lvl5pPr>
              <a:defRPr sz="2100" b="0">
                <a:solidFill>
                  <a:srgbClr val="10232E"/>
                </a:solidFill>
                <a:latin typeface="Avenir Next"/>
                <a:ea typeface="Avenir Next"/>
                <a:cs typeface="Avenir Next"/>
              </a:defRPr>
            </a:lvl5pPr>
            <a:lvl6pPr>
              <a:defRPr sz="2100" b="0">
                <a:solidFill>
                  <a:srgbClr val="10232E"/>
                </a:solidFill>
                <a:latin typeface="Avenir Next"/>
                <a:ea typeface="Avenir Next"/>
                <a:cs typeface="Avenir Next"/>
              </a:defRPr>
            </a:lvl6pPr>
            <a:lvl7pPr>
              <a:defRPr sz="2100" b="0">
                <a:solidFill>
                  <a:srgbClr val="10232E"/>
                </a:solidFill>
                <a:latin typeface="Avenir Next"/>
                <a:ea typeface="Avenir Next"/>
                <a:cs typeface="Avenir Next"/>
              </a:defRPr>
            </a:lvl7pPr>
            <a:lvl8pPr>
              <a:defRPr sz="2100" b="0">
                <a:solidFill>
                  <a:srgbClr val="10232E"/>
                </a:solidFill>
                <a:latin typeface="Avenir Next"/>
                <a:ea typeface="Avenir Next"/>
                <a:cs typeface="Avenir Next"/>
              </a:defRPr>
            </a:lvl8pPr>
            <a:lvl9pPr>
              <a:defRPr sz="2100"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Control: owner/role/upgrade and selected Safe-style control fields</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Delegation: EIP-7702 recovery, chain/nonce and conditional state</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Batches: bounded targets/values/selectors and CALL/delegatecall</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Bridging: selected source-chain fields and generic fork observations</a:t>
            </a:r>
          </a:p>
        </p:txBody>
      </p:sp>
      <p:sp>
        <p:nvSpPr>
          <p:cNvPr id="5" name="footer">
            <a:extLst xmlns:a="http://schemas.openxmlformats.org/drawingml/2006/main">
              <a:ext uri="{FF2B5EF4-FFF2-40B4-BE49-F238E27FC236}">
                <a16:creationId xmlns:a16="http://schemas.microsoft.com/office/drawing/2014/main" id="{92513CEE-E9C0-4C3B-BD61-C849C0FFBE44}"/>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13 / 30</a:t>
            </a:r>
          </a:p>
        </p:txBody>
      </p:sp>
    </p:spTree>
    <p:extLst>
      <p:ext uri="{BB962C8B-B14F-4D97-AF65-F5344CB8AC3E}">
        <p14:creationId xmlns:p14="http://schemas.microsoft.com/office/powerpoint/2010/main" val="949301209"/>
      </p:ext>
    </p:extLst>
  </p:cSld>
</p:sld>
</file>

<file path=ppt/slides/slide14.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856E44B-6C76-4431-A07B-B8AA0EF16660}"/>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How the backend turns a request into evidence</a:t>
            </a:r>
          </a:p>
        </p:txBody>
      </p:sp>
      <p:sp>
        <p:nvSpPr>
          <p:cNvPr id="3" name="summary">
            <a:extLst xmlns:a="http://schemas.openxmlformats.org/drawingml/2006/main">
              <a:ext uri="{FF2B5EF4-FFF2-40B4-BE49-F238E27FC236}">
                <a16:creationId xmlns:a16="http://schemas.microsoft.com/office/drawing/2014/main" id="{67EA5908-67D0-4532-B45A-45D952EAC9A8}"/>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Keep the collection plan distinct from successful observations</a:t>
            </a:r>
          </a:p>
        </p:txBody>
      </p:sp>
      <p:sp>
        <p:nvSpPr>
          <p:cNvPr id="4" name="step-number-0">
            <a:extLst xmlns:a="http://schemas.openxmlformats.org/drawingml/2006/main">
              <a:ext uri="{FF2B5EF4-FFF2-40B4-BE49-F238E27FC236}">
                <a16:creationId xmlns:a16="http://schemas.microsoft.com/office/drawing/2014/main" id="{C3BB6652-D324-48C9-8844-CC04E9A6D714}"/>
              </a:ext>
            </a:extLst>
          </p:cNvPr>
          <p:cNvSpPr>
            <a:spLocks xmlns:a="http://schemas.openxmlformats.org/drawingml/2006/main" noGrp="1"/>
          </p:cNvSpPr>
          <p:nvPr/>
        </p:nvSpPr>
        <p:spPr>
          <a:xfrm xmlns:a="http://schemas.openxmlformats.org/drawingml/2006/main">
            <a:off x="685800" y="255270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01</a:t>
            </a:r>
          </a:p>
        </p:txBody>
      </p:sp>
      <p:sp>
        <p:nvSpPr>
          <p:cNvPr id="5" name="step-content-0">
            <a:extLst xmlns:a="http://schemas.openxmlformats.org/drawingml/2006/main">
              <a:ext uri="{FF2B5EF4-FFF2-40B4-BE49-F238E27FC236}">
                <a16:creationId xmlns:a16="http://schemas.microsoft.com/office/drawing/2014/main" id="{B177DC8C-AAE6-456B-8691-F6F749CC6ABE}"/>
              </a:ext>
            </a:extLst>
          </p:cNvPr>
          <p:cNvSpPr>
            <a:spLocks xmlns:a="http://schemas.openxmlformats.org/drawingml/2006/main" noGrp="1"/>
          </p:cNvSpPr>
          <p:nvPr/>
        </p:nvSpPr>
        <p:spPr>
          <a:xfrm xmlns:a="http://schemas.openxmlformats.org/drawingml/2006/main">
            <a:off x="1619250" y="2562225"/>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Validate input; reject client-supplied scores or reputation conclusions</a:t>
            </a:r>
          </a:p>
        </p:txBody>
      </p:sp>
      <p:sp>
        <p:nvSpPr>
          <p:cNvPr id="6" name="step-number-1">
            <a:extLst xmlns:a="http://schemas.openxmlformats.org/drawingml/2006/main">
              <a:ext uri="{FF2B5EF4-FFF2-40B4-BE49-F238E27FC236}">
                <a16:creationId xmlns:a16="http://schemas.microsoft.com/office/drawing/2014/main" id="{3E22608F-A960-4C7F-B929-CDB1E4CC8C5C}"/>
              </a:ext>
            </a:extLst>
          </p:cNvPr>
          <p:cNvSpPr>
            <a:spLocks xmlns:a="http://schemas.openxmlformats.org/drawingml/2006/main" noGrp="1"/>
          </p:cNvSpPr>
          <p:nvPr/>
        </p:nvSpPr>
        <p:spPr>
          <a:xfrm xmlns:a="http://schemas.openxmlformats.org/drawingml/2006/main">
            <a:off x="685800" y="341947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02</a:t>
            </a:r>
          </a:p>
        </p:txBody>
      </p:sp>
      <p:sp>
        <p:nvSpPr>
          <p:cNvPr id="7" name="step-content-1">
            <a:extLst xmlns:a="http://schemas.openxmlformats.org/drawingml/2006/main">
              <a:ext uri="{FF2B5EF4-FFF2-40B4-BE49-F238E27FC236}">
                <a16:creationId xmlns:a16="http://schemas.microsoft.com/office/drawing/2014/main" id="{FF564965-6A4C-4EC5-A9AA-803264B0CBC6}"/>
              </a:ext>
            </a:extLst>
          </p:cNvPr>
          <p:cNvSpPr>
            <a:spLocks xmlns:a="http://schemas.openxmlformats.org/drawingml/2006/main" noGrp="1"/>
          </p:cNvSpPr>
          <p:nvPr/>
        </p:nvSpPr>
        <p:spPr>
          <a:xfrm xmlns:a="http://schemas.openxmlformats.org/drawingml/2006/main">
            <a:off x="1619250" y="342900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Decode ABI / type graphs into a candidate operation</a:t>
            </a:r>
          </a:p>
        </p:txBody>
      </p:sp>
      <p:sp>
        <p:nvSpPr>
          <p:cNvPr id="8" name="step-number-2">
            <a:extLst xmlns:a="http://schemas.openxmlformats.org/drawingml/2006/main">
              <a:ext uri="{FF2B5EF4-FFF2-40B4-BE49-F238E27FC236}">
                <a16:creationId xmlns:a16="http://schemas.microsoft.com/office/drawing/2014/main" id="{531A93BD-2E55-44EF-9A62-E213C3C0C388}"/>
              </a:ext>
            </a:extLst>
          </p:cNvPr>
          <p:cNvSpPr>
            <a:spLocks xmlns:a="http://schemas.openxmlformats.org/drawingml/2006/main" noGrp="1"/>
          </p:cNvSpPr>
          <p:nvPr/>
        </p:nvSpPr>
        <p:spPr>
          <a:xfrm xmlns:a="http://schemas.openxmlformats.org/drawingml/2006/main">
            <a:off x="685800" y="428625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03</a:t>
            </a:r>
          </a:p>
        </p:txBody>
      </p:sp>
      <p:sp>
        <p:nvSpPr>
          <p:cNvPr id="9" name="step-content-2">
            <a:extLst xmlns:a="http://schemas.openxmlformats.org/drawingml/2006/main">
              <a:ext uri="{FF2B5EF4-FFF2-40B4-BE49-F238E27FC236}">
                <a16:creationId xmlns:a16="http://schemas.microsoft.com/office/drawing/2014/main" id="{C909EE69-CCEF-4CB8-8D3D-C75BB85A08B4}"/>
              </a:ext>
            </a:extLst>
          </p:cNvPr>
          <p:cNvSpPr>
            <a:spLocks xmlns:a="http://schemas.openxmlformats.org/drawingml/2006/main" noGrp="1"/>
          </p:cNvSpPr>
          <p:nvPr/>
        </p:nvSpPr>
        <p:spPr>
          <a:xfrm xmlns:a="http://schemas.openxmlformats.org/drawingml/2006/main">
            <a:off x="1619250" y="4295775"/>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Select independent RPC, intelligence and simulation collectors</a:t>
            </a:r>
          </a:p>
        </p:txBody>
      </p:sp>
      <p:sp>
        <p:nvSpPr>
          <p:cNvPr id="10" name="step-number-3">
            <a:extLst xmlns:a="http://schemas.openxmlformats.org/drawingml/2006/main">
              <a:ext uri="{FF2B5EF4-FFF2-40B4-BE49-F238E27FC236}">
                <a16:creationId xmlns:a16="http://schemas.microsoft.com/office/drawing/2014/main" id="{561AC2AD-FCF3-426D-A14C-021FA9A93139}"/>
              </a:ext>
            </a:extLst>
          </p:cNvPr>
          <p:cNvSpPr>
            <a:spLocks xmlns:a="http://schemas.openxmlformats.org/drawingml/2006/main" noGrp="1"/>
          </p:cNvSpPr>
          <p:nvPr/>
        </p:nvSpPr>
        <p:spPr>
          <a:xfrm xmlns:a="http://schemas.openxmlformats.org/drawingml/2006/main">
            <a:off x="685800" y="515302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04</a:t>
            </a:r>
          </a:p>
        </p:txBody>
      </p:sp>
      <p:sp>
        <p:nvSpPr>
          <p:cNvPr id="11" name="step-content-3">
            <a:extLst xmlns:a="http://schemas.openxmlformats.org/drawingml/2006/main">
              <a:ext uri="{FF2B5EF4-FFF2-40B4-BE49-F238E27FC236}">
                <a16:creationId xmlns:a16="http://schemas.microsoft.com/office/drawing/2014/main" id="{9BB4FAB0-8BA2-4776-8147-69FF8BC2804A}"/>
              </a:ext>
            </a:extLst>
          </p:cNvPr>
          <p:cNvSpPr>
            <a:spLocks xmlns:a="http://schemas.openxmlformats.org/drawingml/2006/main" noGrp="1"/>
          </p:cNvSpPr>
          <p:nvPr/>
        </p:nvSpPr>
        <p:spPr>
          <a:xfrm xmlns:a="http://schemas.openxmlformats.org/drawingml/2006/main">
            <a:off x="1619250" y="516255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Assemble facts, qualitative signals, provenance and unresolved checks</a:t>
            </a:r>
          </a:p>
        </p:txBody>
      </p:sp>
      <p:sp>
        <p:nvSpPr>
          <p:cNvPr id="12" name="footer">
            <a:extLst xmlns:a="http://schemas.openxmlformats.org/drawingml/2006/main">
              <a:ext uri="{FF2B5EF4-FFF2-40B4-BE49-F238E27FC236}">
                <a16:creationId xmlns:a16="http://schemas.microsoft.com/office/drawing/2014/main" id="{E373C908-6F46-4EC8-BD6B-123E415CE83B}"/>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14 / 30</a:t>
            </a:r>
          </a:p>
        </p:txBody>
      </p:sp>
    </p:spTree>
    <p:extLst>
      <p:ext uri="{BB962C8B-B14F-4D97-AF65-F5344CB8AC3E}">
        <p14:creationId xmlns:p14="http://schemas.microsoft.com/office/powerpoint/2010/main" val="1632660011"/>
      </p:ext>
    </p:extLst>
  </p:cSld>
</p:sld>
</file>

<file path=ppt/slides/slide15.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3A2FFF4-2C2B-4EDA-811A-B01C7413F7DF}"/>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What the AI receives: structured evidence</a:t>
            </a:r>
          </a:p>
        </p:txBody>
      </p:sp>
      <p:sp>
        <p:nvSpPr>
          <p:cNvPr id="3" name="summary">
            <a:extLst xmlns:a="http://schemas.openxmlformats.org/drawingml/2006/main">
              <a:ext uri="{FF2B5EF4-FFF2-40B4-BE49-F238E27FC236}">
                <a16:creationId xmlns:a16="http://schemas.microsoft.com/office/drawing/2014/main" id="{55B1DEE4-6F86-4316-81F8-EB797FF76CC0}"/>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Fields come from encoded intent and actual observations</a:t>
            </a:r>
          </a:p>
        </p:txBody>
      </p:sp>
      <p:graphicFrame>
        <p:nvGraphicFramePr>
          <p:cNvPr id="4" name="">
            <a:extLst xmlns:a="http://schemas.openxmlformats.org/drawingml/2006/main">
              <a:ext uri="{FF2B5EF4-FFF2-40B4-BE49-F238E27FC236}">
                <a16:creationId xmlns:a16="http://schemas.microsoft.com/office/drawing/2014/main" id="{6EF3E73F-4E08-4D71-BA66-2A405742C157}"/>
              </a:ext>
            </a:extLst>
          </p:cNvPr>
          <p:cNvGraphicFramePr/>
          <p:nvPr/>
        </p:nvGraphicFramePr>
        <p:xfrm>
          <a:off xmlns:a="http://schemas.openxmlformats.org/drawingml/2006/main" x="647700" y="2552700"/>
          <a:ext xmlns:a="http://schemas.openxmlformats.org/drawingml/2006/main" cx="10858500" cy="3409950"/>
        </p:xfrm>
        <a:graphic xmlns:a="http://schemas.openxmlformats.org/drawingml/2006/main">
          <a:graphicData uri="http://schemas.openxmlformats.org/drawingml/2006/table">
            <a:tbl>
              <a:tblPr/>
              <a:tblGrid>
                <a:gridCol w="2809875"/>
                <a:gridCol w="8048625"/>
              </a:tblGrid>
              <a:tr h="495300">
                <a:tc>
                  <a:txBody>
                    <a:bodyPr wrap="square" lIns="142875" tIns="95250" rIns="142875" bIns="95250">
                      <a:noAutofit/>
                    </a:bodyPr>
                    <a:lstStyle/>
                    <a:p>
                      <a:r>
                        <a:rPr sz="1650" b="1">
                          <a:solidFill>
                            <a:srgbClr val="FFFFFF"/>
                          </a:solidFill>
                          <a:latin typeface="Avenir Next"/>
                          <a:ea typeface="Avenir Next"/>
                          <a:cs typeface="Avenir Next"/>
                        </a:rPr>
                        <a:t>Component / field</a:t>
                      </a:r>
                    </a:p>
                  </a:txBody>
                  <a:tcPr marL="91440" marR="91440" marT="45720" marB="45720" anchor="ctr">
                    <a:lnL w="6668">
                      <a:solidFill>
                        <a:srgbClr val="D9E4E8"/>
                      </a:solidFill>
                      <a:prstDash val="solid"/>
                    </a:lnL>
                    <a:lnR w="6668">
                      <a:solidFill>
                        <a:srgbClr val="D9E4E8"/>
                      </a:solidFill>
                      <a:prstDash val="solid"/>
                    </a:lnR>
                    <a:lnT w="6668">
                      <a:solidFill>
                        <a:srgbClr val="D9E4E8"/>
                      </a:solidFill>
                      <a:prstDash val="solid"/>
                    </a:lnT>
                    <a:lnB w="6668">
                      <a:solidFill>
                        <a:srgbClr val="D9E4E8"/>
                      </a:solidFill>
                      <a:prstDash val="solid"/>
                    </a:lnB>
                    <a:solidFill>
                      <a:srgbClr val="10232E"/>
                    </a:solidFill>
                  </a:tcPr>
                </a:tc>
                <a:tc>
                  <a:txBody>
                    <a:bodyPr wrap="square" lIns="142875" tIns="95250" rIns="142875" bIns="95250">
                      <a:noAutofit/>
                    </a:bodyPr>
                    <a:lstStyle/>
                    <a:p>
                      <a:r>
                        <a:rPr sz="1650" b="1">
                          <a:solidFill>
                            <a:srgbClr val="FFFFFF"/>
                          </a:solidFill>
                          <a:latin typeface="Avenir Next"/>
                          <a:ea typeface="Avenir Next"/>
                          <a:cs typeface="Avenir Next"/>
                        </a:rPr>
                        <a:t>Implementation and purpose</a:t>
                      </a:r>
                    </a:p>
                  </a:txBody>
                  <a:tcPr marL="91440" marR="91440" marT="45720" marB="45720" anchor="ctr">
                    <a:lnR w="6668">
                      <a:solidFill>
                        <a:srgbClr val="D9E4E8"/>
                      </a:solidFill>
                      <a:prstDash val="solid"/>
                    </a:lnR>
                    <a:lnT w="6668">
                      <a:solidFill>
                        <a:srgbClr val="D9E4E8"/>
                      </a:solidFill>
                      <a:prstDash val="solid"/>
                    </a:lnT>
                    <a:lnB w="6668">
                      <a:solidFill>
                        <a:srgbClr val="D9E4E8"/>
                      </a:solidFill>
                      <a:prstDash val="solid"/>
                    </a:lnB>
                    <a:solidFill>
                      <a:srgbClr val="10232E"/>
                    </a:solidFill>
                  </a:tcPr>
                </a:tc>
              </a:tr>
              <a:tr h="728663">
                <a:tc>
                  <a:txBody>
                    <a:bodyPr wrap="square" lIns="142875" tIns="95250" rIns="142875" bIns="95250">
                      <a:noAutofit/>
                    </a:bodyPr>
                    <a:lstStyle/>
                    <a:p>
                      <a:r>
                        <a:rPr sz="1725" b="0">
                          <a:solidFill>
                            <a:srgbClr val="10232E"/>
                          </a:solidFill>
                          <a:latin typeface="Avenir Next"/>
                          <a:ea typeface="Avenir Next"/>
                          <a:cs typeface="Avenir Next"/>
                        </a:rPr>
                        <a:t>Common</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FFFFF"/>
                    </a:solidFill>
                  </a:tcPr>
                </a:tc>
                <a:tc>
                  <a:txBody>
                    <a:bodyPr wrap="square" lIns="142875" tIns="95250" rIns="142875" bIns="95250">
                      <a:noAutofit/>
                    </a:bodyPr>
                    <a:lstStyle/>
                    <a:p>
                      <a:r>
                        <a:rPr sz="1725" b="0">
                          <a:solidFill>
                            <a:srgbClr val="10232E"/>
                          </a:solidFill>
                          <a:latin typeface="Avenir Next"/>
                          <a:ea typeface="Avenir Next"/>
                          <a:cs typeface="Avenir Next"/>
                        </a:rPr>
                        <a:t>kind, chain, origin, from/to, value, fees and nonce</a:t>
                      </a:r>
                    </a:p>
                  </a:txBody>
                  <a:tcPr marL="91440" marR="91440" marT="45720" marB="45720" anchor="ctr">
                    <a:lnR w="6668">
                      <a:solidFill>
                        <a:srgbClr val="D9E4E8"/>
                      </a:solidFill>
                      <a:prstDash val="solid"/>
                    </a:lnR>
                    <a:lnB w="6668">
                      <a:solidFill>
                        <a:srgbClr val="D9E4E8"/>
                      </a:solidFill>
                      <a:prstDash val="solid"/>
                    </a:lnB>
                    <a:solidFill>
                      <a:srgbClr val="FFFFFF"/>
                    </a:solidFill>
                  </a:tcPr>
                </a:tc>
              </a:tr>
              <a:tr h="728663">
                <a:tc>
                  <a:txBody>
                    <a:bodyPr wrap="square" lIns="142875" tIns="95250" rIns="142875" bIns="95250">
                      <a:noAutofit/>
                    </a:bodyPr>
                    <a:lstStyle/>
                    <a:p>
                      <a:r>
                        <a:rPr sz="1725" b="0">
                          <a:solidFill>
                            <a:srgbClr val="10232E"/>
                          </a:solidFill>
                          <a:latin typeface="Avenir Next"/>
                          <a:ea typeface="Avenir Next"/>
                          <a:cs typeface="Avenir Next"/>
                        </a:rPr>
                        <a:t>Approval</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7FAFA"/>
                    </a:solidFill>
                  </a:tcPr>
                </a:tc>
                <a:tc>
                  <a:txBody>
                    <a:bodyPr wrap="square" lIns="142875" tIns="95250" rIns="142875" bIns="95250">
                      <a:noAutofit/>
                    </a:bodyPr>
                    <a:lstStyle/>
                    <a:p>
                      <a:r>
                        <a:rPr sz="1725" b="0">
                          <a:solidFill>
                            <a:srgbClr val="10232E"/>
                          </a:solidFill>
                          <a:latin typeface="Avenir Next"/>
                          <a:ea typeface="Avenir Next"/>
                          <a:cs typeface="Avenir Next"/>
                        </a:rPr>
                        <a:t>asset, spender/operator, cap, expiry and current permissions</a:t>
                      </a:r>
                    </a:p>
                  </a:txBody>
                  <a:tcPr marL="91440" marR="91440" marT="45720" marB="45720" anchor="ctr">
                    <a:lnR w="6668">
                      <a:solidFill>
                        <a:srgbClr val="D9E4E8"/>
                      </a:solidFill>
                      <a:prstDash val="solid"/>
                    </a:lnR>
                    <a:lnB w="6668">
                      <a:solidFill>
                        <a:srgbClr val="D9E4E8"/>
                      </a:solidFill>
                      <a:prstDash val="solid"/>
                    </a:lnB>
                    <a:solidFill>
                      <a:srgbClr val="F7FAFA"/>
                    </a:solidFill>
                  </a:tcPr>
                </a:tc>
              </a:tr>
              <a:tr h="728663">
                <a:tc>
                  <a:txBody>
                    <a:bodyPr wrap="square" lIns="142875" tIns="95250" rIns="142875" bIns="95250">
                      <a:noAutofit/>
                    </a:bodyPr>
                    <a:lstStyle/>
                    <a:p>
                      <a:r>
                        <a:rPr sz="1725" b="0">
                          <a:solidFill>
                            <a:srgbClr val="10232E"/>
                          </a:solidFill>
                          <a:latin typeface="Avenir Next"/>
                          <a:ea typeface="Avenir Next"/>
                          <a:cs typeface="Avenir Next"/>
                        </a:rPr>
                        <a:t>Swap</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FFFFF"/>
                    </a:solidFill>
                  </a:tcPr>
                </a:tc>
                <a:tc>
                  <a:txBody>
                    <a:bodyPr wrap="square" lIns="142875" tIns="95250" rIns="142875" bIns="95250">
                      <a:noAutofit/>
                    </a:bodyPr>
                    <a:lstStyle/>
                    <a:p>
                      <a:r>
                        <a:rPr sz="1725" b="0">
                          <a:solidFill>
                            <a:srgbClr val="10232E"/>
                          </a:solidFill>
                          <a:latin typeface="Avenir Next"/>
                          <a:ea typeface="Avenir Next"/>
                          <a:cs typeface="Avenir Next"/>
                        </a:rPr>
                        <a:t>path, fees, limits, recipient, deadline and simulated changes</a:t>
                      </a:r>
                    </a:p>
                  </a:txBody>
                  <a:tcPr marL="91440" marR="91440" marT="45720" marB="45720" anchor="ctr">
                    <a:lnR w="6668">
                      <a:solidFill>
                        <a:srgbClr val="D9E4E8"/>
                      </a:solidFill>
                      <a:prstDash val="solid"/>
                    </a:lnR>
                    <a:lnB w="6668">
                      <a:solidFill>
                        <a:srgbClr val="D9E4E8"/>
                      </a:solidFill>
                      <a:prstDash val="solid"/>
                    </a:lnB>
                    <a:solidFill>
                      <a:srgbClr val="FFFFFF"/>
                    </a:solidFill>
                  </a:tcPr>
                </a:tc>
              </a:tr>
              <a:tr h="728663">
                <a:tc>
                  <a:txBody>
                    <a:bodyPr wrap="square" lIns="142875" tIns="95250" rIns="142875" bIns="95250">
                      <a:noAutofit/>
                    </a:bodyPr>
                    <a:lstStyle/>
                    <a:p>
                      <a:r>
                        <a:rPr sz="1725" b="0">
                          <a:solidFill>
                            <a:srgbClr val="10232E"/>
                          </a:solidFill>
                          <a:latin typeface="Avenir Next"/>
                          <a:ea typeface="Avenir Next"/>
                          <a:cs typeface="Avenir Next"/>
                        </a:rPr>
                        <a:t>Signature</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7FAFA"/>
                    </a:solidFill>
                  </a:tcPr>
                </a:tc>
                <a:tc>
                  <a:txBody>
                    <a:bodyPr wrap="square" lIns="142875" tIns="95250" rIns="142875" bIns="95250">
                      <a:noAutofit/>
                    </a:bodyPr>
                    <a:lstStyle/>
                    <a:p>
                      <a:r>
                        <a:rPr sz="1725" b="0">
                          <a:solidFill>
                            <a:srgbClr val="10232E"/>
                          </a:solidFill>
                          <a:latin typeface="Avenir Next"/>
                          <a:ea typeface="Avenir Next"/>
                          <a:cs typeface="Avenir Next"/>
                        </a:rPr>
                        <a:t>type/domain, commitments, digest, nonce/deadline checks</a:t>
                      </a:r>
                    </a:p>
                  </a:txBody>
                  <a:tcPr marL="91440" marR="91440" marT="45720" marB="45720" anchor="ctr">
                    <a:lnR w="6668">
                      <a:solidFill>
                        <a:srgbClr val="D9E4E8"/>
                      </a:solidFill>
                      <a:prstDash val="solid"/>
                    </a:lnR>
                    <a:lnB w="6668">
                      <a:solidFill>
                        <a:srgbClr val="D9E4E8"/>
                      </a:solidFill>
                      <a:prstDash val="solid"/>
                    </a:lnB>
                    <a:solidFill>
                      <a:srgbClr val="F7FAFA"/>
                    </a:solidFill>
                  </a:tcPr>
                </a:tc>
              </a:tr>
            </a:tbl>
          </a:graphicData>
        </a:graphic>
      </p:graphicFrame>
      <p:sp>
        <p:nvSpPr>
          <p:cNvPr id="5" name="footer">
            <a:extLst xmlns:a="http://schemas.openxmlformats.org/drawingml/2006/main">
              <a:ext uri="{FF2B5EF4-FFF2-40B4-BE49-F238E27FC236}">
                <a16:creationId xmlns:a16="http://schemas.microsoft.com/office/drawing/2014/main" id="{977FA283-E4CA-4C8F-943E-5DE5C2E43FC0}"/>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15 / 30</a:t>
            </a:r>
          </a:p>
        </p:txBody>
      </p:sp>
    </p:spTree>
    <p:extLst>
      <p:ext uri="{BB962C8B-B14F-4D97-AF65-F5344CB8AC3E}">
        <p14:creationId xmlns:p14="http://schemas.microsoft.com/office/powerpoint/2010/main" val="1125909045"/>
      </p:ext>
    </p:extLst>
  </p:cSld>
</p:sld>
</file>

<file path=ppt/slides/slide16.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D7F2227-C3C3-49F4-8C3D-BF8F70BC0298}"/>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RPC and Infura: access to chain state</a:t>
            </a:r>
          </a:p>
        </p:txBody>
      </p:sp>
      <p:sp>
        <p:nvSpPr>
          <p:cNvPr id="3" name="summary">
            <a:extLst xmlns:a="http://schemas.openxmlformats.org/drawingml/2006/main">
              <a:ext uri="{FF2B5EF4-FFF2-40B4-BE49-F238E27FC236}">
                <a16:creationId xmlns:a16="http://schemas.microsoft.com/office/drawing/2014/main" id="{A5A4039D-0165-4DE8-A355-B25364B8FF6B}"/>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Wallet connection and blockchain reads are different jobs</a:t>
            </a:r>
          </a:p>
        </p:txBody>
      </p:sp>
      <p:sp>
        <p:nvSpPr>
          <p:cNvPr id="4" name="compare-left">
            <a:extLst xmlns:a="http://schemas.openxmlformats.org/drawingml/2006/main">
              <a:ext uri="{FF2B5EF4-FFF2-40B4-BE49-F238E27FC236}">
                <a16:creationId xmlns:a16="http://schemas.microsoft.com/office/drawing/2014/main" id="{25FF0DB4-F01A-41B0-8DA8-0F3B6EA974F8}"/>
              </a:ext>
            </a:extLst>
          </p:cNvPr>
          <p:cNvSpPr>
            <a:spLocks xmlns:a="http://schemas.openxmlformats.org/drawingml/2006/main" noGrp="1"/>
          </p:cNvSpPr>
          <p:nvPr/>
        </p:nvSpPr>
        <p:spPr>
          <a:xfrm xmlns:a="http://schemas.openxmlformats.org/drawingml/2006/main">
            <a:off x="647700" y="2552700"/>
            <a:ext cx="5143500"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The wallet provider connects accounts and handles user consent</a:t>
            </a:r>
          </a:p>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RPC supplies chain ID, blocks, balances, code and contract reads</a:t>
            </a:r>
          </a:p>
        </p:txBody>
      </p:sp>
      <p:sp>
        <p:nvSpPr>
          <p:cNvPr id="5" name="compare-right">
            <a:extLst xmlns:a="http://schemas.openxmlformats.org/drawingml/2006/main">
              <a:ext uri="{FF2B5EF4-FFF2-40B4-BE49-F238E27FC236}">
                <a16:creationId xmlns:a16="http://schemas.microsoft.com/office/drawing/2014/main" id="{51CC9F7C-3785-42DB-B4B4-3234786BFEA2}"/>
              </a:ext>
            </a:extLst>
          </p:cNvPr>
          <p:cNvSpPr>
            <a:spLocks xmlns:a="http://schemas.openxmlformats.org/drawingml/2006/main" noGrp="1"/>
          </p:cNvSpPr>
          <p:nvPr/>
        </p:nvSpPr>
        <p:spPr>
          <a:xfrm xmlns:a="http://schemas.openxmlformats.org/drawingml/2006/main">
            <a:off x="6429375" y="2552700"/>
            <a:ext cx="5048250"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Infura is one configurable provider of public-network RPC access</a:t>
            </a:r>
          </a:p>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RPC availability does not prove trust, safety or complete history</a:t>
            </a:r>
          </a:p>
        </p:txBody>
      </p:sp>
      <p:sp>
        <p:nvSpPr>
          <p:cNvPr id="6" name="footer">
            <a:extLst xmlns:a="http://schemas.openxmlformats.org/drawingml/2006/main">
              <a:ext uri="{FF2B5EF4-FFF2-40B4-BE49-F238E27FC236}">
                <a16:creationId xmlns:a16="http://schemas.microsoft.com/office/drawing/2014/main" id="{10E60436-CD24-4E65-92CD-E6A114ECC28A}"/>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16 / 30</a:t>
            </a:r>
          </a:p>
        </p:txBody>
      </p:sp>
    </p:spTree>
    <p:extLst>
      <p:ext uri="{BB962C8B-B14F-4D97-AF65-F5344CB8AC3E}">
        <p14:creationId xmlns:p14="http://schemas.microsoft.com/office/powerpoint/2010/main" val="668995083"/>
      </p:ext>
    </p:extLst>
  </p:cSld>
</p:sld>
</file>

<file path=ppt/slides/slide17.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B014737-D6F4-4805-B4E0-3F36B044A28A}"/>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GoPlus and source matching: supplementary evidence</a:t>
            </a:r>
          </a:p>
        </p:txBody>
      </p:sp>
      <p:sp>
        <p:nvSpPr>
          <p:cNvPr id="3" name="summary">
            <a:extLst xmlns:a="http://schemas.openxmlformats.org/drawingml/2006/main">
              <a:ext uri="{FF2B5EF4-FFF2-40B4-BE49-F238E27FC236}">
                <a16:creationId xmlns:a16="http://schemas.microsoft.com/office/drawing/2014/main" id="{AB3A8B74-484A-41CF-9DA2-8C86F4280AD7}"/>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Supplement judgment without replacing authority and execution analysis</a:t>
            </a:r>
          </a:p>
        </p:txBody>
      </p:sp>
      <p:sp>
        <p:nvSpPr>
          <p:cNvPr id="4" name="body">
            <a:extLst xmlns:a="http://schemas.openxmlformats.org/drawingml/2006/main">
              <a:ext uri="{FF2B5EF4-FFF2-40B4-BE49-F238E27FC236}">
                <a16:creationId xmlns:a16="http://schemas.microsoft.com/office/drawing/2014/main" id="{ADAD164F-5C98-490A-87F4-926468D64440}"/>
              </a:ext>
            </a:extLst>
          </p:cNvPr>
          <p:cNvSpPr>
            <a:spLocks xmlns:a="http://schemas.openxmlformats.org/drawingml/2006/main" noGrp="1"/>
          </p:cNvSpPr>
          <p:nvPr/>
        </p:nvSpPr>
        <p:spPr>
          <a:xfrm xmlns:a="http://schemas.openxmlformats.org/drawingml/2006/main">
            <a:off x="714375" y="2552700"/>
            <a:ext cx="10715625"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32E"/>
                </a:solidFill>
                <a:latin typeface="Avenir Next"/>
                <a:ea typeface="Avenir Next"/>
                <a:cs typeface="Avenir Next"/>
              </a:defRPr>
            </a:defPPr>
            <a:lvl1pPr>
              <a:defRPr sz="2100" b="0">
                <a:solidFill>
                  <a:srgbClr val="10232E"/>
                </a:solidFill>
                <a:latin typeface="Avenir Next"/>
                <a:ea typeface="Avenir Next"/>
                <a:cs typeface="Avenir Next"/>
              </a:defRPr>
            </a:lvl1pPr>
            <a:lvl2pPr>
              <a:defRPr sz="2100" b="0">
                <a:solidFill>
                  <a:srgbClr val="10232E"/>
                </a:solidFill>
                <a:latin typeface="Avenir Next"/>
                <a:ea typeface="Avenir Next"/>
                <a:cs typeface="Avenir Next"/>
              </a:defRPr>
            </a:lvl2pPr>
            <a:lvl3pPr>
              <a:defRPr sz="2100" b="0">
                <a:solidFill>
                  <a:srgbClr val="10232E"/>
                </a:solidFill>
                <a:latin typeface="Avenir Next"/>
                <a:ea typeface="Avenir Next"/>
                <a:cs typeface="Avenir Next"/>
              </a:defRPr>
            </a:lvl3pPr>
            <a:lvl4pPr>
              <a:defRPr sz="2100" b="0">
                <a:solidFill>
                  <a:srgbClr val="10232E"/>
                </a:solidFill>
                <a:latin typeface="Avenir Next"/>
                <a:ea typeface="Avenir Next"/>
                <a:cs typeface="Avenir Next"/>
              </a:defRPr>
            </a:lvl4pPr>
            <a:lvl5pPr>
              <a:defRPr sz="2100" b="0">
                <a:solidFill>
                  <a:srgbClr val="10232E"/>
                </a:solidFill>
                <a:latin typeface="Avenir Next"/>
                <a:ea typeface="Avenir Next"/>
                <a:cs typeface="Avenir Next"/>
              </a:defRPr>
            </a:lvl5pPr>
            <a:lvl6pPr>
              <a:defRPr sz="2100" b="0">
                <a:solidFill>
                  <a:srgbClr val="10232E"/>
                </a:solidFill>
                <a:latin typeface="Avenir Next"/>
                <a:ea typeface="Avenir Next"/>
                <a:cs typeface="Avenir Next"/>
              </a:defRPr>
            </a:lvl6pPr>
            <a:lvl7pPr>
              <a:defRPr sz="2100" b="0">
                <a:solidFill>
                  <a:srgbClr val="10232E"/>
                </a:solidFill>
                <a:latin typeface="Avenir Next"/>
                <a:ea typeface="Avenir Next"/>
                <a:cs typeface="Avenir Next"/>
              </a:defRPr>
            </a:lvl7pPr>
            <a:lvl8pPr>
              <a:defRPr sz="2100" b="0">
                <a:solidFill>
                  <a:srgbClr val="10232E"/>
                </a:solidFill>
                <a:latin typeface="Avenir Next"/>
                <a:ea typeface="Avenir Next"/>
                <a:cs typeface="Avenir Next"/>
              </a:defRPr>
            </a:lvl8pPr>
            <a:lvl9pPr>
              <a:defRPr sz="2100"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GoPlus: supported-chain address, website and token-risk observations</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Fields may describe sell restrictions, taxes, blacklists and control risks</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Optional Sourcify: bounded source-match observations</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A non-hit, missing field or open-source status does not establish safety</a:t>
            </a:r>
          </a:p>
        </p:txBody>
      </p:sp>
      <p:sp>
        <p:nvSpPr>
          <p:cNvPr id="5" name="footer">
            <a:extLst xmlns:a="http://schemas.openxmlformats.org/drawingml/2006/main">
              <a:ext uri="{FF2B5EF4-FFF2-40B4-BE49-F238E27FC236}">
                <a16:creationId xmlns:a16="http://schemas.microsoft.com/office/drawing/2014/main" id="{6630EE0D-DA93-4F3D-8468-6235A74BE4D5}"/>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17 / 30</a:t>
            </a:r>
          </a:p>
        </p:txBody>
      </p:sp>
    </p:spTree>
    <p:extLst>
      <p:ext uri="{BB962C8B-B14F-4D97-AF65-F5344CB8AC3E}">
        <p14:creationId xmlns:p14="http://schemas.microsoft.com/office/powerpoint/2010/main" val="265695702"/>
      </p:ext>
    </p:extLst>
  </p:cSld>
</p:sld>
</file>

<file path=ppt/slides/slide18.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18199D09-8C42-4CF7-AAA6-810FBFBD5CE0}"/>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Transaction simulation and honeypot evidence</a:t>
            </a:r>
          </a:p>
        </p:txBody>
      </p:sp>
      <p:sp>
        <p:nvSpPr>
          <p:cNvPr id="3" name="summary">
            <a:extLst xmlns:a="http://schemas.openxmlformats.org/drawingml/2006/main">
              <a:ext uri="{FF2B5EF4-FFF2-40B4-BE49-F238E27FC236}">
                <a16:creationId xmlns:a16="http://schemas.microsoft.com/office/drawing/2014/main" id="{3AD0D274-6B98-48F4-AE9D-0342BF4A0F10}"/>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Execute on an isolated fork without submitting tests upstream</a:t>
            </a:r>
          </a:p>
        </p:txBody>
      </p:sp>
      <p:sp>
        <p:nvSpPr>
          <p:cNvPr id="4" name="step-number-0">
            <a:extLst xmlns:a="http://schemas.openxmlformats.org/drawingml/2006/main">
              <a:ext uri="{FF2B5EF4-FFF2-40B4-BE49-F238E27FC236}">
                <a16:creationId xmlns:a16="http://schemas.microsoft.com/office/drawing/2014/main" id="{C580E9E0-4172-4718-98C9-AADFB95CA8CB}"/>
              </a:ext>
            </a:extLst>
          </p:cNvPr>
          <p:cNvSpPr>
            <a:spLocks xmlns:a="http://schemas.openxmlformats.org/drawingml/2006/main" noGrp="1"/>
          </p:cNvSpPr>
          <p:nvPr/>
        </p:nvSpPr>
        <p:spPr>
          <a:xfrm xmlns:a="http://schemas.openxmlformats.org/drawingml/2006/main">
            <a:off x="685800" y="255270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01</a:t>
            </a:r>
          </a:p>
        </p:txBody>
      </p:sp>
      <p:sp>
        <p:nvSpPr>
          <p:cNvPr id="5" name="step-content-0">
            <a:extLst xmlns:a="http://schemas.openxmlformats.org/drawingml/2006/main">
              <a:ext uri="{FF2B5EF4-FFF2-40B4-BE49-F238E27FC236}">
                <a16:creationId xmlns:a16="http://schemas.microsoft.com/office/drawing/2014/main" id="{B4FC1676-3FE5-4D81-B5E1-C2C1AC56F31E}"/>
              </a:ext>
            </a:extLst>
          </p:cNvPr>
          <p:cNvSpPr>
            <a:spLocks xmlns:a="http://schemas.openxmlformats.org/drawingml/2006/main" noGrp="1"/>
          </p:cNvSpPr>
          <p:nvPr/>
        </p:nvSpPr>
        <p:spPr>
          <a:xfrm xmlns:a="http://schemas.openxmlformats.org/drawingml/2006/main">
            <a:off x="1619250" y="2562225"/>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Create a temporary Anvil fork from a recorded upstream block</a:t>
            </a:r>
          </a:p>
        </p:txBody>
      </p:sp>
      <p:sp>
        <p:nvSpPr>
          <p:cNvPr id="6" name="step-number-1">
            <a:extLst xmlns:a="http://schemas.openxmlformats.org/drawingml/2006/main">
              <a:ext uri="{FF2B5EF4-FFF2-40B4-BE49-F238E27FC236}">
                <a16:creationId xmlns:a16="http://schemas.microsoft.com/office/drawing/2014/main" id="{C9DE1421-8327-4DF7-9FD5-44EBD17B2D35}"/>
              </a:ext>
            </a:extLst>
          </p:cNvPr>
          <p:cNvSpPr>
            <a:spLocks xmlns:a="http://schemas.openxmlformats.org/drawingml/2006/main" noGrp="1"/>
          </p:cNvSpPr>
          <p:nvPr/>
        </p:nvSpPr>
        <p:spPr>
          <a:xfrm xmlns:a="http://schemas.openxmlformats.org/drawingml/2006/main">
            <a:off x="685800" y="341947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02</a:t>
            </a:r>
          </a:p>
        </p:txBody>
      </p:sp>
      <p:sp>
        <p:nvSpPr>
          <p:cNvPr id="7" name="step-content-1">
            <a:extLst xmlns:a="http://schemas.openxmlformats.org/drawingml/2006/main">
              <a:ext uri="{FF2B5EF4-FFF2-40B4-BE49-F238E27FC236}">
                <a16:creationId xmlns:a16="http://schemas.microsoft.com/office/drawing/2014/main" id="{E11991CF-844A-43FA-A6B1-1E3F0F506CD0}"/>
              </a:ext>
            </a:extLst>
          </p:cNvPr>
          <p:cNvSpPr>
            <a:spLocks xmlns:a="http://schemas.openxmlformats.org/drawingml/2006/main" noGrp="1"/>
          </p:cNvSpPr>
          <p:nvPr/>
        </p:nvSpPr>
        <p:spPr>
          <a:xfrm xmlns:a="http://schemas.openxmlformats.org/drawingml/2006/main">
            <a:off x="1619250" y="342900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Preserve supplied gas/fees/nonce and observe actual asset changes</a:t>
            </a:r>
          </a:p>
        </p:txBody>
      </p:sp>
      <p:sp>
        <p:nvSpPr>
          <p:cNvPr id="8" name="step-number-2">
            <a:extLst xmlns:a="http://schemas.openxmlformats.org/drawingml/2006/main">
              <a:ext uri="{FF2B5EF4-FFF2-40B4-BE49-F238E27FC236}">
                <a16:creationId xmlns:a16="http://schemas.microsoft.com/office/drawing/2014/main" id="{56DDEE1A-8FC5-4066-A10E-4EFC2722C6F1}"/>
              </a:ext>
            </a:extLst>
          </p:cNvPr>
          <p:cNvSpPr>
            <a:spLocks xmlns:a="http://schemas.openxmlformats.org/drawingml/2006/main" noGrp="1"/>
          </p:cNvSpPr>
          <p:nvPr/>
        </p:nvSpPr>
        <p:spPr>
          <a:xfrm xmlns:a="http://schemas.openxmlformats.org/drawingml/2006/main">
            <a:off x="685800" y="428625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03</a:t>
            </a:r>
          </a:p>
        </p:txBody>
      </p:sp>
      <p:sp>
        <p:nvSpPr>
          <p:cNvPr id="9" name="step-content-2">
            <a:extLst xmlns:a="http://schemas.openxmlformats.org/drawingml/2006/main">
              <a:ext uri="{FF2B5EF4-FFF2-40B4-BE49-F238E27FC236}">
                <a16:creationId xmlns:a16="http://schemas.microsoft.com/office/drawing/2014/main" id="{6AB0B8C0-5A72-4E9D-81E0-510DEA1BEFA1}"/>
              </a:ext>
            </a:extLst>
          </p:cNvPr>
          <p:cNvSpPr>
            <a:spLocks xmlns:a="http://schemas.openxmlformats.org/drawingml/2006/main" noGrp="1"/>
          </p:cNvSpPr>
          <p:nvPr/>
        </p:nvSpPr>
        <p:spPr>
          <a:xfrm xmlns:a="http://schemas.openxmlformats.org/drawingml/2006/main">
            <a:off x="1619250" y="4295775"/>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Supported routes attempt buy → approval → reverse sale</a:t>
            </a:r>
          </a:p>
        </p:txBody>
      </p:sp>
      <p:sp>
        <p:nvSpPr>
          <p:cNvPr id="10" name="step-number-3">
            <a:extLst xmlns:a="http://schemas.openxmlformats.org/drawingml/2006/main">
              <a:ext uri="{FF2B5EF4-FFF2-40B4-BE49-F238E27FC236}">
                <a16:creationId xmlns:a16="http://schemas.microsoft.com/office/drawing/2014/main" id="{56C913B1-F0B4-403A-B915-22A049D3BC03}"/>
              </a:ext>
            </a:extLst>
          </p:cNvPr>
          <p:cNvSpPr>
            <a:spLocks xmlns:a="http://schemas.openxmlformats.org/drawingml/2006/main" noGrp="1"/>
          </p:cNvSpPr>
          <p:nvPr/>
        </p:nvSpPr>
        <p:spPr>
          <a:xfrm xmlns:a="http://schemas.openxmlformats.org/drawingml/2006/main">
            <a:off x="685800" y="515302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04</a:t>
            </a:r>
          </a:p>
        </p:txBody>
      </p:sp>
      <p:sp>
        <p:nvSpPr>
          <p:cNvPr id="11" name="step-content-3">
            <a:extLst xmlns:a="http://schemas.openxmlformats.org/drawingml/2006/main">
              <a:ext uri="{FF2B5EF4-FFF2-40B4-BE49-F238E27FC236}">
                <a16:creationId xmlns:a16="http://schemas.microsoft.com/office/drawing/2014/main" id="{FBFABF42-72FA-4100-8D74-818069851C40}"/>
              </a:ext>
            </a:extLst>
          </p:cNvPr>
          <p:cNvSpPr>
            <a:spLocks xmlns:a="http://schemas.openxmlformats.org/drawingml/2006/main" noGrp="1"/>
          </p:cNvSpPr>
          <p:nvPr/>
        </p:nvSpPr>
        <p:spPr>
          <a:xfrm xmlns:a="http://schemas.openxmlformats.org/drawingml/2006/main">
            <a:off x="1619250" y="516255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Success and failure describe that scenario at that particular state</a:t>
            </a:r>
          </a:p>
        </p:txBody>
      </p:sp>
      <p:sp>
        <p:nvSpPr>
          <p:cNvPr id="12" name="footer">
            <a:extLst xmlns:a="http://schemas.openxmlformats.org/drawingml/2006/main">
              <a:ext uri="{FF2B5EF4-FFF2-40B4-BE49-F238E27FC236}">
                <a16:creationId xmlns:a16="http://schemas.microsoft.com/office/drawing/2014/main" id="{67204765-392F-4DE1-8D3C-9D2424983072}"/>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18 / 30</a:t>
            </a:r>
          </a:p>
        </p:txBody>
      </p:sp>
    </p:spTree>
    <p:extLst>
      <p:ext uri="{BB962C8B-B14F-4D97-AF65-F5344CB8AC3E}">
        <p14:creationId xmlns:p14="http://schemas.microsoft.com/office/powerpoint/2010/main" val="879486008"/>
      </p:ext>
    </p:extLst>
  </p:cSld>
</p:sld>
</file>

<file path=ppt/slides/slide19.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D51864D-50D8-47CE-BCCC-56A0058FB18F}"/>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How Muse produces a risk indicator</a:t>
            </a:r>
          </a:p>
        </p:txBody>
      </p:sp>
      <p:sp>
        <p:nvSpPr>
          <p:cNvPr id="3" name="summary">
            <a:extLst xmlns:a="http://schemas.openxmlformats.org/drawingml/2006/main">
              <a:ext uri="{FF2B5EF4-FFF2-40B4-BE49-F238E27FC236}">
                <a16:creationId xmlns:a16="http://schemas.microsoft.com/office/drawing/2014/main" id="{AABC7220-9A9C-407F-B79B-842107E3D53F}"/>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The model supplies the number; tools supply citeable evidence</a:t>
            </a:r>
          </a:p>
        </p:txBody>
      </p:sp>
      <p:sp>
        <p:nvSpPr>
          <p:cNvPr id="4" name="step-number-0">
            <a:extLst xmlns:a="http://schemas.openxmlformats.org/drawingml/2006/main">
              <a:ext uri="{FF2B5EF4-FFF2-40B4-BE49-F238E27FC236}">
                <a16:creationId xmlns:a16="http://schemas.microsoft.com/office/drawing/2014/main" id="{CC0DC1D9-5674-4BDE-98D5-984BD33D6F08}"/>
              </a:ext>
            </a:extLst>
          </p:cNvPr>
          <p:cNvSpPr>
            <a:spLocks xmlns:a="http://schemas.openxmlformats.org/drawingml/2006/main" noGrp="1"/>
          </p:cNvSpPr>
          <p:nvPr/>
        </p:nvSpPr>
        <p:spPr>
          <a:xfrm xmlns:a="http://schemas.openxmlformats.org/drawingml/2006/main">
            <a:off x="685800" y="255270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01</a:t>
            </a:r>
          </a:p>
        </p:txBody>
      </p:sp>
      <p:sp>
        <p:nvSpPr>
          <p:cNvPr id="5" name="step-content-0">
            <a:extLst xmlns:a="http://schemas.openxmlformats.org/drawingml/2006/main">
              <a:ext uri="{FF2B5EF4-FFF2-40B4-BE49-F238E27FC236}">
                <a16:creationId xmlns:a16="http://schemas.microsoft.com/office/drawing/2014/main" id="{B9D5FA23-6782-45C3-99AB-ACE52343A82A}"/>
              </a:ext>
            </a:extLst>
          </p:cNvPr>
          <p:cNvSpPr>
            <a:spLocks xmlns:a="http://schemas.openxmlformats.org/drawingml/2006/main" noGrp="1"/>
          </p:cNvSpPr>
          <p:nvPr/>
        </p:nvSpPr>
        <p:spPr>
          <a:xfrm xmlns:a="http://schemas.openxmlformats.org/drawingml/2006/main">
            <a:off x="1619250" y="2562225"/>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Fixed model: Meta Muse Wonder, muse-wonder-1.0</a:t>
            </a:r>
          </a:p>
        </p:txBody>
      </p:sp>
      <p:sp>
        <p:nvSpPr>
          <p:cNvPr id="6" name="step-number-1">
            <a:extLst xmlns:a="http://schemas.openxmlformats.org/drawingml/2006/main">
              <a:ext uri="{FF2B5EF4-FFF2-40B4-BE49-F238E27FC236}">
                <a16:creationId xmlns:a16="http://schemas.microsoft.com/office/drawing/2014/main" id="{E9513334-28E6-4E9B-9242-B9384AFF3464}"/>
              </a:ext>
            </a:extLst>
          </p:cNvPr>
          <p:cNvSpPr>
            <a:spLocks xmlns:a="http://schemas.openxmlformats.org/drawingml/2006/main" noGrp="1"/>
          </p:cNvSpPr>
          <p:nvPr/>
        </p:nvSpPr>
        <p:spPr>
          <a:xfrm xmlns:a="http://schemas.openxmlformats.org/drawingml/2006/main">
            <a:off x="685800" y="341947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02</a:t>
            </a:r>
          </a:p>
        </p:txBody>
      </p:sp>
      <p:sp>
        <p:nvSpPr>
          <p:cNvPr id="7" name="step-content-1">
            <a:extLst xmlns:a="http://schemas.openxmlformats.org/drawingml/2006/main">
              <a:ext uri="{FF2B5EF4-FFF2-40B4-BE49-F238E27FC236}">
                <a16:creationId xmlns:a16="http://schemas.microsoft.com/office/drawing/2014/main" id="{D1E3BB90-2379-446D-9DAA-08539042BD3A}"/>
              </a:ext>
            </a:extLst>
          </p:cNvPr>
          <p:cNvSpPr>
            <a:spLocks xmlns:a="http://schemas.openxmlformats.org/drawingml/2006/main" noGrp="1"/>
          </p:cNvSpPr>
          <p:nvPr/>
        </p:nvSpPr>
        <p:spPr>
          <a:xfrm xmlns:a="http://schemas.openxmlformats.org/drawingml/2006/main">
            <a:off x="1619250" y="342900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Input: request summary, facts, qualitative signals and gaps</a:t>
            </a:r>
          </a:p>
        </p:txBody>
      </p:sp>
      <p:sp>
        <p:nvSpPr>
          <p:cNvPr id="8" name="step-number-2">
            <a:extLst xmlns:a="http://schemas.openxmlformats.org/drawingml/2006/main">
              <a:ext uri="{FF2B5EF4-FFF2-40B4-BE49-F238E27FC236}">
                <a16:creationId xmlns:a16="http://schemas.microsoft.com/office/drawing/2014/main" id="{9AD2BD2B-420C-41C7-980C-D8F9F82819EC}"/>
              </a:ext>
            </a:extLst>
          </p:cNvPr>
          <p:cNvSpPr>
            <a:spLocks xmlns:a="http://schemas.openxmlformats.org/drawingml/2006/main" noGrp="1"/>
          </p:cNvSpPr>
          <p:nvPr/>
        </p:nvSpPr>
        <p:spPr>
          <a:xfrm xmlns:a="http://schemas.openxmlformats.org/drawingml/2006/main">
            <a:off x="685800" y="428625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03</a:t>
            </a:r>
          </a:p>
        </p:txBody>
      </p:sp>
      <p:sp>
        <p:nvSpPr>
          <p:cNvPr id="9" name="step-content-2">
            <a:extLst xmlns:a="http://schemas.openxmlformats.org/drawingml/2006/main">
              <a:ext uri="{FF2B5EF4-FFF2-40B4-BE49-F238E27FC236}">
                <a16:creationId xmlns:a16="http://schemas.microsoft.com/office/drawing/2014/main" id="{FDA8309A-9371-4886-B7F1-91893671D823}"/>
              </a:ext>
            </a:extLst>
          </p:cNvPr>
          <p:cNvSpPr>
            <a:spLocks xmlns:a="http://schemas.openxmlformats.org/drawingml/2006/main" noGrp="1"/>
          </p:cNvSpPr>
          <p:nvPr/>
        </p:nvSpPr>
        <p:spPr>
          <a:xfrm xmlns:a="http://schemas.openxmlformats.org/drawingml/2006/main">
            <a:off x="1619250" y="4295775"/>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Output: an integer 0–100 or null, with reasons and advice</a:t>
            </a:r>
          </a:p>
        </p:txBody>
      </p:sp>
      <p:sp>
        <p:nvSpPr>
          <p:cNvPr id="10" name="step-number-3">
            <a:extLst xmlns:a="http://schemas.openxmlformats.org/drawingml/2006/main">
              <a:ext uri="{FF2B5EF4-FFF2-40B4-BE49-F238E27FC236}">
                <a16:creationId xmlns:a16="http://schemas.microsoft.com/office/drawing/2014/main" id="{AB5F1A05-8DEC-434C-90A2-EAF24252DC20}"/>
              </a:ext>
            </a:extLst>
          </p:cNvPr>
          <p:cNvSpPr>
            <a:spLocks xmlns:a="http://schemas.openxmlformats.org/drawingml/2006/main" noGrp="1"/>
          </p:cNvSpPr>
          <p:nvPr/>
        </p:nvSpPr>
        <p:spPr>
          <a:xfrm xmlns:a="http://schemas.openxmlformats.org/drawingml/2006/main">
            <a:off x="685800" y="515302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04</a:t>
            </a:r>
          </a:p>
        </p:txBody>
      </p:sp>
      <p:sp>
        <p:nvSpPr>
          <p:cNvPr id="11" name="step-content-3">
            <a:extLst xmlns:a="http://schemas.openxmlformats.org/drawingml/2006/main">
              <a:ext uri="{FF2B5EF4-FFF2-40B4-BE49-F238E27FC236}">
                <a16:creationId xmlns:a16="http://schemas.microsoft.com/office/drawing/2014/main" id="{B13AD2D9-F6CB-481A-927F-BE921C7F9A73}"/>
              </a:ext>
            </a:extLst>
          </p:cNvPr>
          <p:cNvSpPr>
            <a:spLocks xmlns:a="http://schemas.openxmlformats.org/drawingml/2006/main" noGrp="1"/>
          </p:cNvSpPr>
          <p:nvPr/>
        </p:nvSpPr>
        <p:spPr>
          <a:xfrm xmlns:a="http://schemas.openxmlformats.org/drawingml/2006/main">
            <a:off x="1619250" y="516255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No fixed weights, rule points, score floors or fallback number</a:t>
            </a:r>
          </a:p>
        </p:txBody>
      </p:sp>
      <p:sp>
        <p:nvSpPr>
          <p:cNvPr id="12" name="footer">
            <a:extLst xmlns:a="http://schemas.openxmlformats.org/drawingml/2006/main">
              <a:ext uri="{FF2B5EF4-FFF2-40B4-BE49-F238E27FC236}">
                <a16:creationId xmlns:a16="http://schemas.microsoft.com/office/drawing/2014/main" id="{6187513E-0D04-459B-9949-037A7E6B2099}"/>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19 / 30</a:t>
            </a:r>
          </a:p>
        </p:txBody>
      </p:sp>
    </p:spTree>
    <p:extLst>
      <p:ext uri="{BB962C8B-B14F-4D97-AF65-F5344CB8AC3E}">
        <p14:creationId xmlns:p14="http://schemas.microsoft.com/office/powerpoint/2010/main" val="1972714395"/>
      </p:ext>
    </p:extLst>
  </p:cSld>
</p:sld>
</file>

<file path=ppt/slides/slide20.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1562ED8-C5DF-45A7-A5A9-B73FB537FFA5}"/>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Six dimensions explain different aspects of risk</a:t>
            </a:r>
          </a:p>
        </p:txBody>
      </p:sp>
      <p:sp>
        <p:nvSpPr>
          <p:cNvPr id="3" name="summary">
            <a:extLst xmlns:a="http://schemas.openxmlformats.org/drawingml/2006/main">
              <a:ext uri="{FF2B5EF4-FFF2-40B4-BE49-F238E27FC236}">
                <a16:creationId xmlns:a16="http://schemas.microsoft.com/office/drawing/2014/main" id="{0D719853-A971-4B2B-944C-029D9855D794}"/>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Qualitative dimensions—not six averaged subscores</a:t>
            </a:r>
          </a:p>
        </p:txBody>
      </p:sp>
      <p:graphicFrame>
        <p:nvGraphicFramePr>
          <p:cNvPr id="4" name="">
            <a:extLst xmlns:a="http://schemas.openxmlformats.org/drawingml/2006/main">
              <a:ext uri="{FF2B5EF4-FFF2-40B4-BE49-F238E27FC236}">
                <a16:creationId xmlns:a16="http://schemas.microsoft.com/office/drawing/2014/main" id="{450C0BDC-722C-4C2E-838B-220384431069}"/>
              </a:ext>
            </a:extLst>
          </p:cNvPr>
          <p:cNvGraphicFramePr/>
          <p:nvPr/>
        </p:nvGraphicFramePr>
        <p:xfrm>
          <a:off xmlns:a="http://schemas.openxmlformats.org/drawingml/2006/main" x="647700" y="2552700"/>
          <a:ext xmlns:a="http://schemas.openxmlformats.org/drawingml/2006/main" cx="10858500" cy="3409950"/>
        </p:xfrm>
        <a:graphic xmlns:a="http://schemas.openxmlformats.org/drawingml/2006/main">
          <a:graphicData uri="http://schemas.openxmlformats.org/drawingml/2006/table">
            <a:tbl>
              <a:tblPr/>
              <a:tblGrid>
                <a:gridCol w="2809875"/>
                <a:gridCol w="8048625"/>
              </a:tblGrid>
              <a:tr h="495300">
                <a:tc>
                  <a:txBody>
                    <a:bodyPr wrap="square" lIns="142875" tIns="95250" rIns="142875" bIns="95250">
                      <a:noAutofit/>
                    </a:bodyPr>
                    <a:lstStyle/>
                    <a:p>
                      <a:r>
                        <a:rPr sz="1650" b="1">
                          <a:solidFill>
                            <a:srgbClr val="FFFFFF"/>
                          </a:solidFill>
                          <a:latin typeface="Avenir Next"/>
                          <a:ea typeface="Avenir Next"/>
                          <a:cs typeface="Avenir Next"/>
                        </a:rPr>
                        <a:t>Component / field</a:t>
                      </a:r>
                    </a:p>
                  </a:txBody>
                  <a:tcPr marL="91440" marR="91440" marT="45720" marB="45720" anchor="ctr">
                    <a:lnL w="6668">
                      <a:solidFill>
                        <a:srgbClr val="D9E4E8"/>
                      </a:solidFill>
                      <a:prstDash val="solid"/>
                    </a:lnL>
                    <a:lnR w="6668">
                      <a:solidFill>
                        <a:srgbClr val="D9E4E8"/>
                      </a:solidFill>
                      <a:prstDash val="solid"/>
                    </a:lnR>
                    <a:lnT w="6668">
                      <a:solidFill>
                        <a:srgbClr val="D9E4E8"/>
                      </a:solidFill>
                      <a:prstDash val="solid"/>
                    </a:lnT>
                    <a:lnB w="6668">
                      <a:solidFill>
                        <a:srgbClr val="D9E4E8"/>
                      </a:solidFill>
                      <a:prstDash val="solid"/>
                    </a:lnB>
                    <a:solidFill>
                      <a:srgbClr val="10232E"/>
                    </a:solidFill>
                  </a:tcPr>
                </a:tc>
                <a:tc>
                  <a:txBody>
                    <a:bodyPr wrap="square" lIns="142875" tIns="95250" rIns="142875" bIns="95250">
                      <a:noAutofit/>
                    </a:bodyPr>
                    <a:lstStyle/>
                    <a:p>
                      <a:r>
                        <a:rPr sz="1650" b="1">
                          <a:solidFill>
                            <a:srgbClr val="FFFFFF"/>
                          </a:solidFill>
                          <a:latin typeface="Avenir Next"/>
                          <a:ea typeface="Avenir Next"/>
                          <a:cs typeface="Avenir Next"/>
                        </a:rPr>
                        <a:t>Implementation and purpose</a:t>
                      </a:r>
                    </a:p>
                  </a:txBody>
                  <a:tcPr marL="91440" marR="91440" marT="45720" marB="45720" anchor="ctr">
                    <a:lnR w="6668">
                      <a:solidFill>
                        <a:srgbClr val="D9E4E8"/>
                      </a:solidFill>
                      <a:prstDash val="solid"/>
                    </a:lnR>
                    <a:lnT w="6668">
                      <a:solidFill>
                        <a:srgbClr val="D9E4E8"/>
                      </a:solidFill>
                      <a:prstDash val="solid"/>
                    </a:lnT>
                    <a:lnB w="6668">
                      <a:solidFill>
                        <a:srgbClr val="D9E4E8"/>
                      </a:solidFill>
                      <a:prstDash val="solid"/>
                    </a:lnB>
                    <a:solidFill>
                      <a:srgbClr val="10232E"/>
                    </a:solidFill>
                  </a:tcPr>
                </a:tc>
              </a:tr>
              <a:tr h="485775">
                <a:tc>
                  <a:txBody>
                    <a:bodyPr wrap="square" lIns="142875" tIns="95250" rIns="142875" bIns="95250">
                      <a:noAutofit/>
                    </a:bodyPr>
                    <a:lstStyle/>
                    <a:p>
                      <a:r>
                        <a:rPr sz="1725" b="0">
                          <a:solidFill>
                            <a:srgbClr val="10232E"/>
                          </a:solidFill>
                          <a:latin typeface="Avenir Next"/>
                          <a:ea typeface="Avenir Next"/>
                          <a:cs typeface="Avenir Next"/>
                        </a:rPr>
                        <a:t>Authority</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FFFFF"/>
                    </a:solidFill>
                  </a:tcPr>
                </a:tc>
                <a:tc>
                  <a:txBody>
                    <a:bodyPr wrap="square" lIns="142875" tIns="95250" rIns="142875" bIns="95250">
                      <a:noAutofit/>
                    </a:bodyPr>
                    <a:lstStyle/>
                    <a:p>
                      <a:r>
                        <a:rPr sz="1725" b="0">
                          <a:solidFill>
                            <a:srgbClr val="10232E"/>
                          </a:solidFill>
                          <a:latin typeface="Avenir Next"/>
                          <a:ea typeface="Avenir Next"/>
                          <a:cs typeface="Avenir Next"/>
                        </a:rPr>
                        <a:t>who gains asset or account capabilities</a:t>
                      </a:r>
                    </a:p>
                  </a:txBody>
                  <a:tcPr marL="91440" marR="91440" marT="45720" marB="45720" anchor="ctr">
                    <a:lnR w="6668">
                      <a:solidFill>
                        <a:srgbClr val="D9E4E8"/>
                      </a:solidFill>
                      <a:prstDash val="solid"/>
                    </a:lnR>
                    <a:lnB w="6668">
                      <a:solidFill>
                        <a:srgbClr val="D9E4E8"/>
                      </a:solidFill>
                      <a:prstDash val="solid"/>
                    </a:lnB>
                    <a:solidFill>
                      <a:srgbClr val="FFFFFF"/>
                    </a:solidFill>
                  </a:tcPr>
                </a:tc>
              </a:tr>
              <a:tr h="485775">
                <a:tc>
                  <a:txBody>
                    <a:bodyPr wrap="square" lIns="142875" tIns="95250" rIns="142875" bIns="95250">
                      <a:noAutofit/>
                    </a:bodyPr>
                    <a:lstStyle/>
                    <a:p>
                      <a:r>
                        <a:rPr sz="1725" b="0">
                          <a:solidFill>
                            <a:srgbClr val="10232E"/>
                          </a:solidFill>
                          <a:latin typeface="Avenir Next"/>
                          <a:ea typeface="Avenir Next"/>
                          <a:cs typeface="Avenir Next"/>
                        </a:rPr>
                        <a:t>Exposure</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7FAFA"/>
                    </a:solidFill>
                  </a:tcPr>
                </a:tc>
                <a:tc>
                  <a:txBody>
                    <a:bodyPr wrap="square" lIns="142875" tIns="95250" rIns="142875" bIns="95250">
                      <a:noAutofit/>
                    </a:bodyPr>
                    <a:lstStyle/>
                    <a:p>
                      <a:r>
                        <a:rPr sz="1725" b="0">
                          <a:solidFill>
                            <a:srgbClr val="10232E"/>
                          </a:solidFill>
                          <a:latin typeface="Avenir Next"/>
                          <a:ea typeface="Avenir Next"/>
                          <a:cs typeface="Avenir Next"/>
                        </a:rPr>
                        <a:t>which assets and amounts may be affected</a:t>
                      </a:r>
                    </a:p>
                  </a:txBody>
                  <a:tcPr marL="91440" marR="91440" marT="45720" marB="45720" anchor="ctr">
                    <a:lnR w="6668">
                      <a:solidFill>
                        <a:srgbClr val="D9E4E8"/>
                      </a:solidFill>
                      <a:prstDash val="solid"/>
                    </a:lnR>
                    <a:lnB w="6668">
                      <a:solidFill>
                        <a:srgbClr val="D9E4E8"/>
                      </a:solidFill>
                      <a:prstDash val="solid"/>
                    </a:lnB>
                    <a:solidFill>
                      <a:srgbClr val="F7FAFA"/>
                    </a:solidFill>
                  </a:tcPr>
                </a:tc>
              </a:tr>
              <a:tr h="485775">
                <a:tc>
                  <a:txBody>
                    <a:bodyPr wrap="square" lIns="142875" tIns="95250" rIns="142875" bIns="95250">
                      <a:noAutofit/>
                    </a:bodyPr>
                    <a:lstStyle/>
                    <a:p>
                      <a:r>
                        <a:rPr sz="1725" b="0">
                          <a:solidFill>
                            <a:srgbClr val="10232E"/>
                          </a:solidFill>
                          <a:latin typeface="Avenir Next"/>
                          <a:ea typeface="Avenir Next"/>
                          <a:cs typeface="Avenir Next"/>
                        </a:rPr>
                        <a:t>Execution</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FFFFF"/>
                    </a:solidFill>
                  </a:tcPr>
                </a:tc>
                <a:tc>
                  <a:txBody>
                    <a:bodyPr wrap="square" lIns="142875" tIns="95250" rIns="142875" bIns="95250">
                      <a:noAutofit/>
                    </a:bodyPr>
                    <a:lstStyle/>
                    <a:p>
                      <a:r>
                        <a:rPr sz="1725" b="0">
                          <a:solidFill>
                            <a:srgbClr val="10232E"/>
                          </a:solidFill>
                          <a:latin typeface="Avenir Next"/>
                          <a:ea typeface="Avenir Next"/>
                          <a:cs typeface="Avenir Next"/>
                        </a:rPr>
                        <a:t>observed calls, effects and failures</a:t>
                      </a:r>
                    </a:p>
                  </a:txBody>
                  <a:tcPr marL="91440" marR="91440" marT="45720" marB="45720" anchor="ctr">
                    <a:lnR w="6668">
                      <a:solidFill>
                        <a:srgbClr val="D9E4E8"/>
                      </a:solidFill>
                      <a:prstDash val="solid"/>
                    </a:lnR>
                    <a:lnB w="6668">
                      <a:solidFill>
                        <a:srgbClr val="D9E4E8"/>
                      </a:solidFill>
                      <a:prstDash val="solid"/>
                    </a:lnB>
                    <a:solidFill>
                      <a:srgbClr val="FFFFFF"/>
                    </a:solidFill>
                  </a:tcPr>
                </a:tc>
              </a:tr>
              <a:tr h="485775">
                <a:tc>
                  <a:txBody>
                    <a:bodyPr wrap="square" lIns="142875" tIns="95250" rIns="142875" bIns="95250">
                      <a:noAutofit/>
                    </a:bodyPr>
                    <a:lstStyle/>
                    <a:p>
                      <a:r>
                        <a:rPr sz="1725" b="0">
                          <a:solidFill>
                            <a:srgbClr val="10232E"/>
                          </a:solidFill>
                          <a:latin typeface="Avenir Next"/>
                          <a:ea typeface="Avenir Next"/>
                          <a:cs typeface="Avenir Next"/>
                        </a:rPr>
                        <a:t>Identity</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7FAFA"/>
                    </a:solidFill>
                  </a:tcPr>
                </a:tc>
                <a:tc>
                  <a:txBody>
                    <a:bodyPr wrap="square" lIns="142875" tIns="95250" rIns="142875" bIns="95250">
                      <a:noAutofit/>
                    </a:bodyPr>
                    <a:lstStyle/>
                    <a:p>
                      <a:r>
                        <a:rPr sz="1725" b="0">
                          <a:solidFill>
                            <a:srgbClr val="10232E"/>
                          </a:solidFill>
                          <a:latin typeface="Avenir Next"/>
                          <a:ea typeface="Avenir Next"/>
                          <a:cs typeface="Avenir Next"/>
                        </a:rPr>
                        <a:t>address, domain and reputation consistency</a:t>
                      </a:r>
                    </a:p>
                  </a:txBody>
                  <a:tcPr marL="91440" marR="91440" marT="45720" marB="45720" anchor="ctr">
                    <a:lnR w="6668">
                      <a:solidFill>
                        <a:srgbClr val="D9E4E8"/>
                      </a:solidFill>
                      <a:prstDash val="solid"/>
                    </a:lnR>
                    <a:lnB w="6668">
                      <a:solidFill>
                        <a:srgbClr val="D9E4E8"/>
                      </a:solidFill>
                      <a:prstDash val="solid"/>
                    </a:lnB>
                    <a:solidFill>
                      <a:srgbClr val="F7FAFA"/>
                    </a:solidFill>
                  </a:tcPr>
                </a:tc>
              </a:tr>
              <a:tr h="485775">
                <a:tc>
                  <a:txBody>
                    <a:bodyPr wrap="square" lIns="142875" tIns="95250" rIns="142875" bIns="95250">
                      <a:noAutofit/>
                    </a:bodyPr>
                    <a:lstStyle/>
                    <a:p>
                      <a:r>
                        <a:rPr sz="1725" b="0">
                          <a:solidFill>
                            <a:srgbClr val="10232E"/>
                          </a:solidFill>
                          <a:latin typeface="Avenir Next"/>
                          <a:ea typeface="Avenir Next"/>
                          <a:cs typeface="Avenir Next"/>
                        </a:rPr>
                        <a:t>Protocol</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FFFFF"/>
                    </a:solidFill>
                  </a:tcPr>
                </a:tc>
                <a:tc>
                  <a:txBody>
                    <a:bodyPr wrap="square" lIns="142875" tIns="95250" rIns="142875" bIns="95250">
                      <a:noAutofit/>
                    </a:bodyPr>
                    <a:lstStyle/>
                    <a:p>
                      <a:r>
                        <a:rPr sz="1725" b="0">
                          <a:solidFill>
                            <a:srgbClr val="10232E"/>
                          </a:solidFill>
                          <a:latin typeface="Avenir Next"/>
                          <a:ea typeface="Avenir Next"/>
                          <a:cs typeface="Avenir Next"/>
                        </a:rPr>
                        <a:t>mechanism and supported protocol evidence</a:t>
                      </a:r>
                    </a:p>
                  </a:txBody>
                  <a:tcPr marL="91440" marR="91440" marT="45720" marB="45720" anchor="ctr">
                    <a:lnR w="6668">
                      <a:solidFill>
                        <a:srgbClr val="D9E4E8"/>
                      </a:solidFill>
                      <a:prstDash val="solid"/>
                    </a:lnR>
                    <a:lnB w="6668">
                      <a:solidFill>
                        <a:srgbClr val="D9E4E8"/>
                      </a:solidFill>
                      <a:prstDash val="solid"/>
                    </a:lnB>
                    <a:solidFill>
                      <a:srgbClr val="FFFFFF"/>
                    </a:solidFill>
                  </a:tcPr>
                </a:tc>
              </a:tr>
              <a:tr h="485775">
                <a:tc>
                  <a:txBody>
                    <a:bodyPr wrap="square" lIns="142875" tIns="95250" rIns="142875" bIns="95250">
                      <a:noAutofit/>
                    </a:bodyPr>
                    <a:lstStyle/>
                    <a:p>
                      <a:r>
                        <a:rPr sz="1725" b="0">
                          <a:solidFill>
                            <a:srgbClr val="10232E"/>
                          </a:solidFill>
                          <a:latin typeface="Avenir Next"/>
                          <a:ea typeface="Avenir Next"/>
                          <a:cs typeface="Avenir Next"/>
                        </a:rPr>
                        <a:t>Deception</a:t>
                      </a:r>
                    </a:p>
                  </a:txBody>
                  <a:tcPr marL="91440" marR="91440" marT="45720" marB="45720" anchor="ctr">
                    <a:lnL w="6668">
                      <a:solidFill>
                        <a:srgbClr val="D9E4E8"/>
                      </a:solidFill>
                      <a:prstDash val="solid"/>
                    </a:lnL>
                    <a:lnR w="6668">
                      <a:solidFill>
                        <a:srgbClr val="D9E4E8"/>
                      </a:solidFill>
                      <a:prstDash val="solid"/>
                    </a:lnR>
                    <a:lnB w="6668">
                      <a:solidFill>
                        <a:srgbClr val="D9E4E8"/>
                      </a:solidFill>
                      <a:prstDash val="solid"/>
                    </a:lnB>
                    <a:solidFill>
                      <a:srgbClr val="F7FAFA"/>
                    </a:solidFill>
                  </a:tcPr>
                </a:tc>
                <a:tc>
                  <a:txBody>
                    <a:bodyPr wrap="square" lIns="142875" tIns="95250" rIns="142875" bIns="95250">
                      <a:noAutofit/>
                    </a:bodyPr>
                    <a:lstStyle/>
                    <a:p>
                      <a:r>
                        <a:rPr sz="1725" b="0">
                          <a:solidFill>
                            <a:srgbClr val="10232E"/>
                          </a:solidFill>
                          <a:latin typeface="Avenir Next"/>
                          <a:ea typeface="Avenir Next"/>
                          <a:cs typeface="Avenir Next"/>
                        </a:rPr>
                        <a:t>inconsistencies in observable messages and requests</a:t>
                      </a:r>
                    </a:p>
                  </a:txBody>
                  <a:tcPr marL="91440" marR="91440" marT="45720" marB="45720" anchor="ctr">
                    <a:lnR w="6668">
                      <a:solidFill>
                        <a:srgbClr val="D9E4E8"/>
                      </a:solidFill>
                      <a:prstDash val="solid"/>
                    </a:lnR>
                    <a:lnB w="6668">
                      <a:solidFill>
                        <a:srgbClr val="D9E4E8"/>
                      </a:solidFill>
                      <a:prstDash val="solid"/>
                    </a:lnB>
                    <a:solidFill>
                      <a:srgbClr val="F7FAFA"/>
                    </a:solidFill>
                  </a:tcPr>
                </a:tc>
              </a:tr>
            </a:tbl>
          </a:graphicData>
        </a:graphic>
      </p:graphicFrame>
      <p:sp>
        <p:nvSpPr>
          <p:cNvPr id="5" name="footer">
            <a:extLst xmlns:a="http://schemas.openxmlformats.org/drawingml/2006/main">
              <a:ext uri="{FF2B5EF4-FFF2-40B4-BE49-F238E27FC236}">
                <a16:creationId xmlns:a16="http://schemas.microsoft.com/office/drawing/2014/main" id="{0046CC11-69F6-404A-80B4-28338D68E1F3}"/>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20 / 30</a:t>
            </a:r>
          </a:p>
        </p:txBody>
      </p:sp>
    </p:spTree>
    <p:extLst>
      <p:ext uri="{BB962C8B-B14F-4D97-AF65-F5344CB8AC3E}">
        <p14:creationId xmlns:p14="http://schemas.microsoft.com/office/powerpoint/2010/main" val="727373268"/>
      </p:ext>
    </p:extLst>
  </p:cSld>
</p:sld>
</file>

<file path=ppt/slides/slide21.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A46DFCDA-A78E-4497-BA1B-575FD50E6FED}"/>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Output validation: constrain claims with evidence</a:t>
            </a:r>
          </a:p>
        </p:txBody>
      </p:sp>
      <p:sp>
        <p:nvSpPr>
          <p:cNvPr id="3" name="summary">
            <a:extLst xmlns:a="http://schemas.openxmlformats.org/drawingml/2006/main">
              <a:ext uri="{FF2B5EF4-FFF2-40B4-BE49-F238E27FC236}">
                <a16:creationId xmlns:a16="http://schemas.microsoft.com/office/drawing/2014/main" id="{CB10397E-A4D2-47C7-B151-B16D2664BE52}"/>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Validate structure and selected claims—not every sentence’s truth</a:t>
            </a:r>
          </a:p>
        </p:txBody>
      </p:sp>
      <p:sp>
        <p:nvSpPr>
          <p:cNvPr id="4" name="step-number-0">
            <a:extLst xmlns:a="http://schemas.openxmlformats.org/drawingml/2006/main">
              <a:ext uri="{FF2B5EF4-FFF2-40B4-BE49-F238E27FC236}">
                <a16:creationId xmlns:a16="http://schemas.microsoft.com/office/drawing/2014/main" id="{8A300544-B7D2-4E3E-9429-D07E86B21978}"/>
              </a:ext>
            </a:extLst>
          </p:cNvPr>
          <p:cNvSpPr>
            <a:spLocks xmlns:a="http://schemas.openxmlformats.org/drawingml/2006/main" noGrp="1"/>
          </p:cNvSpPr>
          <p:nvPr/>
        </p:nvSpPr>
        <p:spPr>
          <a:xfrm xmlns:a="http://schemas.openxmlformats.org/drawingml/2006/main">
            <a:off x="685800" y="255270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01</a:t>
            </a:r>
          </a:p>
        </p:txBody>
      </p:sp>
      <p:sp>
        <p:nvSpPr>
          <p:cNvPr id="5" name="step-content-0">
            <a:extLst xmlns:a="http://schemas.openxmlformats.org/drawingml/2006/main">
              <a:ext uri="{FF2B5EF4-FFF2-40B4-BE49-F238E27FC236}">
                <a16:creationId xmlns:a16="http://schemas.microsoft.com/office/drawing/2014/main" id="{937BD81A-3E94-4ADD-B902-11C7481FBF26}"/>
              </a:ext>
            </a:extLst>
          </p:cNvPr>
          <p:cNvSpPr>
            <a:spLocks xmlns:a="http://schemas.openxmlformats.org/drawingml/2006/main" noGrp="1"/>
          </p:cNvSpPr>
          <p:nvPr/>
        </p:nvSpPr>
        <p:spPr>
          <a:xfrm xmlns:a="http://schemas.openxmlformats.org/drawingml/2006/main">
            <a:off x="1619250" y="2562225"/>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Facts must match subject/field/value/source and provenance</a:t>
            </a:r>
          </a:p>
        </p:txBody>
      </p:sp>
      <p:sp>
        <p:nvSpPr>
          <p:cNvPr id="6" name="step-number-1">
            <a:extLst xmlns:a="http://schemas.openxmlformats.org/drawingml/2006/main">
              <a:ext uri="{FF2B5EF4-FFF2-40B4-BE49-F238E27FC236}">
                <a16:creationId xmlns:a16="http://schemas.microsoft.com/office/drawing/2014/main" id="{5A2B4BFC-E2A4-4625-808B-271EB3CE4993}"/>
              </a:ext>
            </a:extLst>
          </p:cNvPr>
          <p:cNvSpPr>
            <a:spLocks xmlns:a="http://schemas.openxmlformats.org/drawingml/2006/main" noGrp="1"/>
          </p:cNvSpPr>
          <p:nvPr/>
        </p:nvSpPr>
        <p:spPr>
          <a:xfrm xmlns:a="http://schemas.openxmlformats.org/drawingml/2006/main">
            <a:off x="685800" y="341947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02</a:t>
            </a:r>
          </a:p>
        </p:txBody>
      </p:sp>
      <p:sp>
        <p:nvSpPr>
          <p:cNvPr id="7" name="step-content-1">
            <a:extLst xmlns:a="http://schemas.openxmlformats.org/drawingml/2006/main">
              <a:ext uri="{FF2B5EF4-FFF2-40B4-BE49-F238E27FC236}">
                <a16:creationId xmlns:a16="http://schemas.microsoft.com/office/drawing/2014/main" id="{E5B518F2-4561-4030-9CFC-535F9D6ADBCE}"/>
              </a:ext>
            </a:extLst>
          </p:cNvPr>
          <p:cNvSpPr>
            <a:spLocks xmlns:a="http://schemas.openxmlformats.org/drawingml/2006/main" noGrp="1"/>
          </p:cNvSpPr>
          <p:nvPr/>
        </p:nvSpPr>
        <p:spPr>
          <a:xfrm xmlns:a="http://schemas.openxmlformats.org/drawingml/2006/main">
            <a:off x="1619250" y="342900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Reasons and dimensions cite real, relevant fact_ids</a:t>
            </a:r>
          </a:p>
        </p:txBody>
      </p:sp>
      <p:sp>
        <p:nvSpPr>
          <p:cNvPr id="8" name="step-number-2">
            <a:extLst xmlns:a="http://schemas.openxmlformats.org/drawingml/2006/main">
              <a:ext uri="{FF2B5EF4-FFF2-40B4-BE49-F238E27FC236}">
                <a16:creationId xmlns:a16="http://schemas.microsoft.com/office/drawing/2014/main" id="{5E739492-394F-4F9B-87EC-4FBD9B097AF3}"/>
              </a:ext>
            </a:extLst>
          </p:cNvPr>
          <p:cNvSpPr>
            <a:spLocks xmlns:a="http://schemas.openxmlformats.org/drawingml/2006/main" noGrp="1"/>
          </p:cNvSpPr>
          <p:nvPr/>
        </p:nvSpPr>
        <p:spPr>
          <a:xfrm xmlns:a="http://schemas.openxmlformats.org/drawingml/2006/main">
            <a:off x="685800" y="428625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03</a:t>
            </a:r>
          </a:p>
        </p:txBody>
      </p:sp>
      <p:sp>
        <p:nvSpPr>
          <p:cNvPr id="9" name="step-content-2">
            <a:extLst xmlns:a="http://schemas.openxmlformats.org/drawingml/2006/main">
              <a:ext uri="{FF2B5EF4-FFF2-40B4-BE49-F238E27FC236}">
                <a16:creationId xmlns:a16="http://schemas.microsoft.com/office/drawing/2014/main" id="{B622CB7A-6642-47C9-B4D7-9C58CF30BA29}"/>
              </a:ext>
            </a:extLst>
          </p:cNvPr>
          <p:cNvSpPr>
            <a:spLocks xmlns:a="http://schemas.openxmlformats.org/drawingml/2006/main" noGrp="1"/>
          </p:cNvSpPr>
          <p:nvPr/>
        </p:nvSpPr>
        <p:spPr>
          <a:xfrm xmlns:a="http://schemas.openxmlformats.org/drawingml/2006/main">
            <a:off x="1619250" y="4295775"/>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Missing, stale or conflicting evidence limits reassuring and high-confidence claims</a:t>
            </a:r>
          </a:p>
        </p:txBody>
      </p:sp>
      <p:sp>
        <p:nvSpPr>
          <p:cNvPr id="10" name="step-number-3">
            <a:extLst xmlns:a="http://schemas.openxmlformats.org/drawingml/2006/main">
              <a:ext uri="{FF2B5EF4-FFF2-40B4-BE49-F238E27FC236}">
                <a16:creationId xmlns:a16="http://schemas.microsoft.com/office/drawing/2014/main" id="{FB1E8D89-0CA0-40B0-83B1-427087BF6CD7}"/>
              </a:ext>
            </a:extLst>
          </p:cNvPr>
          <p:cNvSpPr>
            <a:spLocks xmlns:a="http://schemas.openxmlformats.org/drawingml/2006/main" noGrp="1"/>
          </p:cNvSpPr>
          <p:nvPr/>
        </p:nvSpPr>
        <p:spPr>
          <a:xfrm xmlns:a="http://schemas.openxmlformats.org/drawingml/2006/main">
            <a:off x="685800" y="515302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04</a:t>
            </a:r>
          </a:p>
        </p:txBody>
      </p:sp>
      <p:sp>
        <p:nvSpPr>
          <p:cNvPr id="11" name="step-content-3">
            <a:extLst xmlns:a="http://schemas.openxmlformats.org/drawingml/2006/main">
              <a:ext uri="{FF2B5EF4-FFF2-40B4-BE49-F238E27FC236}">
                <a16:creationId xmlns:a16="http://schemas.microsoft.com/office/drawing/2014/main" id="{0B4D5C74-51D9-4024-8CFB-3559FF671197}"/>
              </a:ext>
            </a:extLst>
          </p:cNvPr>
          <p:cNvSpPr>
            <a:spLocks xmlns:a="http://schemas.openxmlformats.org/drawingml/2006/main" noGrp="1"/>
          </p:cNvSpPr>
          <p:nvPr/>
        </p:nvSpPr>
        <p:spPr>
          <a:xfrm xmlns:a="http://schemas.openxmlformats.org/drawingml/2006/main">
            <a:off x="1619250" y="516255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Invalid output may receive one budgeted repair; otherwise no score</a:t>
            </a:r>
          </a:p>
        </p:txBody>
      </p:sp>
      <p:sp>
        <p:nvSpPr>
          <p:cNvPr id="12" name="footer">
            <a:extLst xmlns:a="http://schemas.openxmlformats.org/drawingml/2006/main">
              <a:ext uri="{FF2B5EF4-FFF2-40B4-BE49-F238E27FC236}">
                <a16:creationId xmlns:a16="http://schemas.microsoft.com/office/drawing/2014/main" id="{00F61652-B9B6-4A76-8AB6-72C492DA4765}"/>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21 / 30</a:t>
            </a:r>
          </a:p>
        </p:txBody>
      </p:sp>
    </p:spTree>
    <p:extLst>
      <p:ext uri="{BB962C8B-B14F-4D97-AF65-F5344CB8AC3E}">
        <p14:creationId xmlns:p14="http://schemas.microsoft.com/office/powerpoint/2010/main" val="218237863"/>
      </p:ext>
    </p:extLst>
  </p:cSld>
</p:sld>
</file>

<file path=ppt/slides/slide22.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B460805-0D7E-4961-AE81-7F85B8E5D69D}"/>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Example: unlimited approval to an unverified spender</a:t>
            </a:r>
          </a:p>
        </p:txBody>
      </p:sp>
      <p:sp>
        <p:nvSpPr>
          <p:cNvPr id="3" name="summary">
            <a:extLst xmlns:a="http://schemas.openxmlformats.org/drawingml/2006/main">
              <a:ext uri="{FF2B5EF4-FFF2-40B4-BE49-F238E27FC236}">
                <a16:creationId xmlns:a16="http://schemas.microsoft.com/office/drawing/2014/main" id="{BC3C16CE-DA5D-4BDC-B98F-C458B9A1445E}"/>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Read the authority consequences before the model judgment</a:t>
            </a:r>
          </a:p>
        </p:txBody>
      </p:sp>
      <p:sp>
        <p:nvSpPr>
          <p:cNvPr id="4" name="body">
            <a:extLst xmlns:a="http://schemas.openxmlformats.org/drawingml/2006/main">
              <a:ext uri="{FF2B5EF4-FFF2-40B4-BE49-F238E27FC236}">
                <a16:creationId xmlns:a16="http://schemas.microsoft.com/office/drawing/2014/main" id="{822675F1-9B64-4B47-88A1-BC23DD0A0F7A}"/>
              </a:ext>
            </a:extLst>
          </p:cNvPr>
          <p:cNvSpPr>
            <a:spLocks xmlns:a="http://schemas.openxmlformats.org/drawingml/2006/main" noGrp="1"/>
          </p:cNvSpPr>
          <p:nvPr/>
        </p:nvSpPr>
        <p:spPr>
          <a:xfrm xmlns:a="http://schemas.openxmlformats.org/drawingml/2006/main">
            <a:off x="714375" y="2552700"/>
            <a:ext cx="10715625"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32E"/>
                </a:solidFill>
                <a:latin typeface="Avenir Next"/>
                <a:ea typeface="Avenir Next"/>
                <a:cs typeface="Avenir Next"/>
              </a:defRPr>
            </a:defPPr>
            <a:lvl1pPr>
              <a:defRPr sz="2100" b="0">
                <a:solidFill>
                  <a:srgbClr val="10232E"/>
                </a:solidFill>
                <a:latin typeface="Avenir Next"/>
                <a:ea typeface="Avenir Next"/>
                <a:cs typeface="Avenir Next"/>
              </a:defRPr>
            </a:lvl1pPr>
            <a:lvl2pPr>
              <a:defRPr sz="2100" b="0">
                <a:solidFill>
                  <a:srgbClr val="10232E"/>
                </a:solidFill>
                <a:latin typeface="Avenir Next"/>
                <a:ea typeface="Avenir Next"/>
                <a:cs typeface="Avenir Next"/>
              </a:defRPr>
            </a:lvl2pPr>
            <a:lvl3pPr>
              <a:defRPr sz="2100" b="0">
                <a:solidFill>
                  <a:srgbClr val="10232E"/>
                </a:solidFill>
                <a:latin typeface="Avenir Next"/>
                <a:ea typeface="Avenir Next"/>
                <a:cs typeface="Avenir Next"/>
              </a:defRPr>
            </a:lvl3pPr>
            <a:lvl4pPr>
              <a:defRPr sz="2100" b="0">
                <a:solidFill>
                  <a:srgbClr val="10232E"/>
                </a:solidFill>
                <a:latin typeface="Avenir Next"/>
                <a:ea typeface="Avenir Next"/>
                <a:cs typeface="Avenir Next"/>
              </a:defRPr>
            </a:lvl4pPr>
            <a:lvl5pPr>
              <a:defRPr sz="2100" b="0">
                <a:solidFill>
                  <a:srgbClr val="10232E"/>
                </a:solidFill>
                <a:latin typeface="Avenir Next"/>
                <a:ea typeface="Avenir Next"/>
                <a:cs typeface="Avenir Next"/>
              </a:defRPr>
            </a:lvl5pPr>
            <a:lvl6pPr>
              <a:defRPr sz="2100" b="0">
                <a:solidFill>
                  <a:srgbClr val="10232E"/>
                </a:solidFill>
                <a:latin typeface="Avenir Next"/>
                <a:ea typeface="Avenir Next"/>
                <a:cs typeface="Avenir Next"/>
              </a:defRPr>
            </a:lvl6pPr>
            <a:lvl7pPr>
              <a:defRPr sz="2100" b="0">
                <a:solidFill>
                  <a:srgbClr val="10232E"/>
                </a:solidFill>
                <a:latin typeface="Avenir Next"/>
                <a:ea typeface="Avenir Next"/>
                <a:cs typeface="Avenir Next"/>
              </a:defRPr>
            </a:lvl7pPr>
            <a:lvl8pPr>
              <a:defRPr sz="2100" b="0">
                <a:solidFill>
                  <a:srgbClr val="10232E"/>
                </a:solidFill>
                <a:latin typeface="Avenir Next"/>
                <a:ea typeface="Avenir Next"/>
                <a:cs typeface="Avenir Next"/>
              </a:defRPr>
            </a:lvl8pPr>
            <a:lvl9pPr>
              <a:defRPr sz="2100"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Request: LAB-USD approve(spender, the uint256 maximum)</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Evidence: spender, cap, balance, allowance, code and intelligence</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Meaning: valid authority may allow later token transfers</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Read Muse’s reasons and gaps in the wallet, then confirm or cancel</a:t>
            </a:r>
          </a:p>
        </p:txBody>
      </p:sp>
      <p:sp>
        <p:nvSpPr>
          <p:cNvPr id="5" name="footer">
            <a:extLst xmlns:a="http://schemas.openxmlformats.org/drawingml/2006/main">
              <a:ext uri="{FF2B5EF4-FFF2-40B4-BE49-F238E27FC236}">
                <a16:creationId xmlns:a16="http://schemas.microsoft.com/office/drawing/2014/main" id="{2F8435FF-C7C5-4F21-842C-30D463D992DD}"/>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22 / 30</a:t>
            </a:r>
          </a:p>
        </p:txBody>
      </p:sp>
    </p:spTree>
    <p:extLst>
      <p:ext uri="{BB962C8B-B14F-4D97-AF65-F5344CB8AC3E}">
        <p14:creationId xmlns:p14="http://schemas.microsoft.com/office/powerpoint/2010/main" val="73431876"/>
      </p:ext>
    </p:extLst>
  </p:cSld>
</p:sld>
</file>

<file path=ppt/slides/slide23.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E742069-45FB-48FC-A861-1335DC82430B}"/>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Local startup and required configuration</a:t>
            </a:r>
          </a:p>
        </p:txBody>
      </p:sp>
      <p:sp>
        <p:nvSpPr>
          <p:cNvPr id="3" name="summary">
            <a:extLst xmlns:a="http://schemas.openxmlformats.org/drawingml/2006/main">
              <a:ext uri="{FF2B5EF4-FFF2-40B4-BE49-F238E27FC236}">
                <a16:creationId xmlns:a16="http://schemas.microsoft.com/office/drawing/2014/main" id="{11C5CB42-D72E-4F25-9D82-A9B1466AD002}"/>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Use a dedicated test account, Node.js 24 and MetaMask Flask</a:t>
            </a:r>
          </a:p>
        </p:txBody>
      </p:sp>
      <p:sp>
        <p:nvSpPr>
          <p:cNvPr id="4" name="step-number-0">
            <a:extLst xmlns:a="http://schemas.openxmlformats.org/drawingml/2006/main">
              <a:ext uri="{FF2B5EF4-FFF2-40B4-BE49-F238E27FC236}">
                <a16:creationId xmlns:a16="http://schemas.microsoft.com/office/drawing/2014/main" id="{B5115CAE-3659-4CA4-9449-D7ADD83F24A8}"/>
              </a:ext>
            </a:extLst>
          </p:cNvPr>
          <p:cNvSpPr>
            <a:spLocks xmlns:a="http://schemas.openxmlformats.org/drawingml/2006/main" noGrp="1"/>
          </p:cNvSpPr>
          <p:nvPr/>
        </p:nvSpPr>
        <p:spPr>
          <a:xfrm xmlns:a="http://schemas.openxmlformats.org/drawingml/2006/main">
            <a:off x="685800" y="255270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01</a:t>
            </a:r>
          </a:p>
        </p:txBody>
      </p:sp>
      <p:sp>
        <p:nvSpPr>
          <p:cNvPr id="5" name="step-content-0">
            <a:extLst xmlns:a="http://schemas.openxmlformats.org/drawingml/2006/main">
              <a:ext uri="{FF2B5EF4-FFF2-40B4-BE49-F238E27FC236}">
                <a16:creationId xmlns:a16="http://schemas.microsoft.com/office/drawing/2014/main" id="{29D07E37-3C93-4014-A5CF-E1F34779E077}"/>
              </a:ext>
            </a:extLst>
          </p:cNvPr>
          <p:cNvSpPr>
            <a:spLocks xmlns:a="http://schemas.openxmlformats.org/drawingml/2006/main" noGrp="1"/>
          </p:cNvSpPr>
          <p:nvPr/>
        </p:nvSpPr>
        <p:spPr>
          <a:xfrm xmlns:a="http://schemas.openxmlformats.org/drawingml/2006/main">
            <a:off x="1619250" y="2562225"/>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Install: npm ci; start: npm run demo</a:t>
            </a:r>
          </a:p>
        </p:txBody>
      </p:sp>
      <p:sp>
        <p:nvSpPr>
          <p:cNvPr id="6" name="step-number-1">
            <a:extLst xmlns:a="http://schemas.openxmlformats.org/drawingml/2006/main">
              <a:ext uri="{FF2B5EF4-FFF2-40B4-BE49-F238E27FC236}">
                <a16:creationId xmlns:a16="http://schemas.microsoft.com/office/drawing/2014/main" id="{4D8C9CE0-5725-4A43-9362-DB3662953DE0}"/>
              </a:ext>
            </a:extLst>
          </p:cNvPr>
          <p:cNvSpPr>
            <a:spLocks xmlns:a="http://schemas.openxmlformats.org/drawingml/2006/main" noGrp="1"/>
          </p:cNvSpPr>
          <p:nvPr/>
        </p:nvSpPr>
        <p:spPr>
          <a:xfrm xmlns:a="http://schemas.openxmlformats.org/drawingml/2006/main">
            <a:off x="685800" y="341947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02</a:t>
            </a:r>
          </a:p>
        </p:txBody>
      </p:sp>
      <p:sp>
        <p:nvSpPr>
          <p:cNvPr id="7" name="step-content-1">
            <a:extLst xmlns:a="http://schemas.openxmlformats.org/drawingml/2006/main">
              <a:ext uri="{FF2B5EF4-FFF2-40B4-BE49-F238E27FC236}">
                <a16:creationId xmlns:a16="http://schemas.microsoft.com/office/drawing/2014/main" id="{500F6CE4-3181-40F9-840D-895D76901ED2}"/>
              </a:ext>
            </a:extLst>
          </p:cNvPr>
          <p:cNvSpPr>
            <a:spLocks xmlns:a="http://schemas.openxmlformats.org/drawingml/2006/main" noGrp="1"/>
          </p:cNvSpPr>
          <p:nvPr/>
        </p:nvSpPr>
        <p:spPr>
          <a:xfrm xmlns:a="http://schemas.openxmlformats.org/drawingml/2006/main">
            <a:off x="1619250" y="342900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Services: web 5173 / API 8787 / Snap 8080 / chain 8545</a:t>
            </a:r>
          </a:p>
        </p:txBody>
      </p:sp>
      <p:sp>
        <p:nvSpPr>
          <p:cNvPr id="8" name="step-number-2">
            <a:extLst xmlns:a="http://schemas.openxmlformats.org/drawingml/2006/main">
              <a:ext uri="{FF2B5EF4-FFF2-40B4-BE49-F238E27FC236}">
                <a16:creationId xmlns:a16="http://schemas.microsoft.com/office/drawing/2014/main" id="{D5D2F421-8FB0-47D1-84F3-F07444DB2E51}"/>
              </a:ext>
            </a:extLst>
          </p:cNvPr>
          <p:cNvSpPr>
            <a:spLocks xmlns:a="http://schemas.openxmlformats.org/drawingml/2006/main" noGrp="1"/>
          </p:cNvSpPr>
          <p:nvPr/>
        </p:nvSpPr>
        <p:spPr>
          <a:xfrm xmlns:a="http://schemas.openxmlformats.org/drawingml/2006/main">
            <a:off x="685800" y="428625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03</a:t>
            </a:r>
          </a:p>
        </p:txBody>
      </p:sp>
      <p:sp>
        <p:nvSpPr>
          <p:cNvPr id="9" name="step-content-2">
            <a:extLst xmlns:a="http://schemas.openxmlformats.org/drawingml/2006/main">
              <a:ext uri="{FF2B5EF4-FFF2-40B4-BE49-F238E27FC236}">
                <a16:creationId xmlns:a16="http://schemas.microsoft.com/office/drawing/2014/main" id="{DD85F27D-425F-4F60-A61F-1EF505107148}"/>
              </a:ext>
            </a:extLst>
          </p:cNvPr>
          <p:cNvSpPr>
            <a:spLocks xmlns:a="http://schemas.openxmlformats.org/drawingml/2006/main" noGrp="1"/>
          </p:cNvSpPr>
          <p:nvPr/>
        </p:nvSpPr>
        <p:spPr>
          <a:xfrm xmlns:a="http://schemas.openxmlformats.org/drawingml/2006/main">
            <a:off x="1619250" y="4295775"/>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Meta key: .local/meta.env; configured, enabled scans call Muse</a:t>
            </a:r>
          </a:p>
        </p:txBody>
      </p:sp>
      <p:sp>
        <p:nvSpPr>
          <p:cNvPr id="10" name="step-number-3">
            <a:extLst xmlns:a="http://schemas.openxmlformats.org/drawingml/2006/main">
              <a:ext uri="{FF2B5EF4-FFF2-40B4-BE49-F238E27FC236}">
                <a16:creationId xmlns:a16="http://schemas.microsoft.com/office/drawing/2014/main" id="{40E29ED6-117C-4BAA-A594-8E7ECF04BE6B}"/>
              </a:ext>
            </a:extLst>
          </p:cNvPr>
          <p:cNvSpPr>
            <a:spLocks xmlns:a="http://schemas.openxmlformats.org/drawingml/2006/main" noGrp="1"/>
          </p:cNvSpPr>
          <p:nvPr/>
        </p:nvSpPr>
        <p:spPr>
          <a:xfrm xmlns:a="http://schemas.openxmlformats.org/drawingml/2006/main">
            <a:off x="685800" y="515302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04</a:t>
            </a:r>
          </a:p>
        </p:txBody>
      </p:sp>
      <p:sp>
        <p:nvSpPr>
          <p:cNvPr id="11" name="step-content-3">
            <a:extLst xmlns:a="http://schemas.openxmlformats.org/drawingml/2006/main">
              <a:ext uri="{FF2B5EF4-FFF2-40B4-BE49-F238E27FC236}">
                <a16:creationId xmlns:a16="http://schemas.microsoft.com/office/drawing/2014/main" id="{4896D042-295D-4017-B3C7-9DA44828CA31}"/>
              </a:ext>
            </a:extLst>
          </p:cNvPr>
          <p:cNvSpPr>
            <a:spLocks xmlns:a="http://schemas.openxmlformats.org/drawingml/2006/main" noGrp="1"/>
          </p:cNvSpPr>
          <p:nvPr/>
        </p:nvSpPr>
        <p:spPr>
          <a:xfrm xmlns:a="http://schemas.openxmlformats.org/drawingml/2006/main">
            <a:off x="1619250" y="516255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Local tests need no Infura; configure RPC for public-network reads</a:t>
            </a:r>
          </a:p>
        </p:txBody>
      </p:sp>
      <p:sp>
        <p:nvSpPr>
          <p:cNvPr id="12" name="footer">
            <a:extLst xmlns:a="http://schemas.openxmlformats.org/drawingml/2006/main">
              <a:ext uri="{FF2B5EF4-FFF2-40B4-BE49-F238E27FC236}">
                <a16:creationId xmlns:a16="http://schemas.microsoft.com/office/drawing/2014/main" id="{40D253F4-CB11-46A5-843C-CDBBC69D5D54}"/>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23 / 30</a:t>
            </a:r>
          </a:p>
        </p:txBody>
      </p:sp>
    </p:spTree>
    <p:extLst>
      <p:ext uri="{BB962C8B-B14F-4D97-AF65-F5344CB8AC3E}">
        <p14:creationId xmlns:p14="http://schemas.microsoft.com/office/powerpoint/2010/main" val="549491539"/>
      </p:ext>
    </p:extLst>
  </p:cSld>
</p:sld>
</file>

<file path=ppt/slides/slide24.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1B72D17-3C54-4124-BC27-6F3C43EB1E81}"/>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Prepare assets, deploy the lab and satisfy prerequisites</a:t>
            </a:r>
          </a:p>
        </p:txBody>
      </p:sp>
      <p:sp>
        <p:nvSpPr>
          <p:cNvPr id="3" name="summary">
            <a:extLst xmlns:a="http://schemas.openxmlformats.org/drawingml/2006/main">
              <a:ext uri="{FF2B5EF4-FFF2-40B4-BE49-F238E27FC236}">
                <a16:creationId xmlns:a16="http://schemas.microsoft.com/office/drawing/2014/main" id="{D1F1B1B7-12BE-49A2-8E9B-7039B6A0F2E7}"/>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Funding a fixture is different from granting protocol permissions</a:t>
            </a:r>
          </a:p>
        </p:txBody>
      </p:sp>
      <p:sp>
        <p:nvSpPr>
          <p:cNvPr id="4" name="body">
            <a:extLst xmlns:a="http://schemas.openxmlformats.org/drawingml/2006/main">
              <a:ext uri="{FF2B5EF4-FFF2-40B4-BE49-F238E27FC236}">
                <a16:creationId xmlns:a16="http://schemas.microsoft.com/office/drawing/2014/main" id="{63290D87-8F73-4943-9C35-6FBFF049BC1A}"/>
              </a:ext>
            </a:extLst>
          </p:cNvPr>
          <p:cNvSpPr>
            <a:spLocks xmlns:a="http://schemas.openxmlformats.org/drawingml/2006/main" noGrp="1"/>
          </p:cNvSpPr>
          <p:nvPr/>
        </p:nvSpPr>
        <p:spPr>
          <a:xfrm xmlns:a="http://schemas.openxmlformats.org/drawingml/2006/main">
            <a:off x="714375" y="2552700"/>
            <a:ext cx="10715625"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32E"/>
                </a:solidFill>
                <a:latin typeface="Avenir Next"/>
                <a:ea typeface="Avenir Next"/>
                <a:cs typeface="Avenir Next"/>
              </a:defRPr>
            </a:defPPr>
            <a:lvl1pPr>
              <a:defRPr sz="2100" b="0">
                <a:solidFill>
                  <a:srgbClr val="10232E"/>
                </a:solidFill>
                <a:latin typeface="Avenir Next"/>
                <a:ea typeface="Avenir Next"/>
                <a:cs typeface="Avenir Next"/>
              </a:defRPr>
            </a:lvl1pPr>
            <a:lvl2pPr>
              <a:defRPr sz="2100" b="0">
                <a:solidFill>
                  <a:srgbClr val="10232E"/>
                </a:solidFill>
                <a:latin typeface="Avenir Next"/>
                <a:ea typeface="Avenir Next"/>
                <a:cs typeface="Avenir Next"/>
              </a:defRPr>
            </a:lvl2pPr>
            <a:lvl3pPr>
              <a:defRPr sz="2100" b="0">
                <a:solidFill>
                  <a:srgbClr val="10232E"/>
                </a:solidFill>
                <a:latin typeface="Avenir Next"/>
                <a:ea typeface="Avenir Next"/>
                <a:cs typeface="Avenir Next"/>
              </a:defRPr>
            </a:lvl3pPr>
            <a:lvl4pPr>
              <a:defRPr sz="2100" b="0">
                <a:solidFill>
                  <a:srgbClr val="10232E"/>
                </a:solidFill>
                <a:latin typeface="Avenir Next"/>
                <a:ea typeface="Avenir Next"/>
                <a:cs typeface="Avenir Next"/>
              </a:defRPr>
            </a:lvl4pPr>
            <a:lvl5pPr>
              <a:defRPr sz="2100" b="0">
                <a:solidFill>
                  <a:srgbClr val="10232E"/>
                </a:solidFill>
                <a:latin typeface="Avenir Next"/>
                <a:ea typeface="Avenir Next"/>
                <a:cs typeface="Avenir Next"/>
              </a:defRPr>
            </a:lvl5pPr>
            <a:lvl6pPr>
              <a:defRPr sz="2100" b="0">
                <a:solidFill>
                  <a:srgbClr val="10232E"/>
                </a:solidFill>
                <a:latin typeface="Avenir Next"/>
                <a:ea typeface="Avenir Next"/>
                <a:cs typeface="Avenir Next"/>
              </a:defRPr>
            </a:lvl6pPr>
            <a:lvl7pPr>
              <a:defRPr sz="2100" b="0">
                <a:solidFill>
                  <a:srgbClr val="10232E"/>
                </a:solidFill>
                <a:latin typeface="Avenir Next"/>
                <a:ea typeface="Avenir Next"/>
                <a:cs typeface="Avenir Next"/>
              </a:defRPr>
            </a:lvl7pPr>
            <a:lvl8pPr>
              <a:defRPr sz="2100" b="0">
                <a:solidFill>
                  <a:srgbClr val="10232E"/>
                </a:solidFill>
                <a:latin typeface="Avenir Next"/>
                <a:ea typeface="Avenir Next"/>
                <a:cs typeface="Avenir Next"/>
              </a:defRPr>
            </a:lvl8pPr>
            <a:lvl9pPr>
              <a:defRPr sz="2100"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Prepare target balances: 10 test ETH plus fixture tokens and NFTs</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wallet_watchAsset requests display; it does not create chain balances</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deploy:lab checks or deploys fixtures on an existing local chain</a:t>
            </a:r>
          </a:p>
          <a:p xmlns:a="http://schemas.openxmlformats.org/drawingml/2006/main">
            <a:pPr marL="228600" indent="-114300">
              <a:spcAft>
                <a:spcPts val="1500"/>
              </a:spcAft>
              <a:buChar char="•"/>
              <a:defRPr sz="2100" b="0">
                <a:solidFill>
                  <a:srgbClr val="10232E"/>
                </a:solidFill>
                <a:latin typeface="Avenir Next"/>
                <a:ea typeface="Avenir Next"/>
                <a:cs typeface="Avenir Next"/>
              </a:defRPr>
            </a:pPr>
            <a:r>
              <a:rPr sz="2100">
                <a:solidFill>
                  <a:srgbClr val="10232E"/>
                </a:solidFill>
                <a:latin typeface="Avenir Next"/>
                <a:ea typeface="Avenir Next"/>
                <a:cs typeface="Avenir Next"/>
              </a:rPr>
              <a:t>Router approvals, deposits and positions need separate wallet consent</a:t>
            </a:r>
          </a:p>
        </p:txBody>
      </p:sp>
      <p:sp>
        <p:nvSpPr>
          <p:cNvPr id="5" name="footer">
            <a:extLst xmlns:a="http://schemas.openxmlformats.org/drawingml/2006/main">
              <a:ext uri="{FF2B5EF4-FFF2-40B4-BE49-F238E27FC236}">
                <a16:creationId xmlns:a16="http://schemas.microsoft.com/office/drawing/2014/main" id="{58D00F41-C89E-46B0-BE21-4A36E8490CE2}"/>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24 / 30</a:t>
            </a:r>
          </a:p>
        </p:txBody>
      </p:sp>
    </p:spTree>
    <p:extLst>
      <p:ext uri="{BB962C8B-B14F-4D97-AF65-F5344CB8AC3E}">
        <p14:creationId xmlns:p14="http://schemas.microsoft.com/office/powerpoint/2010/main" val="1436060385"/>
      </p:ext>
    </p:extLst>
  </p:cSld>
</p:sld>
</file>

<file path=ppt/slides/slide25.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F201F52-0B8B-4F31-9F90-C95E1AFFDEDC}"/>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Recommended Snap demonstration and acceptance</a:t>
            </a:r>
          </a:p>
        </p:txBody>
      </p:sp>
      <p:sp>
        <p:nvSpPr>
          <p:cNvPr id="3" name="summary">
            <a:extLst xmlns:a="http://schemas.openxmlformats.org/drawingml/2006/main">
              <a:ext uri="{FF2B5EF4-FFF2-40B4-BE49-F238E27FC236}">
                <a16:creationId xmlns:a16="http://schemas.microsoft.com/office/drawing/2014/main" id="{6ECBA642-6E05-4AB2-B54F-FF06526B412F}"/>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Verify the wallet outcome and actual Snap delivery separately</a:t>
            </a:r>
          </a:p>
        </p:txBody>
      </p:sp>
      <p:sp>
        <p:nvSpPr>
          <p:cNvPr id="4" name="step-number-0">
            <a:extLst xmlns:a="http://schemas.openxmlformats.org/drawingml/2006/main">
              <a:ext uri="{FF2B5EF4-FFF2-40B4-BE49-F238E27FC236}">
                <a16:creationId xmlns:a16="http://schemas.microsoft.com/office/drawing/2014/main" id="{8B6FAB69-B2C9-4E7A-ADCE-3A796D63B059}"/>
              </a:ext>
            </a:extLst>
          </p:cNvPr>
          <p:cNvSpPr>
            <a:spLocks xmlns:a="http://schemas.openxmlformats.org/drawingml/2006/main" noGrp="1"/>
          </p:cNvSpPr>
          <p:nvPr/>
        </p:nvSpPr>
        <p:spPr>
          <a:xfrm xmlns:a="http://schemas.openxmlformats.org/drawingml/2006/main">
            <a:off x="685800" y="255270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01</a:t>
            </a:r>
          </a:p>
        </p:txBody>
      </p:sp>
      <p:sp>
        <p:nvSpPr>
          <p:cNvPr id="5" name="step-content-0">
            <a:extLst xmlns:a="http://schemas.openxmlformats.org/drawingml/2006/main">
              <a:ext uri="{FF2B5EF4-FFF2-40B4-BE49-F238E27FC236}">
                <a16:creationId xmlns:a16="http://schemas.microsoft.com/office/drawing/2014/main" id="{15581252-FAD3-4841-B136-E648C3DF3D2B}"/>
              </a:ext>
            </a:extLst>
          </p:cNvPr>
          <p:cNvSpPr>
            <a:spLocks xmlns:a="http://schemas.openxmlformats.org/drawingml/2006/main" noGrp="1"/>
          </p:cNvSpPr>
          <p:nvPr/>
        </p:nvSpPr>
        <p:spPr>
          <a:xfrm xmlns:a="http://schemas.openxmlformats.org/drawingml/2006/main">
            <a:off x="1619250" y="2562225"/>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Connect a test account, install/pair the Snap and verify health</a:t>
            </a:r>
          </a:p>
        </p:txBody>
      </p:sp>
      <p:sp>
        <p:nvSpPr>
          <p:cNvPr id="6" name="step-number-1">
            <a:extLst xmlns:a="http://schemas.openxmlformats.org/drawingml/2006/main">
              <a:ext uri="{FF2B5EF4-FFF2-40B4-BE49-F238E27FC236}">
                <a16:creationId xmlns:a16="http://schemas.microsoft.com/office/drawing/2014/main" id="{A0CE0419-B40A-466F-96AF-8E10D1F902CF}"/>
              </a:ext>
            </a:extLst>
          </p:cNvPr>
          <p:cNvSpPr>
            <a:spLocks xmlns:a="http://schemas.openxmlformats.org/drawingml/2006/main" noGrp="1"/>
          </p:cNvSpPr>
          <p:nvPr/>
        </p:nvSpPr>
        <p:spPr>
          <a:xfrm xmlns:a="http://schemas.openxmlformats.org/drawingml/2006/main">
            <a:off x="685800" y="341947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02</a:t>
            </a:r>
          </a:p>
        </p:txBody>
      </p:sp>
      <p:sp>
        <p:nvSpPr>
          <p:cNvPr id="7" name="step-content-1">
            <a:extLst xmlns:a="http://schemas.openxmlformats.org/drawingml/2006/main">
              <a:ext uri="{FF2B5EF4-FFF2-40B4-BE49-F238E27FC236}">
                <a16:creationId xmlns:a16="http://schemas.microsoft.com/office/drawing/2014/main" id="{49D79AEE-5BFF-4FE4-8A82-6E15F24CD01D}"/>
              </a:ext>
            </a:extLst>
          </p:cNvPr>
          <p:cNvSpPr>
            <a:spLocks xmlns:a="http://schemas.openxmlformats.org/drawingml/2006/main" noGrp="1"/>
          </p:cNvSpPr>
          <p:nvPr/>
        </p:nvSpPr>
        <p:spPr>
          <a:xfrm xmlns:a="http://schemas.openxmlformats.org/drawingml/2006/main">
            <a:off x="1619250" y="342900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Prepare assets; compare unlimited, finite and revoked approval</a:t>
            </a:r>
          </a:p>
        </p:txBody>
      </p:sp>
      <p:sp>
        <p:nvSpPr>
          <p:cNvPr id="8" name="step-number-2">
            <a:extLst xmlns:a="http://schemas.openxmlformats.org/drawingml/2006/main">
              <a:ext uri="{FF2B5EF4-FFF2-40B4-BE49-F238E27FC236}">
                <a16:creationId xmlns:a16="http://schemas.microsoft.com/office/drawing/2014/main" id="{7F84FF86-BB0D-4CD2-8846-C61EE711E900}"/>
              </a:ext>
            </a:extLst>
          </p:cNvPr>
          <p:cNvSpPr>
            <a:spLocks xmlns:a="http://schemas.openxmlformats.org/drawingml/2006/main" noGrp="1"/>
          </p:cNvSpPr>
          <p:nvPr/>
        </p:nvSpPr>
        <p:spPr>
          <a:xfrm xmlns:a="http://schemas.openxmlformats.org/drawingml/2006/main">
            <a:off x="685800" y="428625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03</a:t>
            </a:r>
          </a:p>
        </p:txBody>
      </p:sp>
      <p:sp>
        <p:nvSpPr>
          <p:cNvPr id="9" name="step-content-2">
            <a:extLst xmlns:a="http://schemas.openxmlformats.org/drawingml/2006/main">
              <a:ext uri="{FF2B5EF4-FFF2-40B4-BE49-F238E27FC236}">
                <a16:creationId xmlns:a16="http://schemas.microsoft.com/office/drawing/2014/main" id="{E468EAE9-9BB6-487F-8D50-E4AC5227D64F}"/>
              </a:ext>
            </a:extLst>
          </p:cNvPr>
          <p:cNvSpPr>
            <a:spLocks xmlns:a="http://schemas.openxmlformats.org/drawingml/2006/main" noGrp="1"/>
          </p:cNvSpPr>
          <p:nvPr/>
        </p:nvSpPr>
        <p:spPr>
          <a:xfrm xmlns:a="http://schemas.openxmlformats.org/drawingml/2006/main">
            <a:off x="1619250" y="4295775"/>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Then test transfers, NFTs, Permit, swaps and control cases</a:t>
            </a:r>
          </a:p>
        </p:txBody>
      </p:sp>
      <p:sp>
        <p:nvSpPr>
          <p:cNvPr id="10" name="step-number-3">
            <a:extLst xmlns:a="http://schemas.openxmlformats.org/drawingml/2006/main">
              <a:ext uri="{FF2B5EF4-FFF2-40B4-BE49-F238E27FC236}">
                <a16:creationId xmlns:a16="http://schemas.microsoft.com/office/drawing/2014/main" id="{980233AB-13A0-4142-8986-6BA5BA3BF665}"/>
              </a:ext>
            </a:extLst>
          </p:cNvPr>
          <p:cNvSpPr>
            <a:spLocks xmlns:a="http://schemas.openxmlformats.org/drawingml/2006/main" noGrp="1"/>
          </p:cNvSpPr>
          <p:nvPr/>
        </p:nvSpPr>
        <p:spPr>
          <a:xfrm xmlns:a="http://schemas.openxmlformats.org/drawingml/2006/main">
            <a:off x="685800" y="515302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E7668"/>
                </a:solidFill>
                <a:latin typeface="Avenir Next"/>
                <a:ea typeface="Avenir Next"/>
                <a:cs typeface="Avenir Next"/>
              </a:defRPr>
            </a:defPPr>
            <a:lvl1pPr>
              <a:defRPr sz="2550" b="1">
                <a:solidFill>
                  <a:srgbClr val="0E7668"/>
                </a:solidFill>
                <a:latin typeface="Avenir Next"/>
                <a:ea typeface="Avenir Next"/>
                <a:cs typeface="Avenir Next"/>
              </a:defRPr>
            </a:lvl1pPr>
            <a:lvl2pPr>
              <a:defRPr sz="2550" b="1">
                <a:solidFill>
                  <a:srgbClr val="0E7668"/>
                </a:solidFill>
                <a:latin typeface="Avenir Next"/>
                <a:ea typeface="Avenir Next"/>
                <a:cs typeface="Avenir Next"/>
              </a:defRPr>
            </a:lvl2pPr>
            <a:lvl3pPr>
              <a:defRPr sz="2550" b="1">
                <a:solidFill>
                  <a:srgbClr val="0E7668"/>
                </a:solidFill>
                <a:latin typeface="Avenir Next"/>
                <a:ea typeface="Avenir Next"/>
                <a:cs typeface="Avenir Next"/>
              </a:defRPr>
            </a:lvl3pPr>
            <a:lvl4pPr>
              <a:defRPr sz="2550" b="1">
                <a:solidFill>
                  <a:srgbClr val="0E7668"/>
                </a:solidFill>
                <a:latin typeface="Avenir Next"/>
                <a:ea typeface="Avenir Next"/>
                <a:cs typeface="Avenir Next"/>
              </a:defRPr>
            </a:lvl4pPr>
            <a:lvl5pPr>
              <a:defRPr sz="2550" b="1">
                <a:solidFill>
                  <a:srgbClr val="0E7668"/>
                </a:solidFill>
                <a:latin typeface="Avenir Next"/>
                <a:ea typeface="Avenir Next"/>
                <a:cs typeface="Avenir Next"/>
              </a:defRPr>
            </a:lvl5pPr>
            <a:lvl6pPr>
              <a:defRPr sz="2550" b="1">
                <a:solidFill>
                  <a:srgbClr val="0E7668"/>
                </a:solidFill>
                <a:latin typeface="Avenir Next"/>
                <a:ea typeface="Avenir Next"/>
                <a:cs typeface="Avenir Next"/>
              </a:defRPr>
            </a:lvl6pPr>
            <a:lvl7pPr>
              <a:defRPr sz="2550" b="1">
                <a:solidFill>
                  <a:srgbClr val="0E7668"/>
                </a:solidFill>
                <a:latin typeface="Avenir Next"/>
                <a:ea typeface="Avenir Next"/>
                <a:cs typeface="Avenir Next"/>
              </a:defRPr>
            </a:lvl7pPr>
            <a:lvl8pPr>
              <a:defRPr sz="2550" b="1">
                <a:solidFill>
                  <a:srgbClr val="0E7668"/>
                </a:solidFill>
                <a:latin typeface="Avenir Next"/>
                <a:ea typeface="Avenir Next"/>
                <a:cs typeface="Avenir Next"/>
              </a:defRPr>
            </a:lvl8pPr>
            <a:lvl9pPr>
              <a:defRPr sz="2550" b="1">
                <a:solidFill>
                  <a:srgbClr val="0E7668"/>
                </a:solidFill>
                <a:latin typeface="Avenir Next"/>
                <a:ea typeface="Avenir Next"/>
                <a:cs typeface="Avenir Next"/>
              </a:defRPr>
            </a:lvl9pPr>
          </a:lstStyle>
          <a:p xmlns:a="http://schemas.openxmlformats.org/drawingml/2006/main">
            <a:pPr>
              <a:defRPr sz="2550" b="1">
                <a:solidFill>
                  <a:srgbClr val="0E7668"/>
                </a:solidFill>
                <a:latin typeface="Avenir Next"/>
                <a:ea typeface="Avenir Next"/>
                <a:cs typeface="Avenir Next"/>
              </a:defRPr>
            </a:pPr>
            <a:r>
              <a:rPr sz="2550" b="1">
                <a:solidFill>
                  <a:srgbClr val="0E7668"/>
                </a:solidFill>
                <a:latin typeface="Avenir Next"/>
                <a:ea typeface="Avenir Next"/>
                <a:cs typeface="Avenir Next"/>
              </a:rPr>
              <a:t>04</a:t>
            </a:r>
          </a:p>
        </p:txBody>
      </p:sp>
      <p:sp>
        <p:nvSpPr>
          <p:cNvPr id="11" name="step-content-3">
            <a:extLst xmlns:a="http://schemas.openxmlformats.org/drawingml/2006/main">
              <a:ext uri="{FF2B5EF4-FFF2-40B4-BE49-F238E27FC236}">
                <a16:creationId xmlns:a16="http://schemas.microsoft.com/office/drawing/2014/main" id="{B4E804DA-F39D-4015-9886-586A22FF8F0A}"/>
              </a:ext>
            </a:extLst>
          </p:cNvPr>
          <p:cNvSpPr>
            <a:spLocks xmlns:a="http://schemas.openxmlformats.org/drawingml/2006/main" noGrp="1"/>
          </p:cNvSpPr>
          <p:nvPr/>
        </p:nvSpPr>
        <p:spPr>
          <a:xfrm xmlns:a="http://schemas.openxmlformats.org/drawingml/2006/main">
            <a:off x="1619250" y="516255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a:defRPr sz="2025" b="0">
                <a:solidFill>
                  <a:srgbClr val="10232E"/>
                </a:solidFill>
                <a:latin typeface="Avenir Next"/>
                <a:ea typeface="Avenir Next"/>
                <a:cs typeface="Avenir Next"/>
              </a:defRPr>
            </a:pPr>
            <a:r>
              <a:rPr sz="2025" b="0">
                <a:solidFill>
                  <a:srgbClr val="10232E"/>
                </a:solidFill>
                <a:latin typeface="Avenir Next"/>
                <a:ea typeface="Avenir Next"/>
                <a:cs typeface="Avenir Next"/>
              </a:rPr>
              <a:t>Check report ID, paired-snap capture and wallet confirm/cancel outcome</a:t>
            </a:r>
          </a:p>
        </p:txBody>
      </p:sp>
      <p:sp>
        <p:nvSpPr>
          <p:cNvPr id="12" name="footer">
            <a:extLst xmlns:a="http://schemas.openxmlformats.org/drawingml/2006/main">
              <a:ext uri="{FF2B5EF4-FFF2-40B4-BE49-F238E27FC236}">
                <a16:creationId xmlns:a16="http://schemas.microsoft.com/office/drawing/2014/main" id="{E9BFB84F-B4BB-4DED-904C-17C2AFBEF50E}"/>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25 / 30</a:t>
            </a:r>
          </a:p>
        </p:txBody>
      </p:sp>
    </p:spTree>
    <p:extLst>
      <p:ext uri="{BB962C8B-B14F-4D97-AF65-F5344CB8AC3E}">
        <p14:creationId xmlns:p14="http://schemas.microsoft.com/office/powerpoint/2010/main" val="30238697"/>
      </p:ext>
    </p:extLst>
  </p:cSld>
</p:sld>
</file>

<file path=ppt/slides/slide26.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7386DB93-4635-44B3-8943-4849CF22D307}"/>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Reports, outcomes and privacy</a:t>
            </a:r>
          </a:p>
        </p:txBody>
      </p:sp>
      <p:sp>
        <p:nvSpPr>
          <p:cNvPr id="3" name="summary">
            <a:extLst xmlns:a="http://schemas.openxmlformats.org/drawingml/2006/main">
              <a:ext uri="{FF2B5EF4-FFF2-40B4-BE49-F238E27FC236}">
                <a16:creationId xmlns:a16="http://schemas.microsoft.com/office/drawing/2014/main" id="{6BD4315E-51A7-4ECC-ACDA-6C4E0F469E0A}"/>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Assessment, wallet outcome and chain execution are separate facts</a:t>
            </a:r>
          </a:p>
        </p:txBody>
      </p:sp>
      <p:sp>
        <p:nvSpPr>
          <p:cNvPr id="4" name="compare-left">
            <a:extLst xmlns:a="http://schemas.openxmlformats.org/drawingml/2006/main">
              <a:ext uri="{FF2B5EF4-FFF2-40B4-BE49-F238E27FC236}">
                <a16:creationId xmlns:a16="http://schemas.microsoft.com/office/drawing/2014/main" id="{763691CD-9238-49BF-B289-4AC1C63C6A05}"/>
              </a:ext>
            </a:extLst>
          </p:cNvPr>
          <p:cNvSpPr>
            <a:spLocks xmlns:a="http://schemas.openxmlformats.org/drawingml/2006/main" noGrp="1"/>
          </p:cNvSpPr>
          <p:nvPr/>
        </p:nvSpPr>
        <p:spPr>
          <a:xfrm xmlns:a="http://schemas.openxmlformats.org/drawingml/2006/main">
            <a:off x="647700" y="2552700"/>
            <a:ext cx="5143500"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Reports store parsed input, evidence, Muse output and unresolved checks</a:t>
            </a:r>
          </a:p>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Canceling can still leave a completed pre-sign report</a:t>
            </a:r>
          </a:p>
        </p:txBody>
      </p:sp>
      <p:sp>
        <p:nvSpPr>
          <p:cNvPr id="5" name="compare-right">
            <a:extLst xmlns:a="http://schemas.openxmlformats.org/drawingml/2006/main">
              <a:ext uri="{FF2B5EF4-FFF2-40B4-BE49-F238E27FC236}">
                <a16:creationId xmlns:a16="http://schemas.microsoft.com/office/drawing/2014/main" id="{D4AFB390-09FE-4E94-A64D-064EB3ED5C39}"/>
              </a:ext>
            </a:extLst>
          </p:cNvPr>
          <p:cNvSpPr>
            <a:spLocks xmlns:a="http://schemas.openxmlformats.org/drawingml/2006/main" noGrp="1"/>
          </p:cNvSpPr>
          <p:nvPr/>
        </p:nvSpPr>
        <p:spPr>
          <a:xfrm xmlns:a="http://schemas.openxmlformats.org/drawingml/2006/main">
            <a:off x="6429375" y="2552700"/>
            <a:ext cx="5048250"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Generated lab asset signatures are format-checked, then discarded in-browser</a:t>
            </a:r>
          </a:p>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Hosted reports are owner-scoped, with credential revocation and deletion</a:t>
            </a:r>
          </a:p>
        </p:txBody>
      </p:sp>
      <p:sp>
        <p:nvSpPr>
          <p:cNvPr id="6" name="footer">
            <a:extLst xmlns:a="http://schemas.openxmlformats.org/drawingml/2006/main">
              <a:ext uri="{FF2B5EF4-FFF2-40B4-BE49-F238E27FC236}">
                <a16:creationId xmlns:a16="http://schemas.microsoft.com/office/drawing/2014/main" id="{4A26B126-A4C9-4EBE-9E5A-D67E0AEB9877}"/>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26 / 30</a:t>
            </a:r>
          </a:p>
        </p:txBody>
      </p:sp>
    </p:spTree>
    <p:extLst>
      <p:ext uri="{BB962C8B-B14F-4D97-AF65-F5344CB8AC3E}">
        <p14:creationId xmlns:p14="http://schemas.microsoft.com/office/powerpoint/2010/main" val="625391585"/>
      </p:ext>
    </p:extLst>
  </p:cSld>
</p:sld>
</file>

<file path=ppt/slides/slide27.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A588DFB5-AA6B-4DC4-B1EB-E109CEE00032}"/>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Public-network use and optional hosted mode</a:t>
            </a:r>
          </a:p>
        </p:txBody>
      </p:sp>
      <p:sp>
        <p:nvSpPr>
          <p:cNvPr id="3" name="summary">
            <a:extLst xmlns:a="http://schemas.openxmlformats.org/drawingml/2006/main">
              <a:ext uri="{FF2B5EF4-FFF2-40B4-BE49-F238E27FC236}">
                <a16:creationId xmlns:a16="http://schemas.microsoft.com/office/drawing/2014/main" id="{28E57893-3FFE-490F-BF0C-A5CD3747DC54}"/>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Use the same account across networks; balances are separate</a:t>
            </a:r>
          </a:p>
        </p:txBody>
      </p:sp>
      <p:sp>
        <p:nvSpPr>
          <p:cNvPr id="4" name="compare-left">
            <a:extLst xmlns:a="http://schemas.openxmlformats.org/drawingml/2006/main">
              <a:ext uri="{FF2B5EF4-FFF2-40B4-BE49-F238E27FC236}">
                <a16:creationId xmlns:a16="http://schemas.microsoft.com/office/drawing/2014/main" id="{60DC33C0-8ECD-4FFA-A4BF-9B7B19A55C00}"/>
              </a:ext>
            </a:extLst>
          </p:cNvPr>
          <p:cNvSpPr>
            <a:spLocks xmlns:a="http://schemas.openxmlformats.org/drawingml/2006/main" noGrp="1"/>
          </p:cNvSpPr>
          <p:nvPr/>
        </p:nvSpPr>
        <p:spPr>
          <a:xfrm xmlns:a="http://schemas.openxmlformats.org/drawingml/2006/main">
            <a:off x="647700" y="2552700"/>
            <a:ext cx="5143500"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Start on Sepolia with a dedicated account and verify RPC/pairing/delivery</a:t>
            </a:r>
          </a:p>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Public network switching calls the wallet directly without Muse</a:t>
            </a:r>
          </a:p>
        </p:txBody>
      </p:sp>
      <p:sp>
        <p:nvSpPr>
          <p:cNvPr id="5" name="compare-right">
            <a:extLst xmlns:a="http://schemas.openxmlformats.org/drawingml/2006/main">
              <a:ext uri="{FF2B5EF4-FFF2-40B4-BE49-F238E27FC236}">
                <a16:creationId xmlns:a16="http://schemas.microsoft.com/office/drawing/2014/main" id="{430F72E2-A6D0-4ABF-8DB4-DCC263985E5E}"/>
              </a:ext>
            </a:extLst>
          </p:cNvPr>
          <p:cNvSpPr>
            <a:spLocks xmlns:a="http://schemas.openxmlformats.org/drawingml/2006/main" noGrp="1"/>
          </p:cNvSpPr>
          <p:nvPr/>
        </p:nvSpPr>
        <p:spPr>
          <a:xfrm xmlns:a="http://schemas.openxmlformats.org/drawingml/2006/main">
            <a:off x="6429375" y="2552700"/>
            <a:ext cx="5048250"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Initiate asset requests in external dApps and review each wallet insight</a:t>
            </a:r>
          </a:p>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Hosting needs HTTPS, identity login, Snap distribution and browser acceptance</a:t>
            </a:r>
          </a:p>
        </p:txBody>
      </p:sp>
      <p:sp>
        <p:nvSpPr>
          <p:cNvPr id="6" name="footer">
            <a:extLst xmlns:a="http://schemas.openxmlformats.org/drawingml/2006/main">
              <a:ext uri="{FF2B5EF4-FFF2-40B4-BE49-F238E27FC236}">
                <a16:creationId xmlns:a16="http://schemas.microsoft.com/office/drawing/2014/main" id="{236EEF75-DBD5-41A3-BC63-FD83B1E6334C}"/>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27 / 30</a:t>
            </a:r>
          </a:p>
        </p:txBody>
      </p:sp>
    </p:spTree>
    <p:extLst>
      <p:ext uri="{BB962C8B-B14F-4D97-AF65-F5344CB8AC3E}">
        <p14:creationId xmlns:p14="http://schemas.microsoft.com/office/powerpoint/2010/main" val="531181942"/>
      </p:ext>
    </p:extLst>
  </p:cSld>
</p:sld>
</file>

<file path=ppt/slides/slide28.xml><?xml version="1.0" encoding="utf-8"?>
<p:sld xmlns:p="http://schemas.openxmlformats.org/presentationml/2006/main">
  <p:cSld>
    <p:bg>
      <p:bgPr>
        <a:solidFill xmlns:a="http://schemas.openxmlformats.org/drawingml/2006/main">
          <a:srgbClr val="0A1118"/>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1B2418DE-A728-4EA2-97DD-8C92FF6B21E0}"/>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Avenir Next"/>
                <a:ea typeface="Avenir Next"/>
                <a:cs typeface="Avenir Next"/>
              </a:defRPr>
            </a:defPPr>
            <a:lvl1pPr>
              <a:defRPr sz="3300" b="1">
                <a:solidFill>
                  <a:srgbClr val="FFFFFF"/>
                </a:solidFill>
                <a:latin typeface="Avenir Next"/>
                <a:ea typeface="Avenir Next"/>
                <a:cs typeface="Avenir Next"/>
              </a:defRPr>
            </a:lvl1pPr>
            <a:lvl2pPr>
              <a:defRPr sz="3300" b="1">
                <a:solidFill>
                  <a:srgbClr val="FFFFFF"/>
                </a:solidFill>
                <a:latin typeface="Avenir Next"/>
                <a:ea typeface="Avenir Next"/>
                <a:cs typeface="Avenir Next"/>
              </a:defRPr>
            </a:lvl2pPr>
            <a:lvl3pPr>
              <a:defRPr sz="3300" b="1">
                <a:solidFill>
                  <a:srgbClr val="FFFFFF"/>
                </a:solidFill>
                <a:latin typeface="Avenir Next"/>
                <a:ea typeface="Avenir Next"/>
                <a:cs typeface="Avenir Next"/>
              </a:defRPr>
            </a:lvl3pPr>
            <a:lvl4pPr>
              <a:defRPr sz="3300" b="1">
                <a:solidFill>
                  <a:srgbClr val="FFFFFF"/>
                </a:solidFill>
                <a:latin typeface="Avenir Next"/>
                <a:ea typeface="Avenir Next"/>
                <a:cs typeface="Avenir Next"/>
              </a:defRPr>
            </a:lvl4pPr>
            <a:lvl5pPr>
              <a:defRPr sz="3300" b="1">
                <a:solidFill>
                  <a:srgbClr val="FFFFFF"/>
                </a:solidFill>
                <a:latin typeface="Avenir Next"/>
                <a:ea typeface="Avenir Next"/>
                <a:cs typeface="Avenir Next"/>
              </a:defRPr>
            </a:lvl5pPr>
            <a:lvl6pPr>
              <a:defRPr sz="3300" b="1">
                <a:solidFill>
                  <a:srgbClr val="FFFFFF"/>
                </a:solidFill>
                <a:latin typeface="Avenir Next"/>
                <a:ea typeface="Avenir Next"/>
                <a:cs typeface="Avenir Next"/>
              </a:defRPr>
            </a:lvl6pPr>
            <a:lvl7pPr>
              <a:defRPr sz="3300" b="1">
                <a:solidFill>
                  <a:srgbClr val="FFFFFF"/>
                </a:solidFill>
                <a:latin typeface="Avenir Next"/>
                <a:ea typeface="Avenir Next"/>
                <a:cs typeface="Avenir Next"/>
              </a:defRPr>
            </a:lvl7pPr>
            <a:lvl8pPr>
              <a:defRPr sz="3300" b="1">
                <a:solidFill>
                  <a:srgbClr val="FFFFFF"/>
                </a:solidFill>
                <a:latin typeface="Avenir Next"/>
                <a:ea typeface="Avenir Next"/>
                <a:cs typeface="Avenir Next"/>
              </a:defRPr>
            </a:lvl8pPr>
            <a:lvl9pPr>
              <a:defRPr sz="3300" b="1">
                <a:solidFill>
                  <a:srgbClr val="FFFFFF"/>
                </a:solidFill>
                <a:latin typeface="Avenir Next"/>
                <a:ea typeface="Avenir Next"/>
                <a:cs typeface="Avenir Next"/>
              </a:defRPr>
            </a:lvl9pPr>
          </a:lstStyle>
          <a:p xmlns:a="http://schemas.openxmlformats.org/drawingml/2006/main">
            <a:pPr>
              <a:defRPr sz="3300" b="1">
                <a:solidFill>
                  <a:srgbClr val="FFFFFF"/>
                </a:solidFill>
                <a:latin typeface="Avenir Next"/>
                <a:ea typeface="Avenir Next"/>
                <a:cs typeface="Avenir Next"/>
              </a:defRPr>
            </a:pPr>
            <a:r>
              <a:rPr sz="3300" b="1">
                <a:solidFill>
                  <a:srgbClr val="FFFFFF"/>
                </a:solidFill>
                <a:latin typeface="Avenir Next"/>
                <a:ea typeface="Avenir Next"/>
                <a:cs typeface="Avenir Next"/>
              </a:rPr>
              <a:t>What has been validated—and what has not</a:t>
            </a:r>
          </a:p>
        </p:txBody>
      </p:sp>
      <p:sp>
        <p:nvSpPr>
          <p:cNvPr id="3" name="summary">
            <a:extLst xmlns:a="http://schemas.openxmlformats.org/drawingml/2006/main">
              <a:ext uri="{FF2B5EF4-FFF2-40B4-BE49-F238E27FC236}">
                <a16:creationId xmlns:a16="http://schemas.microsoft.com/office/drawing/2014/main" id="{2E05BC4A-FCA7-451D-9378-F3EF78277221}"/>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B7C8D2"/>
                </a:solidFill>
                <a:latin typeface="Avenir Next"/>
                <a:ea typeface="Avenir Next"/>
                <a:cs typeface="Avenir Next"/>
              </a:defRPr>
            </a:defPPr>
            <a:lvl1pPr>
              <a:defRPr sz="1950" b="0">
                <a:solidFill>
                  <a:srgbClr val="B7C8D2"/>
                </a:solidFill>
                <a:latin typeface="Avenir Next"/>
                <a:ea typeface="Avenir Next"/>
                <a:cs typeface="Avenir Next"/>
              </a:defRPr>
            </a:lvl1pPr>
            <a:lvl2pPr>
              <a:defRPr sz="1950" b="0">
                <a:solidFill>
                  <a:srgbClr val="B7C8D2"/>
                </a:solidFill>
                <a:latin typeface="Avenir Next"/>
                <a:ea typeface="Avenir Next"/>
                <a:cs typeface="Avenir Next"/>
              </a:defRPr>
            </a:lvl2pPr>
            <a:lvl3pPr>
              <a:defRPr sz="1950" b="0">
                <a:solidFill>
                  <a:srgbClr val="B7C8D2"/>
                </a:solidFill>
                <a:latin typeface="Avenir Next"/>
                <a:ea typeface="Avenir Next"/>
                <a:cs typeface="Avenir Next"/>
              </a:defRPr>
            </a:lvl3pPr>
            <a:lvl4pPr>
              <a:defRPr sz="1950" b="0">
                <a:solidFill>
                  <a:srgbClr val="B7C8D2"/>
                </a:solidFill>
                <a:latin typeface="Avenir Next"/>
                <a:ea typeface="Avenir Next"/>
                <a:cs typeface="Avenir Next"/>
              </a:defRPr>
            </a:lvl4pPr>
            <a:lvl5pPr>
              <a:defRPr sz="1950" b="0">
                <a:solidFill>
                  <a:srgbClr val="B7C8D2"/>
                </a:solidFill>
                <a:latin typeface="Avenir Next"/>
                <a:ea typeface="Avenir Next"/>
                <a:cs typeface="Avenir Next"/>
              </a:defRPr>
            </a:lvl5pPr>
            <a:lvl6pPr>
              <a:defRPr sz="1950" b="0">
                <a:solidFill>
                  <a:srgbClr val="B7C8D2"/>
                </a:solidFill>
                <a:latin typeface="Avenir Next"/>
                <a:ea typeface="Avenir Next"/>
                <a:cs typeface="Avenir Next"/>
              </a:defRPr>
            </a:lvl6pPr>
            <a:lvl7pPr>
              <a:defRPr sz="1950" b="0">
                <a:solidFill>
                  <a:srgbClr val="B7C8D2"/>
                </a:solidFill>
                <a:latin typeface="Avenir Next"/>
                <a:ea typeface="Avenir Next"/>
                <a:cs typeface="Avenir Next"/>
              </a:defRPr>
            </a:lvl7pPr>
            <a:lvl8pPr>
              <a:defRPr sz="1950" b="0">
                <a:solidFill>
                  <a:srgbClr val="B7C8D2"/>
                </a:solidFill>
                <a:latin typeface="Avenir Next"/>
                <a:ea typeface="Avenir Next"/>
                <a:cs typeface="Avenir Next"/>
              </a:defRPr>
            </a:lvl8pPr>
            <a:lvl9pPr>
              <a:defRPr sz="1950" b="0">
                <a:solidFill>
                  <a:srgbClr val="B7C8D2"/>
                </a:solidFill>
                <a:latin typeface="Avenir Next"/>
                <a:ea typeface="Avenir Next"/>
                <a:cs typeface="Avenir Next"/>
              </a:defRPr>
            </a:lvl9pPr>
          </a:lstStyle>
          <a:p xmlns:a="http://schemas.openxmlformats.org/drawingml/2006/main">
            <a:pPr>
              <a:defRPr sz="1950" b="0">
                <a:solidFill>
                  <a:srgbClr val="B7C8D2"/>
                </a:solidFill>
                <a:latin typeface="Avenir Next"/>
                <a:ea typeface="Avenir Next"/>
                <a:cs typeface="Avenir Next"/>
              </a:defRPr>
            </a:pPr>
            <a:r>
              <a:rPr sz="1950" b="0">
                <a:solidFill>
                  <a:srgbClr val="B7C8D2"/>
                </a:solidFill>
                <a:latin typeface="Avenir Next"/>
                <a:ea typeface="Avenir Next"/>
                <a:cs typeface="Avenir Next"/>
              </a:rPr>
              <a:t>Engineering tests validate paths, not detection effectiveness</a:t>
            </a:r>
          </a:p>
        </p:txBody>
      </p:sp>
      <p:sp>
        <p:nvSpPr>
          <p:cNvPr id="4" name="metric-0">
            <a:extLst xmlns:a="http://schemas.openxmlformats.org/drawingml/2006/main">
              <a:ext uri="{FF2B5EF4-FFF2-40B4-BE49-F238E27FC236}">
                <a16:creationId xmlns:a16="http://schemas.microsoft.com/office/drawing/2014/main" id="{DC24DEB2-0989-4238-94E3-2245F1998B1F}"/>
              </a:ext>
            </a:extLst>
          </p:cNvPr>
          <p:cNvSpPr>
            <a:spLocks xmlns:a="http://schemas.openxmlformats.org/drawingml/2006/main" noGrp="1"/>
          </p:cNvSpPr>
          <p:nvPr/>
        </p:nvSpPr>
        <p:spPr>
          <a:xfrm xmlns:a="http://schemas.openxmlformats.org/drawingml/2006/main">
            <a:off x="762000" y="2533650"/>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900" b="1">
                <a:solidFill>
                  <a:srgbClr val="85E7D1"/>
                </a:solidFill>
                <a:latin typeface="Avenir Next"/>
                <a:ea typeface="Avenir Next"/>
                <a:cs typeface="Avenir Next"/>
              </a:defRPr>
            </a:defPPr>
            <a:lvl1pPr>
              <a:defRPr sz="6900" b="1">
                <a:solidFill>
                  <a:srgbClr val="85E7D1"/>
                </a:solidFill>
                <a:latin typeface="Avenir Next"/>
                <a:ea typeface="Avenir Next"/>
                <a:cs typeface="Avenir Next"/>
              </a:defRPr>
            </a:lvl1pPr>
            <a:lvl2pPr>
              <a:defRPr sz="6900" b="1">
                <a:solidFill>
                  <a:srgbClr val="85E7D1"/>
                </a:solidFill>
                <a:latin typeface="Avenir Next"/>
                <a:ea typeface="Avenir Next"/>
                <a:cs typeface="Avenir Next"/>
              </a:defRPr>
            </a:lvl2pPr>
            <a:lvl3pPr>
              <a:defRPr sz="6900" b="1">
                <a:solidFill>
                  <a:srgbClr val="85E7D1"/>
                </a:solidFill>
                <a:latin typeface="Avenir Next"/>
                <a:ea typeface="Avenir Next"/>
                <a:cs typeface="Avenir Next"/>
              </a:defRPr>
            </a:lvl3pPr>
            <a:lvl4pPr>
              <a:defRPr sz="6900" b="1">
                <a:solidFill>
                  <a:srgbClr val="85E7D1"/>
                </a:solidFill>
                <a:latin typeface="Avenir Next"/>
                <a:ea typeface="Avenir Next"/>
                <a:cs typeface="Avenir Next"/>
              </a:defRPr>
            </a:lvl4pPr>
            <a:lvl5pPr>
              <a:defRPr sz="6900" b="1">
                <a:solidFill>
                  <a:srgbClr val="85E7D1"/>
                </a:solidFill>
                <a:latin typeface="Avenir Next"/>
                <a:ea typeface="Avenir Next"/>
                <a:cs typeface="Avenir Next"/>
              </a:defRPr>
            </a:lvl5pPr>
            <a:lvl6pPr>
              <a:defRPr sz="6900" b="1">
                <a:solidFill>
                  <a:srgbClr val="85E7D1"/>
                </a:solidFill>
                <a:latin typeface="Avenir Next"/>
                <a:ea typeface="Avenir Next"/>
                <a:cs typeface="Avenir Next"/>
              </a:defRPr>
            </a:lvl6pPr>
            <a:lvl7pPr>
              <a:defRPr sz="6900" b="1">
                <a:solidFill>
                  <a:srgbClr val="85E7D1"/>
                </a:solidFill>
                <a:latin typeface="Avenir Next"/>
                <a:ea typeface="Avenir Next"/>
                <a:cs typeface="Avenir Next"/>
              </a:defRPr>
            </a:lvl7pPr>
            <a:lvl8pPr>
              <a:defRPr sz="6900" b="1">
                <a:solidFill>
                  <a:srgbClr val="85E7D1"/>
                </a:solidFill>
                <a:latin typeface="Avenir Next"/>
                <a:ea typeface="Avenir Next"/>
                <a:cs typeface="Avenir Next"/>
              </a:defRPr>
            </a:lvl8pPr>
            <a:lvl9pPr>
              <a:defRPr sz="6900" b="1">
                <a:solidFill>
                  <a:srgbClr val="85E7D1"/>
                </a:solidFill>
                <a:latin typeface="Avenir Next"/>
                <a:ea typeface="Avenir Next"/>
                <a:cs typeface="Avenir Next"/>
              </a:defRPr>
            </a:lvl9pPr>
          </a:lstStyle>
          <a:p xmlns:a="http://schemas.openxmlformats.org/drawingml/2006/main">
            <a:pPr>
              <a:defRPr sz="6900" b="1">
                <a:solidFill>
                  <a:srgbClr val="85E7D1"/>
                </a:solidFill>
                <a:latin typeface="Avenir Next"/>
                <a:ea typeface="Avenir Next"/>
                <a:cs typeface="Avenir Next"/>
              </a:defRPr>
            </a:pPr>
            <a:r>
              <a:rPr sz="6900" b="1">
                <a:solidFill>
                  <a:srgbClr val="85E7D1"/>
                </a:solidFill>
                <a:latin typeface="Avenir Next"/>
                <a:ea typeface="Avenir Next"/>
                <a:cs typeface="Avenir Next"/>
              </a:rPr>
              <a:t>441</a:t>
            </a:r>
          </a:p>
        </p:txBody>
      </p:sp>
      <p:sp>
        <p:nvSpPr>
          <p:cNvPr id="5" name="metric-label-0">
            <a:extLst xmlns:a="http://schemas.openxmlformats.org/drawingml/2006/main">
              <a:ext uri="{FF2B5EF4-FFF2-40B4-BE49-F238E27FC236}">
                <a16:creationId xmlns:a16="http://schemas.microsoft.com/office/drawing/2014/main" id="{9E8B80B0-A263-44C9-A4F2-C3D299C8269E}"/>
              </a:ext>
            </a:extLst>
          </p:cNvPr>
          <p:cNvSpPr>
            <a:spLocks xmlns:a="http://schemas.openxmlformats.org/drawingml/2006/main" noGrp="1"/>
          </p:cNvSpPr>
          <p:nvPr/>
        </p:nvSpPr>
        <p:spPr>
          <a:xfrm xmlns:a="http://schemas.openxmlformats.org/drawingml/2006/main">
            <a:off x="800100" y="37719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FFFFF"/>
                </a:solidFill>
                <a:latin typeface="Avenir Next"/>
                <a:ea typeface="Avenir Next"/>
                <a:cs typeface="Avenir Next"/>
              </a:defRPr>
            </a:defPPr>
            <a:lvl1pPr>
              <a:defRPr sz="2025" b="0">
                <a:solidFill>
                  <a:srgbClr val="FFFFFF"/>
                </a:solidFill>
                <a:latin typeface="Avenir Next"/>
                <a:ea typeface="Avenir Next"/>
                <a:cs typeface="Avenir Next"/>
              </a:defRPr>
            </a:lvl1pPr>
            <a:lvl2pPr>
              <a:defRPr sz="2025" b="0">
                <a:solidFill>
                  <a:srgbClr val="FFFFFF"/>
                </a:solidFill>
                <a:latin typeface="Avenir Next"/>
                <a:ea typeface="Avenir Next"/>
                <a:cs typeface="Avenir Next"/>
              </a:defRPr>
            </a:lvl2pPr>
            <a:lvl3pPr>
              <a:defRPr sz="2025" b="0">
                <a:solidFill>
                  <a:srgbClr val="FFFFFF"/>
                </a:solidFill>
                <a:latin typeface="Avenir Next"/>
                <a:ea typeface="Avenir Next"/>
                <a:cs typeface="Avenir Next"/>
              </a:defRPr>
            </a:lvl3pPr>
            <a:lvl4pPr>
              <a:defRPr sz="2025" b="0">
                <a:solidFill>
                  <a:srgbClr val="FFFFFF"/>
                </a:solidFill>
                <a:latin typeface="Avenir Next"/>
                <a:ea typeface="Avenir Next"/>
                <a:cs typeface="Avenir Next"/>
              </a:defRPr>
            </a:lvl4pPr>
            <a:lvl5pPr>
              <a:defRPr sz="2025" b="0">
                <a:solidFill>
                  <a:srgbClr val="FFFFFF"/>
                </a:solidFill>
                <a:latin typeface="Avenir Next"/>
                <a:ea typeface="Avenir Next"/>
                <a:cs typeface="Avenir Next"/>
              </a:defRPr>
            </a:lvl5pPr>
            <a:lvl6pPr>
              <a:defRPr sz="2025" b="0">
                <a:solidFill>
                  <a:srgbClr val="FFFFFF"/>
                </a:solidFill>
                <a:latin typeface="Avenir Next"/>
                <a:ea typeface="Avenir Next"/>
                <a:cs typeface="Avenir Next"/>
              </a:defRPr>
            </a:lvl6pPr>
            <a:lvl7pPr>
              <a:defRPr sz="2025" b="0">
                <a:solidFill>
                  <a:srgbClr val="FFFFFF"/>
                </a:solidFill>
                <a:latin typeface="Avenir Next"/>
                <a:ea typeface="Avenir Next"/>
                <a:cs typeface="Avenir Next"/>
              </a:defRPr>
            </a:lvl7pPr>
            <a:lvl8pPr>
              <a:defRPr sz="2025" b="0">
                <a:solidFill>
                  <a:srgbClr val="FFFFFF"/>
                </a:solidFill>
                <a:latin typeface="Avenir Next"/>
                <a:ea typeface="Avenir Next"/>
                <a:cs typeface="Avenir Next"/>
              </a:defRPr>
            </a:lvl8pPr>
            <a:lvl9pPr>
              <a:defRPr sz="2025" b="0">
                <a:solidFill>
                  <a:srgbClr val="FFFFFF"/>
                </a:solidFill>
                <a:latin typeface="Avenir Next"/>
                <a:ea typeface="Avenir Next"/>
                <a:cs typeface="Avenir Next"/>
              </a:defRPr>
            </a:lvl9pPr>
          </a:lstStyle>
          <a:p xmlns:a="http://schemas.openxmlformats.org/drawingml/2006/main">
            <a:pPr>
              <a:defRPr sz="2025" b="0">
                <a:solidFill>
                  <a:srgbClr val="FFFFFF"/>
                </a:solidFill>
                <a:latin typeface="Avenir Next"/>
                <a:ea typeface="Avenir Next"/>
                <a:cs typeface="Avenir Next"/>
              </a:defRPr>
            </a:pPr>
            <a:r>
              <a:rPr sz="2025" b="0">
                <a:solidFill>
                  <a:srgbClr val="FFFFFF"/>
                </a:solidFill>
                <a:latin typeface="Avenir Next"/>
                <a:ea typeface="Avenir Next"/>
                <a:cs typeface="Avenir Next"/>
              </a:rPr>
              <a:t>Unit tests passed</a:t>
            </a:r>
          </a:p>
        </p:txBody>
      </p:sp>
      <p:sp>
        <p:nvSpPr>
          <p:cNvPr id="6" name="metric-1">
            <a:extLst xmlns:a="http://schemas.openxmlformats.org/drawingml/2006/main">
              <a:ext uri="{FF2B5EF4-FFF2-40B4-BE49-F238E27FC236}">
                <a16:creationId xmlns:a16="http://schemas.microsoft.com/office/drawing/2014/main" id="{B70EA93E-ADEA-4CFF-AD74-421593FC7C4A}"/>
              </a:ext>
            </a:extLst>
          </p:cNvPr>
          <p:cNvSpPr>
            <a:spLocks xmlns:a="http://schemas.openxmlformats.org/drawingml/2006/main" noGrp="1"/>
          </p:cNvSpPr>
          <p:nvPr/>
        </p:nvSpPr>
        <p:spPr>
          <a:xfrm xmlns:a="http://schemas.openxmlformats.org/drawingml/2006/main">
            <a:off x="6334125" y="2533650"/>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900" b="1">
                <a:solidFill>
                  <a:srgbClr val="85E7D1"/>
                </a:solidFill>
                <a:latin typeface="Avenir Next"/>
                <a:ea typeface="Avenir Next"/>
                <a:cs typeface="Avenir Next"/>
              </a:defRPr>
            </a:defPPr>
            <a:lvl1pPr>
              <a:defRPr sz="6900" b="1">
                <a:solidFill>
                  <a:srgbClr val="85E7D1"/>
                </a:solidFill>
                <a:latin typeface="Avenir Next"/>
                <a:ea typeface="Avenir Next"/>
                <a:cs typeface="Avenir Next"/>
              </a:defRPr>
            </a:lvl1pPr>
            <a:lvl2pPr>
              <a:defRPr sz="6900" b="1">
                <a:solidFill>
                  <a:srgbClr val="85E7D1"/>
                </a:solidFill>
                <a:latin typeface="Avenir Next"/>
                <a:ea typeface="Avenir Next"/>
                <a:cs typeface="Avenir Next"/>
              </a:defRPr>
            </a:lvl2pPr>
            <a:lvl3pPr>
              <a:defRPr sz="6900" b="1">
                <a:solidFill>
                  <a:srgbClr val="85E7D1"/>
                </a:solidFill>
                <a:latin typeface="Avenir Next"/>
                <a:ea typeface="Avenir Next"/>
                <a:cs typeface="Avenir Next"/>
              </a:defRPr>
            </a:lvl3pPr>
            <a:lvl4pPr>
              <a:defRPr sz="6900" b="1">
                <a:solidFill>
                  <a:srgbClr val="85E7D1"/>
                </a:solidFill>
                <a:latin typeface="Avenir Next"/>
                <a:ea typeface="Avenir Next"/>
                <a:cs typeface="Avenir Next"/>
              </a:defRPr>
            </a:lvl4pPr>
            <a:lvl5pPr>
              <a:defRPr sz="6900" b="1">
                <a:solidFill>
                  <a:srgbClr val="85E7D1"/>
                </a:solidFill>
                <a:latin typeface="Avenir Next"/>
                <a:ea typeface="Avenir Next"/>
                <a:cs typeface="Avenir Next"/>
              </a:defRPr>
            </a:lvl5pPr>
            <a:lvl6pPr>
              <a:defRPr sz="6900" b="1">
                <a:solidFill>
                  <a:srgbClr val="85E7D1"/>
                </a:solidFill>
                <a:latin typeface="Avenir Next"/>
                <a:ea typeface="Avenir Next"/>
                <a:cs typeface="Avenir Next"/>
              </a:defRPr>
            </a:lvl6pPr>
            <a:lvl7pPr>
              <a:defRPr sz="6900" b="1">
                <a:solidFill>
                  <a:srgbClr val="85E7D1"/>
                </a:solidFill>
                <a:latin typeface="Avenir Next"/>
                <a:ea typeface="Avenir Next"/>
                <a:cs typeface="Avenir Next"/>
              </a:defRPr>
            </a:lvl7pPr>
            <a:lvl8pPr>
              <a:defRPr sz="6900" b="1">
                <a:solidFill>
                  <a:srgbClr val="85E7D1"/>
                </a:solidFill>
                <a:latin typeface="Avenir Next"/>
                <a:ea typeface="Avenir Next"/>
                <a:cs typeface="Avenir Next"/>
              </a:defRPr>
            </a:lvl8pPr>
            <a:lvl9pPr>
              <a:defRPr sz="6900" b="1">
                <a:solidFill>
                  <a:srgbClr val="85E7D1"/>
                </a:solidFill>
                <a:latin typeface="Avenir Next"/>
                <a:ea typeface="Avenir Next"/>
                <a:cs typeface="Avenir Next"/>
              </a:defRPr>
            </a:lvl9pPr>
          </a:lstStyle>
          <a:p xmlns:a="http://schemas.openxmlformats.org/drawingml/2006/main">
            <a:pPr>
              <a:defRPr sz="6900" b="1">
                <a:solidFill>
                  <a:srgbClr val="85E7D1"/>
                </a:solidFill>
                <a:latin typeface="Avenir Next"/>
                <a:ea typeface="Avenir Next"/>
                <a:cs typeface="Avenir Next"/>
              </a:defRPr>
            </a:pPr>
            <a:r>
              <a:rPr sz="6900" b="1">
                <a:solidFill>
                  <a:srgbClr val="85E7D1"/>
                </a:solidFill>
                <a:latin typeface="Avenir Next"/>
                <a:ea typeface="Avenir Next"/>
                <a:cs typeface="Avenir Next"/>
              </a:rPr>
              <a:t>23</a:t>
            </a:r>
          </a:p>
        </p:txBody>
      </p:sp>
      <p:sp>
        <p:nvSpPr>
          <p:cNvPr id="7" name="metric-label-1">
            <a:extLst xmlns:a="http://schemas.openxmlformats.org/drawingml/2006/main">
              <a:ext uri="{FF2B5EF4-FFF2-40B4-BE49-F238E27FC236}">
                <a16:creationId xmlns:a16="http://schemas.microsoft.com/office/drawing/2014/main" id="{91515EE6-3B95-4954-A9EA-0FA85041A9A6}"/>
              </a:ext>
            </a:extLst>
          </p:cNvPr>
          <p:cNvSpPr>
            <a:spLocks xmlns:a="http://schemas.openxmlformats.org/drawingml/2006/main" noGrp="1"/>
          </p:cNvSpPr>
          <p:nvPr/>
        </p:nvSpPr>
        <p:spPr>
          <a:xfrm xmlns:a="http://schemas.openxmlformats.org/drawingml/2006/main">
            <a:off x="6372225" y="37719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FFFFF"/>
                </a:solidFill>
                <a:latin typeface="Avenir Next"/>
                <a:ea typeface="Avenir Next"/>
                <a:cs typeface="Avenir Next"/>
              </a:defRPr>
            </a:defPPr>
            <a:lvl1pPr>
              <a:defRPr sz="2025" b="0">
                <a:solidFill>
                  <a:srgbClr val="FFFFFF"/>
                </a:solidFill>
                <a:latin typeface="Avenir Next"/>
                <a:ea typeface="Avenir Next"/>
                <a:cs typeface="Avenir Next"/>
              </a:defRPr>
            </a:lvl1pPr>
            <a:lvl2pPr>
              <a:defRPr sz="2025" b="0">
                <a:solidFill>
                  <a:srgbClr val="FFFFFF"/>
                </a:solidFill>
                <a:latin typeface="Avenir Next"/>
                <a:ea typeface="Avenir Next"/>
                <a:cs typeface="Avenir Next"/>
              </a:defRPr>
            </a:lvl2pPr>
            <a:lvl3pPr>
              <a:defRPr sz="2025" b="0">
                <a:solidFill>
                  <a:srgbClr val="FFFFFF"/>
                </a:solidFill>
                <a:latin typeface="Avenir Next"/>
                <a:ea typeface="Avenir Next"/>
                <a:cs typeface="Avenir Next"/>
              </a:defRPr>
            </a:lvl3pPr>
            <a:lvl4pPr>
              <a:defRPr sz="2025" b="0">
                <a:solidFill>
                  <a:srgbClr val="FFFFFF"/>
                </a:solidFill>
                <a:latin typeface="Avenir Next"/>
                <a:ea typeface="Avenir Next"/>
                <a:cs typeface="Avenir Next"/>
              </a:defRPr>
            </a:lvl4pPr>
            <a:lvl5pPr>
              <a:defRPr sz="2025" b="0">
                <a:solidFill>
                  <a:srgbClr val="FFFFFF"/>
                </a:solidFill>
                <a:latin typeface="Avenir Next"/>
                <a:ea typeface="Avenir Next"/>
                <a:cs typeface="Avenir Next"/>
              </a:defRPr>
            </a:lvl5pPr>
            <a:lvl6pPr>
              <a:defRPr sz="2025" b="0">
                <a:solidFill>
                  <a:srgbClr val="FFFFFF"/>
                </a:solidFill>
                <a:latin typeface="Avenir Next"/>
                <a:ea typeface="Avenir Next"/>
                <a:cs typeface="Avenir Next"/>
              </a:defRPr>
            </a:lvl6pPr>
            <a:lvl7pPr>
              <a:defRPr sz="2025" b="0">
                <a:solidFill>
                  <a:srgbClr val="FFFFFF"/>
                </a:solidFill>
                <a:latin typeface="Avenir Next"/>
                <a:ea typeface="Avenir Next"/>
                <a:cs typeface="Avenir Next"/>
              </a:defRPr>
            </a:lvl7pPr>
            <a:lvl8pPr>
              <a:defRPr sz="2025" b="0">
                <a:solidFill>
                  <a:srgbClr val="FFFFFF"/>
                </a:solidFill>
                <a:latin typeface="Avenir Next"/>
                <a:ea typeface="Avenir Next"/>
                <a:cs typeface="Avenir Next"/>
              </a:defRPr>
            </a:lvl8pPr>
            <a:lvl9pPr>
              <a:defRPr sz="2025" b="0">
                <a:solidFill>
                  <a:srgbClr val="FFFFFF"/>
                </a:solidFill>
                <a:latin typeface="Avenir Next"/>
                <a:ea typeface="Avenir Next"/>
                <a:cs typeface="Avenir Next"/>
              </a:defRPr>
            </a:lvl9pPr>
          </a:lstStyle>
          <a:p xmlns:a="http://schemas.openxmlformats.org/drawingml/2006/main">
            <a:pPr>
              <a:defRPr sz="2025" b="0">
                <a:solidFill>
                  <a:srgbClr val="FFFFFF"/>
                </a:solidFill>
                <a:latin typeface="Avenir Next"/>
                <a:ea typeface="Avenir Next"/>
                <a:cs typeface="Avenir Next"/>
              </a:defRPr>
            </a:pPr>
            <a:r>
              <a:rPr sz="2025" b="0">
                <a:solidFill>
                  <a:srgbClr val="FFFFFF"/>
                </a:solidFill>
                <a:latin typeface="Avenir Next"/>
                <a:ea typeface="Avenir Next"/>
                <a:cs typeface="Avenir Next"/>
              </a:rPr>
              <a:t>Disposable-chain scenarios</a:t>
            </a:r>
          </a:p>
        </p:txBody>
      </p:sp>
      <p:sp>
        <p:nvSpPr>
          <p:cNvPr id="8" name="test-meaning">
            <a:extLst xmlns:a="http://schemas.openxmlformats.org/drawingml/2006/main">
              <a:ext uri="{FF2B5EF4-FFF2-40B4-BE49-F238E27FC236}">
                <a16:creationId xmlns:a16="http://schemas.microsoft.com/office/drawing/2014/main" id="{4611B7E5-A0E8-4D88-BEE1-BAEEC99FE828}"/>
              </a:ext>
            </a:extLst>
          </p:cNvPr>
          <p:cNvSpPr>
            <a:spLocks xmlns:a="http://schemas.openxmlformats.org/drawingml/2006/main" noGrp="1"/>
          </p:cNvSpPr>
          <p:nvPr/>
        </p:nvSpPr>
        <p:spPr>
          <a:xfrm xmlns:a="http://schemas.openxmlformats.org/drawingml/2006/main">
            <a:off x="762000" y="4686300"/>
            <a:ext cx="1047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7C8D2"/>
                </a:solidFill>
                <a:latin typeface="Avenir Next"/>
                <a:ea typeface="Avenir Next"/>
                <a:cs typeface="Avenir Next"/>
              </a:defRPr>
            </a:defPPr>
            <a:lvl1pPr>
              <a:defRPr sz="1875" b="0">
                <a:solidFill>
                  <a:srgbClr val="B7C8D2"/>
                </a:solidFill>
                <a:latin typeface="Avenir Next"/>
                <a:ea typeface="Avenir Next"/>
                <a:cs typeface="Avenir Next"/>
              </a:defRPr>
            </a:lvl1pPr>
            <a:lvl2pPr>
              <a:defRPr sz="1875" b="0">
                <a:solidFill>
                  <a:srgbClr val="B7C8D2"/>
                </a:solidFill>
                <a:latin typeface="Avenir Next"/>
                <a:ea typeface="Avenir Next"/>
                <a:cs typeface="Avenir Next"/>
              </a:defRPr>
            </a:lvl2pPr>
            <a:lvl3pPr>
              <a:defRPr sz="1875" b="0">
                <a:solidFill>
                  <a:srgbClr val="B7C8D2"/>
                </a:solidFill>
                <a:latin typeface="Avenir Next"/>
                <a:ea typeface="Avenir Next"/>
                <a:cs typeface="Avenir Next"/>
              </a:defRPr>
            </a:lvl3pPr>
            <a:lvl4pPr>
              <a:defRPr sz="1875" b="0">
                <a:solidFill>
                  <a:srgbClr val="B7C8D2"/>
                </a:solidFill>
                <a:latin typeface="Avenir Next"/>
                <a:ea typeface="Avenir Next"/>
                <a:cs typeface="Avenir Next"/>
              </a:defRPr>
            </a:lvl4pPr>
            <a:lvl5pPr>
              <a:defRPr sz="1875" b="0">
                <a:solidFill>
                  <a:srgbClr val="B7C8D2"/>
                </a:solidFill>
                <a:latin typeface="Avenir Next"/>
                <a:ea typeface="Avenir Next"/>
                <a:cs typeface="Avenir Next"/>
              </a:defRPr>
            </a:lvl5pPr>
            <a:lvl6pPr>
              <a:defRPr sz="1875" b="0">
                <a:solidFill>
                  <a:srgbClr val="B7C8D2"/>
                </a:solidFill>
                <a:latin typeface="Avenir Next"/>
                <a:ea typeface="Avenir Next"/>
                <a:cs typeface="Avenir Next"/>
              </a:defRPr>
            </a:lvl6pPr>
            <a:lvl7pPr>
              <a:defRPr sz="1875" b="0">
                <a:solidFill>
                  <a:srgbClr val="B7C8D2"/>
                </a:solidFill>
                <a:latin typeface="Avenir Next"/>
                <a:ea typeface="Avenir Next"/>
                <a:cs typeface="Avenir Next"/>
              </a:defRPr>
            </a:lvl7pPr>
            <a:lvl8pPr>
              <a:defRPr sz="1875" b="0">
                <a:solidFill>
                  <a:srgbClr val="B7C8D2"/>
                </a:solidFill>
                <a:latin typeface="Avenir Next"/>
                <a:ea typeface="Avenir Next"/>
                <a:cs typeface="Avenir Next"/>
              </a:defRPr>
            </a:lvl8pPr>
            <a:lvl9pPr>
              <a:defRPr sz="1875" b="0">
                <a:solidFill>
                  <a:srgbClr val="B7C8D2"/>
                </a:solidFill>
                <a:latin typeface="Avenir Next"/>
                <a:ea typeface="Avenir Next"/>
                <a:cs typeface="Avenir Next"/>
              </a:defRPr>
            </a:lvl9pPr>
          </a:lstStyle>
          <a:p xmlns:a="http://schemas.openxmlformats.org/drawingml/2006/main">
            <a:pPr marL="228600" indent="-114300">
              <a:spcAft>
                <a:spcPts val="1500"/>
              </a:spcAft>
              <a:buChar char="•"/>
              <a:defRPr sz="1875" b="0">
                <a:solidFill>
                  <a:srgbClr val="B7C8D2"/>
                </a:solidFill>
                <a:latin typeface="Avenir Next"/>
                <a:ea typeface="Avenir Next"/>
                <a:cs typeface="Avenir Next"/>
              </a:defRPr>
            </a:pPr>
            <a:r>
              <a:rPr sz="1875">
                <a:solidFill>
                  <a:srgbClr val="B7C8D2"/>
                </a:solidFill>
                <a:latin typeface="Avenir Next"/>
                <a:ea typeface="Avenir Next"/>
                <a:cs typeface="Avenir Next"/>
              </a:rPr>
              <a:t>Validated: parsing, evidence constraints, failure handling and supported simulation paths</a:t>
            </a:r>
          </a:p>
          <a:p xmlns:a="http://schemas.openxmlformats.org/drawingml/2006/main">
            <a:pPr marL="228600" indent="-114300">
              <a:spcAft>
                <a:spcPts val="1500"/>
              </a:spcAft>
              <a:buChar char="•"/>
              <a:defRPr sz="1875" b="0">
                <a:solidFill>
                  <a:srgbClr val="B7C8D2"/>
                </a:solidFill>
                <a:latin typeface="Avenir Next"/>
                <a:ea typeface="Avenir Next"/>
                <a:cs typeface="Avenir Next"/>
              </a:defRPr>
            </a:pPr>
            <a:r>
              <a:rPr sz="1875">
                <a:solidFill>
                  <a:srgbClr val="B7C8D2"/>
                </a:solidFill>
                <a:latin typeface="Avenir Next"/>
                <a:ea typeface="Avenir Next"/>
                <a:cs typeface="Avenir Next"/>
              </a:rPr>
              <a:t>Independent error rates, score calibration and live detection accuracy remain unmeasured</a:t>
            </a:r>
          </a:p>
        </p:txBody>
      </p:sp>
      <p:sp>
        <p:nvSpPr>
          <p:cNvPr id="9" name="footer">
            <a:extLst xmlns:a="http://schemas.openxmlformats.org/drawingml/2006/main">
              <a:ext uri="{FF2B5EF4-FFF2-40B4-BE49-F238E27FC236}">
                <a16:creationId xmlns:a16="http://schemas.microsoft.com/office/drawing/2014/main" id="{8AEE25B3-DB99-46F2-96B0-C1674B00EBE7}"/>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BA3B2"/>
                </a:solidFill>
                <a:latin typeface="Avenir Next"/>
                <a:ea typeface="Avenir Next"/>
                <a:cs typeface="Avenir Next"/>
              </a:defRPr>
            </a:defPPr>
            <a:lvl1pPr>
              <a:defRPr sz="1200" b="0">
                <a:solidFill>
                  <a:srgbClr val="8BA3B2"/>
                </a:solidFill>
                <a:latin typeface="Avenir Next"/>
                <a:ea typeface="Avenir Next"/>
                <a:cs typeface="Avenir Next"/>
              </a:defRPr>
            </a:lvl1pPr>
            <a:lvl2pPr>
              <a:defRPr sz="1200" b="0">
                <a:solidFill>
                  <a:srgbClr val="8BA3B2"/>
                </a:solidFill>
                <a:latin typeface="Avenir Next"/>
                <a:ea typeface="Avenir Next"/>
                <a:cs typeface="Avenir Next"/>
              </a:defRPr>
            </a:lvl2pPr>
            <a:lvl3pPr>
              <a:defRPr sz="1200" b="0">
                <a:solidFill>
                  <a:srgbClr val="8BA3B2"/>
                </a:solidFill>
                <a:latin typeface="Avenir Next"/>
                <a:ea typeface="Avenir Next"/>
                <a:cs typeface="Avenir Next"/>
              </a:defRPr>
            </a:lvl3pPr>
            <a:lvl4pPr>
              <a:defRPr sz="1200" b="0">
                <a:solidFill>
                  <a:srgbClr val="8BA3B2"/>
                </a:solidFill>
                <a:latin typeface="Avenir Next"/>
                <a:ea typeface="Avenir Next"/>
                <a:cs typeface="Avenir Next"/>
              </a:defRPr>
            </a:lvl4pPr>
            <a:lvl5pPr>
              <a:defRPr sz="1200" b="0">
                <a:solidFill>
                  <a:srgbClr val="8BA3B2"/>
                </a:solidFill>
                <a:latin typeface="Avenir Next"/>
                <a:ea typeface="Avenir Next"/>
                <a:cs typeface="Avenir Next"/>
              </a:defRPr>
            </a:lvl5pPr>
            <a:lvl6pPr>
              <a:defRPr sz="1200" b="0">
                <a:solidFill>
                  <a:srgbClr val="8BA3B2"/>
                </a:solidFill>
                <a:latin typeface="Avenir Next"/>
                <a:ea typeface="Avenir Next"/>
                <a:cs typeface="Avenir Next"/>
              </a:defRPr>
            </a:lvl6pPr>
            <a:lvl7pPr>
              <a:defRPr sz="1200" b="0">
                <a:solidFill>
                  <a:srgbClr val="8BA3B2"/>
                </a:solidFill>
                <a:latin typeface="Avenir Next"/>
                <a:ea typeface="Avenir Next"/>
                <a:cs typeface="Avenir Next"/>
              </a:defRPr>
            </a:lvl7pPr>
            <a:lvl8pPr>
              <a:defRPr sz="1200" b="0">
                <a:solidFill>
                  <a:srgbClr val="8BA3B2"/>
                </a:solidFill>
                <a:latin typeface="Avenir Next"/>
                <a:ea typeface="Avenir Next"/>
                <a:cs typeface="Avenir Next"/>
              </a:defRPr>
            </a:lvl8pPr>
            <a:lvl9pPr>
              <a:defRPr sz="1200" b="0">
                <a:solidFill>
                  <a:srgbClr val="8BA3B2"/>
                </a:solidFill>
                <a:latin typeface="Avenir Next"/>
                <a:ea typeface="Avenir Next"/>
                <a:cs typeface="Avenir Next"/>
              </a:defRPr>
            </a:lvl9pPr>
          </a:lstStyle>
          <a:p xmlns:a="http://schemas.openxmlformats.org/drawingml/2006/main">
            <a:pPr>
              <a:defRPr sz="1200" b="0">
                <a:solidFill>
                  <a:srgbClr val="8BA3B2"/>
                </a:solidFill>
                <a:latin typeface="Avenir Next"/>
                <a:ea typeface="Avenir Next"/>
                <a:cs typeface="Avenir Next"/>
              </a:defRPr>
            </a:pPr>
            <a:r>
              <a:rPr sz="1200" b="0">
                <a:solidFill>
                  <a:srgbClr val="8BA3B2"/>
                </a:solidFill>
                <a:latin typeface="Avenir Next"/>
                <a:ea typeface="Avenir Next"/>
                <a:cs typeface="Avenir Next"/>
              </a:rPr>
              <a:t>WalletShield  ·  v0.4.1  |  28 / 30</a:t>
            </a:r>
          </a:p>
        </p:txBody>
      </p:sp>
    </p:spTree>
    <p:extLst>
      <p:ext uri="{BB962C8B-B14F-4D97-AF65-F5344CB8AC3E}">
        <p14:creationId xmlns:p14="http://schemas.microsoft.com/office/powerpoint/2010/main" val="775161641"/>
      </p:ext>
    </p:extLst>
  </p:cSld>
</p:sld>
</file>

<file path=ppt/slides/slide29.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2A190C1F-5CAF-4EE6-BB32-CF500AA9C91E}"/>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2E"/>
                </a:solidFill>
                <a:latin typeface="Avenir Next"/>
                <a:ea typeface="Avenir Next"/>
                <a:cs typeface="Avenir Next"/>
              </a:defRPr>
            </a:defPPr>
            <a:lvl1pPr>
              <a:defRPr sz="3300" b="1">
                <a:solidFill>
                  <a:srgbClr val="10232E"/>
                </a:solidFill>
                <a:latin typeface="Avenir Next"/>
                <a:ea typeface="Avenir Next"/>
                <a:cs typeface="Avenir Next"/>
              </a:defRPr>
            </a:lvl1pPr>
            <a:lvl2pPr>
              <a:defRPr sz="3300" b="1">
                <a:solidFill>
                  <a:srgbClr val="10232E"/>
                </a:solidFill>
                <a:latin typeface="Avenir Next"/>
                <a:ea typeface="Avenir Next"/>
                <a:cs typeface="Avenir Next"/>
              </a:defRPr>
            </a:lvl2pPr>
            <a:lvl3pPr>
              <a:defRPr sz="3300" b="1">
                <a:solidFill>
                  <a:srgbClr val="10232E"/>
                </a:solidFill>
                <a:latin typeface="Avenir Next"/>
                <a:ea typeface="Avenir Next"/>
                <a:cs typeface="Avenir Next"/>
              </a:defRPr>
            </a:lvl3pPr>
            <a:lvl4pPr>
              <a:defRPr sz="3300" b="1">
                <a:solidFill>
                  <a:srgbClr val="10232E"/>
                </a:solidFill>
                <a:latin typeface="Avenir Next"/>
                <a:ea typeface="Avenir Next"/>
                <a:cs typeface="Avenir Next"/>
              </a:defRPr>
            </a:lvl4pPr>
            <a:lvl5pPr>
              <a:defRPr sz="3300" b="1">
                <a:solidFill>
                  <a:srgbClr val="10232E"/>
                </a:solidFill>
                <a:latin typeface="Avenir Next"/>
                <a:ea typeface="Avenir Next"/>
                <a:cs typeface="Avenir Next"/>
              </a:defRPr>
            </a:lvl5pPr>
            <a:lvl6pPr>
              <a:defRPr sz="3300" b="1">
                <a:solidFill>
                  <a:srgbClr val="10232E"/>
                </a:solidFill>
                <a:latin typeface="Avenir Next"/>
                <a:ea typeface="Avenir Next"/>
                <a:cs typeface="Avenir Next"/>
              </a:defRPr>
            </a:lvl6pPr>
            <a:lvl7pPr>
              <a:defRPr sz="3300" b="1">
                <a:solidFill>
                  <a:srgbClr val="10232E"/>
                </a:solidFill>
                <a:latin typeface="Avenir Next"/>
                <a:ea typeface="Avenir Next"/>
                <a:cs typeface="Avenir Next"/>
              </a:defRPr>
            </a:lvl7pPr>
            <a:lvl8pPr>
              <a:defRPr sz="3300" b="1">
                <a:solidFill>
                  <a:srgbClr val="10232E"/>
                </a:solidFill>
                <a:latin typeface="Avenir Next"/>
                <a:ea typeface="Avenir Next"/>
                <a:cs typeface="Avenir Next"/>
              </a:defRPr>
            </a:lvl8pPr>
            <a:lvl9pPr>
              <a:defRPr sz="3300" b="1">
                <a:solidFill>
                  <a:srgbClr val="10232E"/>
                </a:solidFill>
                <a:latin typeface="Avenir Next"/>
                <a:ea typeface="Avenir Next"/>
                <a:cs typeface="Avenir Next"/>
              </a:defRPr>
            </a:lvl9pPr>
          </a:lstStyle>
          <a:p xmlns:a="http://schemas.openxmlformats.org/drawingml/2006/main">
            <a:pPr>
              <a:defRPr sz="3300" b="1">
                <a:solidFill>
                  <a:srgbClr val="10232E"/>
                </a:solidFill>
                <a:latin typeface="Avenir Next"/>
                <a:ea typeface="Avenir Next"/>
                <a:cs typeface="Avenir Next"/>
              </a:defRPr>
            </a:pPr>
            <a:r>
              <a:rPr sz="3300" b="1">
                <a:solidFill>
                  <a:srgbClr val="10232E"/>
                </a:solidFill>
                <a:latin typeface="Avenir Next"/>
                <a:ea typeface="Avenir Next"/>
                <a:cs typeface="Avenir Next"/>
              </a:rPr>
              <a:t>Current boundaries: conclusions the tool cannot guarantee</a:t>
            </a:r>
          </a:p>
        </p:txBody>
      </p:sp>
      <p:sp>
        <p:nvSpPr>
          <p:cNvPr id="3" name="summary">
            <a:extLst xmlns:a="http://schemas.openxmlformats.org/drawingml/2006/main">
              <a:ext uri="{FF2B5EF4-FFF2-40B4-BE49-F238E27FC236}">
                <a16:creationId xmlns:a16="http://schemas.microsoft.com/office/drawing/2014/main" id="{6ADE8BAF-6570-4A7A-9920-25A34AA09275}"/>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B78"/>
                </a:solidFill>
                <a:latin typeface="Avenir Next"/>
                <a:ea typeface="Avenir Next"/>
                <a:cs typeface="Avenir Next"/>
              </a:defRPr>
            </a:defPPr>
            <a:lvl1pPr>
              <a:defRPr sz="1950" b="0">
                <a:solidFill>
                  <a:srgbClr val="526B78"/>
                </a:solidFill>
                <a:latin typeface="Avenir Next"/>
                <a:ea typeface="Avenir Next"/>
                <a:cs typeface="Avenir Next"/>
              </a:defRPr>
            </a:lvl1pPr>
            <a:lvl2pPr>
              <a:defRPr sz="1950" b="0">
                <a:solidFill>
                  <a:srgbClr val="526B78"/>
                </a:solidFill>
                <a:latin typeface="Avenir Next"/>
                <a:ea typeface="Avenir Next"/>
                <a:cs typeface="Avenir Next"/>
              </a:defRPr>
            </a:lvl2pPr>
            <a:lvl3pPr>
              <a:defRPr sz="1950" b="0">
                <a:solidFill>
                  <a:srgbClr val="526B78"/>
                </a:solidFill>
                <a:latin typeface="Avenir Next"/>
                <a:ea typeface="Avenir Next"/>
                <a:cs typeface="Avenir Next"/>
              </a:defRPr>
            </a:lvl3pPr>
            <a:lvl4pPr>
              <a:defRPr sz="1950" b="0">
                <a:solidFill>
                  <a:srgbClr val="526B78"/>
                </a:solidFill>
                <a:latin typeface="Avenir Next"/>
                <a:ea typeface="Avenir Next"/>
                <a:cs typeface="Avenir Next"/>
              </a:defRPr>
            </a:lvl4pPr>
            <a:lvl5pPr>
              <a:defRPr sz="1950" b="0">
                <a:solidFill>
                  <a:srgbClr val="526B78"/>
                </a:solidFill>
                <a:latin typeface="Avenir Next"/>
                <a:ea typeface="Avenir Next"/>
                <a:cs typeface="Avenir Next"/>
              </a:defRPr>
            </a:lvl5pPr>
            <a:lvl6pPr>
              <a:defRPr sz="1950" b="0">
                <a:solidFill>
                  <a:srgbClr val="526B78"/>
                </a:solidFill>
                <a:latin typeface="Avenir Next"/>
                <a:ea typeface="Avenir Next"/>
                <a:cs typeface="Avenir Next"/>
              </a:defRPr>
            </a:lvl6pPr>
            <a:lvl7pPr>
              <a:defRPr sz="1950" b="0">
                <a:solidFill>
                  <a:srgbClr val="526B78"/>
                </a:solidFill>
                <a:latin typeface="Avenir Next"/>
                <a:ea typeface="Avenir Next"/>
                <a:cs typeface="Avenir Next"/>
              </a:defRPr>
            </a:lvl7pPr>
            <a:lvl8pPr>
              <a:defRPr sz="1950" b="0">
                <a:solidFill>
                  <a:srgbClr val="526B78"/>
                </a:solidFill>
                <a:latin typeface="Avenir Next"/>
                <a:ea typeface="Avenir Next"/>
                <a:cs typeface="Avenir Next"/>
              </a:defRPr>
            </a:lvl8pPr>
            <a:lvl9pPr>
              <a:defRPr sz="1950" b="0">
                <a:solidFill>
                  <a:srgbClr val="526B78"/>
                </a:solidFill>
                <a:latin typeface="Avenir Next"/>
                <a:ea typeface="Avenir Next"/>
                <a:cs typeface="Avenir Next"/>
              </a:defRPr>
            </a:lvl9pPr>
          </a:lstStyle>
          <a:p xmlns:a="http://schemas.openxmlformats.org/drawingml/2006/main">
            <a:pPr>
              <a:defRPr sz="1950" b="0">
                <a:solidFill>
                  <a:srgbClr val="526B78"/>
                </a:solidFill>
                <a:latin typeface="Avenir Next"/>
                <a:ea typeface="Avenir Next"/>
                <a:cs typeface="Avenir Next"/>
              </a:defRPr>
            </a:pPr>
            <a:r>
              <a:rPr sz="1950" b="0">
                <a:solidFill>
                  <a:srgbClr val="526B78"/>
                </a:solidFill>
                <a:latin typeface="Avenir Next"/>
                <a:ea typeface="Avenir Next"/>
                <a:cs typeface="Avenir Next"/>
              </a:rPr>
              <a:t>Expose unknowns instead of manufacturing reassurance</a:t>
            </a:r>
          </a:p>
        </p:txBody>
      </p:sp>
      <p:sp>
        <p:nvSpPr>
          <p:cNvPr id="4" name="compare-left">
            <a:extLst xmlns:a="http://schemas.openxmlformats.org/drawingml/2006/main">
              <a:ext uri="{FF2B5EF4-FFF2-40B4-BE49-F238E27FC236}">
                <a16:creationId xmlns:a16="http://schemas.microsoft.com/office/drawing/2014/main" id="{A129115F-2476-44E9-B4B9-A56F8FD7DBF4}"/>
              </a:ext>
            </a:extLst>
          </p:cNvPr>
          <p:cNvSpPr>
            <a:spLocks xmlns:a="http://schemas.openxmlformats.org/drawingml/2006/main" noGrp="1"/>
          </p:cNvSpPr>
          <p:nvPr/>
        </p:nvSpPr>
        <p:spPr>
          <a:xfrm xmlns:a="http://schemas.openxmlformats.org/drawingml/2006/main">
            <a:off x="647700" y="2552700"/>
            <a:ext cx="5143500"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Requests never delivered by the wallet cannot be observed</a:t>
            </a:r>
          </a:p>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Coverage is partial for custom protocols, witnesses and opaque aggregators</a:t>
            </a:r>
          </a:p>
        </p:txBody>
      </p:sp>
      <p:sp>
        <p:nvSpPr>
          <p:cNvPr id="5" name="compare-right">
            <a:extLst xmlns:a="http://schemas.openxmlformats.org/drawingml/2006/main">
              <a:ext uri="{FF2B5EF4-FFF2-40B4-BE49-F238E27FC236}">
                <a16:creationId xmlns:a16="http://schemas.microsoft.com/office/drawing/2014/main" id="{9B92D7DE-C5F3-4551-99E5-3E0807098AEE}"/>
              </a:ext>
            </a:extLst>
          </p:cNvPr>
          <p:cNvSpPr>
            <a:spLocks xmlns:a="http://schemas.openxmlformats.org/drawingml/2006/main" noGrp="1"/>
          </p:cNvSpPr>
          <p:nvPr/>
        </p:nvSpPr>
        <p:spPr>
          <a:xfrm xmlns:a="http://schemas.openxmlformats.org/drawingml/2006/main">
            <a:off x="6429375" y="2552700"/>
            <a:ext cx="5048250"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2E"/>
                </a:solidFill>
                <a:latin typeface="Avenir Next"/>
                <a:ea typeface="Avenir Next"/>
                <a:cs typeface="Avenir Next"/>
              </a:defRPr>
            </a:defPPr>
            <a:lvl1pPr>
              <a:defRPr sz="2025" b="0">
                <a:solidFill>
                  <a:srgbClr val="10232E"/>
                </a:solidFill>
                <a:latin typeface="Avenir Next"/>
                <a:ea typeface="Avenir Next"/>
                <a:cs typeface="Avenir Next"/>
              </a:defRPr>
            </a:lvl1pPr>
            <a:lvl2pPr>
              <a:defRPr sz="2025" b="0">
                <a:solidFill>
                  <a:srgbClr val="10232E"/>
                </a:solidFill>
                <a:latin typeface="Avenir Next"/>
                <a:ea typeface="Avenir Next"/>
                <a:cs typeface="Avenir Next"/>
              </a:defRPr>
            </a:lvl2pPr>
            <a:lvl3pPr>
              <a:defRPr sz="2025" b="0">
                <a:solidFill>
                  <a:srgbClr val="10232E"/>
                </a:solidFill>
                <a:latin typeface="Avenir Next"/>
                <a:ea typeface="Avenir Next"/>
                <a:cs typeface="Avenir Next"/>
              </a:defRPr>
            </a:lvl3pPr>
            <a:lvl4pPr>
              <a:defRPr sz="2025" b="0">
                <a:solidFill>
                  <a:srgbClr val="10232E"/>
                </a:solidFill>
                <a:latin typeface="Avenir Next"/>
                <a:ea typeface="Avenir Next"/>
                <a:cs typeface="Avenir Next"/>
              </a:defRPr>
            </a:lvl4pPr>
            <a:lvl5pPr>
              <a:defRPr sz="2025" b="0">
                <a:solidFill>
                  <a:srgbClr val="10232E"/>
                </a:solidFill>
                <a:latin typeface="Avenir Next"/>
                <a:ea typeface="Avenir Next"/>
                <a:cs typeface="Avenir Next"/>
              </a:defRPr>
            </a:lvl5pPr>
            <a:lvl6pPr>
              <a:defRPr sz="2025" b="0">
                <a:solidFill>
                  <a:srgbClr val="10232E"/>
                </a:solidFill>
                <a:latin typeface="Avenir Next"/>
                <a:ea typeface="Avenir Next"/>
                <a:cs typeface="Avenir Next"/>
              </a:defRPr>
            </a:lvl6pPr>
            <a:lvl7pPr>
              <a:defRPr sz="2025" b="0">
                <a:solidFill>
                  <a:srgbClr val="10232E"/>
                </a:solidFill>
                <a:latin typeface="Avenir Next"/>
                <a:ea typeface="Avenir Next"/>
                <a:cs typeface="Avenir Next"/>
              </a:defRPr>
            </a:lvl7pPr>
            <a:lvl8pPr>
              <a:defRPr sz="2025" b="0">
                <a:solidFill>
                  <a:srgbClr val="10232E"/>
                </a:solidFill>
                <a:latin typeface="Avenir Next"/>
                <a:ea typeface="Avenir Next"/>
                <a:cs typeface="Avenir Next"/>
              </a:defRPr>
            </a:lvl8pPr>
            <a:lvl9pPr>
              <a:defRPr sz="2025" b="0">
                <a:solidFill>
                  <a:srgbClr val="10232E"/>
                </a:solidFill>
                <a:latin typeface="Avenir Next"/>
                <a:ea typeface="Avenir Next"/>
                <a:cs typeface="Avenir Next"/>
              </a:defRPr>
            </a:lvl9pPr>
          </a:lstStyle>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Future prices, sales, upgrades, MEV and bridge arrival are not guaranteed</a:t>
            </a:r>
          </a:p>
          <a:p xmlns:a="http://schemas.openxmlformats.org/drawingml/2006/main">
            <a:pPr marL="228600" indent="-114300">
              <a:spcAft>
                <a:spcPts val="1500"/>
              </a:spcAft>
              <a:buChar char="•"/>
              <a:defRPr sz="2025" b="0">
                <a:solidFill>
                  <a:srgbClr val="10232E"/>
                </a:solidFill>
                <a:latin typeface="Avenir Next"/>
                <a:ea typeface="Avenir Next"/>
                <a:cs typeface="Avenir Next"/>
              </a:defRPr>
            </a:pPr>
            <a:r>
              <a:rPr sz="2025">
                <a:solidFill>
                  <a:srgbClr val="10232E"/>
                </a:solidFill>
                <a:latin typeface="Avenir Next"/>
                <a:ea typeface="Avenir Next"/>
                <a:cs typeface="Avenir Next"/>
              </a:rPr>
              <a:t>Non-EVM, device compromise, exchange internals and recovery are out of scope</a:t>
            </a:r>
          </a:p>
        </p:txBody>
      </p:sp>
      <p:sp>
        <p:nvSpPr>
          <p:cNvPr id="6" name="footer">
            <a:extLst xmlns:a="http://schemas.openxmlformats.org/drawingml/2006/main">
              <a:ext uri="{FF2B5EF4-FFF2-40B4-BE49-F238E27FC236}">
                <a16:creationId xmlns:a16="http://schemas.microsoft.com/office/drawing/2014/main" id="{5735EC28-C674-4151-8DB5-92D29487A11F}"/>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B818B"/>
                </a:solidFill>
                <a:latin typeface="Avenir Next"/>
                <a:ea typeface="Avenir Next"/>
                <a:cs typeface="Avenir Next"/>
              </a:defRPr>
            </a:defPPr>
            <a:lvl1pPr>
              <a:defRPr sz="1200" b="0">
                <a:solidFill>
                  <a:srgbClr val="6B818B"/>
                </a:solidFill>
                <a:latin typeface="Avenir Next"/>
                <a:ea typeface="Avenir Next"/>
                <a:cs typeface="Avenir Next"/>
              </a:defRPr>
            </a:lvl1pPr>
            <a:lvl2pPr>
              <a:defRPr sz="1200" b="0">
                <a:solidFill>
                  <a:srgbClr val="6B818B"/>
                </a:solidFill>
                <a:latin typeface="Avenir Next"/>
                <a:ea typeface="Avenir Next"/>
                <a:cs typeface="Avenir Next"/>
              </a:defRPr>
            </a:lvl2pPr>
            <a:lvl3pPr>
              <a:defRPr sz="1200" b="0">
                <a:solidFill>
                  <a:srgbClr val="6B818B"/>
                </a:solidFill>
                <a:latin typeface="Avenir Next"/>
                <a:ea typeface="Avenir Next"/>
                <a:cs typeface="Avenir Next"/>
              </a:defRPr>
            </a:lvl3pPr>
            <a:lvl4pPr>
              <a:defRPr sz="1200" b="0">
                <a:solidFill>
                  <a:srgbClr val="6B818B"/>
                </a:solidFill>
                <a:latin typeface="Avenir Next"/>
                <a:ea typeface="Avenir Next"/>
                <a:cs typeface="Avenir Next"/>
              </a:defRPr>
            </a:lvl4pPr>
            <a:lvl5pPr>
              <a:defRPr sz="1200" b="0">
                <a:solidFill>
                  <a:srgbClr val="6B818B"/>
                </a:solidFill>
                <a:latin typeface="Avenir Next"/>
                <a:ea typeface="Avenir Next"/>
                <a:cs typeface="Avenir Next"/>
              </a:defRPr>
            </a:lvl5pPr>
            <a:lvl6pPr>
              <a:defRPr sz="1200" b="0">
                <a:solidFill>
                  <a:srgbClr val="6B818B"/>
                </a:solidFill>
                <a:latin typeface="Avenir Next"/>
                <a:ea typeface="Avenir Next"/>
                <a:cs typeface="Avenir Next"/>
              </a:defRPr>
            </a:lvl6pPr>
            <a:lvl7pPr>
              <a:defRPr sz="1200" b="0">
                <a:solidFill>
                  <a:srgbClr val="6B818B"/>
                </a:solidFill>
                <a:latin typeface="Avenir Next"/>
                <a:ea typeface="Avenir Next"/>
                <a:cs typeface="Avenir Next"/>
              </a:defRPr>
            </a:lvl7pPr>
            <a:lvl8pPr>
              <a:defRPr sz="1200" b="0">
                <a:solidFill>
                  <a:srgbClr val="6B818B"/>
                </a:solidFill>
                <a:latin typeface="Avenir Next"/>
                <a:ea typeface="Avenir Next"/>
                <a:cs typeface="Avenir Next"/>
              </a:defRPr>
            </a:lvl8pPr>
            <a:lvl9pPr>
              <a:defRPr sz="1200" b="0">
                <a:solidFill>
                  <a:srgbClr val="6B818B"/>
                </a:solidFill>
                <a:latin typeface="Avenir Next"/>
                <a:ea typeface="Avenir Next"/>
                <a:cs typeface="Avenir Next"/>
              </a:defRPr>
            </a:lvl9pPr>
          </a:lstStyle>
          <a:p xmlns:a="http://schemas.openxmlformats.org/drawingml/2006/main">
            <a:pPr>
              <a:defRPr sz="1200" b="0">
                <a:solidFill>
                  <a:srgbClr val="6B818B"/>
                </a:solidFill>
                <a:latin typeface="Avenir Next"/>
                <a:ea typeface="Avenir Next"/>
                <a:cs typeface="Avenir Next"/>
              </a:defRPr>
            </a:pPr>
            <a:r>
              <a:rPr sz="1200" b="0">
                <a:solidFill>
                  <a:srgbClr val="6B818B"/>
                </a:solidFill>
                <a:latin typeface="Avenir Next"/>
                <a:ea typeface="Avenir Next"/>
                <a:cs typeface="Avenir Next"/>
              </a:rPr>
              <a:t>WalletShield  ·  v0.4.1  |  29 / 30</a:t>
            </a:r>
          </a:p>
        </p:txBody>
      </p:sp>
    </p:spTree>
    <p:extLst>
      <p:ext uri="{BB962C8B-B14F-4D97-AF65-F5344CB8AC3E}">
        <p14:creationId xmlns:p14="http://schemas.microsoft.com/office/powerpoint/2010/main" val="761603897"/>
      </p:ext>
    </p:extLst>
  </p:cSld>
</p:sld>
</file>

<file path=ppt/slides/slide30.xml><?xml version="1.0" encoding="utf-8"?>
<p:sld xmlns:p="http://schemas.openxmlformats.org/presentationml/2006/main">
  <p:cSld>
    <p:bg>
      <p:bgPr>
        <a:solidFill xmlns:a="http://schemas.openxmlformats.org/drawingml/2006/main">
          <a:srgbClr val="0A1118"/>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15055C7B-E684-49E3-B749-2C6E3E7DB21B}"/>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Avenir Next"/>
                <a:ea typeface="Avenir Next"/>
                <a:cs typeface="Avenir Next"/>
              </a:defRPr>
            </a:defPPr>
            <a:lvl1pPr>
              <a:defRPr sz="3300" b="1">
                <a:solidFill>
                  <a:srgbClr val="FFFFFF"/>
                </a:solidFill>
                <a:latin typeface="Avenir Next"/>
                <a:ea typeface="Avenir Next"/>
                <a:cs typeface="Avenir Next"/>
              </a:defRPr>
            </a:lvl1pPr>
            <a:lvl2pPr>
              <a:defRPr sz="3300" b="1">
                <a:solidFill>
                  <a:srgbClr val="FFFFFF"/>
                </a:solidFill>
                <a:latin typeface="Avenir Next"/>
                <a:ea typeface="Avenir Next"/>
                <a:cs typeface="Avenir Next"/>
              </a:defRPr>
            </a:lvl2pPr>
            <a:lvl3pPr>
              <a:defRPr sz="3300" b="1">
                <a:solidFill>
                  <a:srgbClr val="FFFFFF"/>
                </a:solidFill>
                <a:latin typeface="Avenir Next"/>
                <a:ea typeface="Avenir Next"/>
                <a:cs typeface="Avenir Next"/>
              </a:defRPr>
            </a:lvl3pPr>
            <a:lvl4pPr>
              <a:defRPr sz="3300" b="1">
                <a:solidFill>
                  <a:srgbClr val="FFFFFF"/>
                </a:solidFill>
                <a:latin typeface="Avenir Next"/>
                <a:ea typeface="Avenir Next"/>
                <a:cs typeface="Avenir Next"/>
              </a:defRPr>
            </a:lvl4pPr>
            <a:lvl5pPr>
              <a:defRPr sz="3300" b="1">
                <a:solidFill>
                  <a:srgbClr val="FFFFFF"/>
                </a:solidFill>
                <a:latin typeface="Avenir Next"/>
                <a:ea typeface="Avenir Next"/>
                <a:cs typeface="Avenir Next"/>
              </a:defRPr>
            </a:lvl5pPr>
            <a:lvl6pPr>
              <a:defRPr sz="3300" b="1">
                <a:solidFill>
                  <a:srgbClr val="FFFFFF"/>
                </a:solidFill>
                <a:latin typeface="Avenir Next"/>
                <a:ea typeface="Avenir Next"/>
                <a:cs typeface="Avenir Next"/>
              </a:defRPr>
            </a:lvl6pPr>
            <a:lvl7pPr>
              <a:defRPr sz="3300" b="1">
                <a:solidFill>
                  <a:srgbClr val="FFFFFF"/>
                </a:solidFill>
                <a:latin typeface="Avenir Next"/>
                <a:ea typeface="Avenir Next"/>
                <a:cs typeface="Avenir Next"/>
              </a:defRPr>
            </a:lvl7pPr>
            <a:lvl8pPr>
              <a:defRPr sz="3300" b="1">
                <a:solidFill>
                  <a:srgbClr val="FFFFFF"/>
                </a:solidFill>
                <a:latin typeface="Avenir Next"/>
                <a:ea typeface="Avenir Next"/>
                <a:cs typeface="Avenir Next"/>
              </a:defRPr>
            </a:lvl8pPr>
            <a:lvl9pPr>
              <a:defRPr sz="3300" b="1">
                <a:solidFill>
                  <a:srgbClr val="FFFFFF"/>
                </a:solidFill>
                <a:latin typeface="Avenir Next"/>
                <a:ea typeface="Avenir Next"/>
                <a:cs typeface="Avenir Next"/>
              </a:defRPr>
            </a:lvl9pPr>
          </a:lstStyle>
          <a:p xmlns:a="http://schemas.openxmlformats.org/drawingml/2006/main">
            <a:pPr>
              <a:defRPr sz="3300" b="1">
                <a:solidFill>
                  <a:srgbClr val="FFFFFF"/>
                </a:solidFill>
                <a:latin typeface="Avenir Next"/>
                <a:ea typeface="Avenir Next"/>
                <a:cs typeface="Avenir Next"/>
              </a:defRPr>
            </a:pPr>
            <a:r>
              <a:rPr sz="3300" b="1">
                <a:solidFill>
                  <a:srgbClr val="FFFFFF"/>
                </a:solidFill>
                <a:latin typeface="Avenir Next"/>
                <a:ea typeface="Avenir Next"/>
                <a:cs typeface="Avenir Next"/>
              </a:rPr>
              <a:t>Next steps: validate the core before expanding scope</a:t>
            </a:r>
          </a:p>
        </p:txBody>
      </p:sp>
      <p:sp>
        <p:nvSpPr>
          <p:cNvPr id="3" name="summary">
            <a:extLst xmlns:a="http://schemas.openxmlformats.org/drawingml/2006/main">
              <a:ext uri="{FF2B5EF4-FFF2-40B4-BE49-F238E27FC236}">
                <a16:creationId xmlns:a16="http://schemas.microsoft.com/office/drawing/2014/main" id="{283DB58F-7AFE-4159-B27B-DC981390ABF3}"/>
              </a:ext>
            </a:extLst>
          </p:cNvPr>
          <p:cNvSpPr>
            <a:spLocks xmlns:a="http://schemas.openxmlformats.org/drawingml/2006/main" noGrp="1"/>
          </p:cNvSpPr>
          <p:nvPr/>
        </p:nvSpPr>
        <p:spPr>
          <a:xfrm xmlns:a="http://schemas.openxmlformats.org/drawingml/2006/main">
            <a:off x="6477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B7C8D2"/>
                </a:solidFill>
                <a:latin typeface="Avenir Next"/>
                <a:ea typeface="Avenir Next"/>
                <a:cs typeface="Avenir Next"/>
              </a:defRPr>
            </a:defPPr>
            <a:lvl1pPr>
              <a:defRPr sz="1950" b="0">
                <a:solidFill>
                  <a:srgbClr val="B7C8D2"/>
                </a:solidFill>
                <a:latin typeface="Avenir Next"/>
                <a:ea typeface="Avenir Next"/>
                <a:cs typeface="Avenir Next"/>
              </a:defRPr>
            </a:lvl1pPr>
            <a:lvl2pPr>
              <a:defRPr sz="1950" b="0">
                <a:solidFill>
                  <a:srgbClr val="B7C8D2"/>
                </a:solidFill>
                <a:latin typeface="Avenir Next"/>
                <a:ea typeface="Avenir Next"/>
                <a:cs typeface="Avenir Next"/>
              </a:defRPr>
            </a:lvl2pPr>
            <a:lvl3pPr>
              <a:defRPr sz="1950" b="0">
                <a:solidFill>
                  <a:srgbClr val="B7C8D2"/>
                </a:solidFill>
                <a:latin typeface="Avenir Next"/>
                <a:ea typeface="Avenir Next"/>
                <a:cs typeface="Avenir Next"/>
              </a:defRPr>
            </a:lvl3pPr>
            <a:lvl4pPr>
              <a:defRPr sz="1950" b="0">
                <a:solidFill>
                  <a:srgbClr val="B7C8D2"/>
                </a:solidFill>
                <a:latin typeface="Avenir Next"/>
                <a:ea typeface="Avenir Next"/>
                <a:cs typeface="Avenir Next"/>
              </a:defRPr>
            </a:lvl4pPr>
            <a:lvl5pPr>
              <a:defRPr sz="1950" b="0">
                <a:solidFill>
                  <a:srgbClr val="B7C8D2"/>
                </a:solidFill>
                <a:latin typeface="Avenir Next"/>
                <a:ea typeface="Avenir Next"/>
                <a:cs typeface="Avenir Next"/>
              </a:defRPr>
            </a:lvl5pPr>
            <a:lvl6pPr>
              <a:defRPr sz="1950" b="0">
                <a:solidFill>
                  <a:srgbClr val="B7C8D2"/>
                </a:solidFill>
                <a:latin typeface="Avenir Next"/>
                <a:ea typeface="Avenir Next"/>
                <a:cs typeface="Avenir Next"/>
              </a:defRPr>
            </a:lvl6pPr>
            <a:lvl7pPr>
              <a:defRPr sz="1950" b="0">
                <a:solidFill>
                  <a:srgbClr val="B7C8D2"/>
                </a:solidFill>
                <a:latin typeface="Avenir Next"/>
                <a:ea typeface="Avenir Next"/>
                <a:cs typeface="Avenir Next"/>
              </a:defRPr>
            </a:lvl7pPr>
            <a:lvl8pPr>
              <a:defRPr sz="1950" b="0">
                <a:solidFill>
                  <a:srgbClr val="B7C8D2"/>
                </a:solidFill>
                <a:latin typeface="Avenir Next"/>
                <a:ea typeface="Avenir Next"/>
                <a:cs typeface="Avenir Next"/>
              </a:defRPr>
            </a:lvl8pPr>
            <a:lvl9pPr>
              <a:defRPr sz="1950" b="0">
                <a:solidFill>
                  <a:srgbClr val="B7C8D2"/>
                </a:solidFill>
                <a:latin typeface="Avenir Next"/>
                <a:ea typeface="Avenir Next"/>
                <a:cs typeface="Avenir Next"/>
              </a:defRPr>
            </a:lvl9pPr>
          </a:lstStyle>
          <a:p xmlns:a="http://schemas.openxmlformats.org/drawingml/2006/main">
            <a:pPr>
              <a:defRPr sz="1950" b="0">
                <a:solidFill>
                  <a:srgbClr val="B7C8D2"/>
                </a:solidFill>
                <a:latin typeface="Avenir Next"/>
                <a:ea typeface="Avenir Next"/>
                <a:cs typeface="Avenir Next"/>
              </a:defRPr>
            </a:pPr>
            <a:r>
              <a:rPr sz="1950" b="0">
                <a:solidFill>
                  <a:srgbClr val="B7C8D2"/>
                </a:solidFill>
                <a:latin typeface="Avenir Next"/>
                <a:ea typeface="Avenir Next"/>
                <a:cs typeface="Avenir Next"/>
              </a:rPr>
              <a:t>A proposed roadmap—not completed product claims</a:t>
            </a:r>
          </a:p>
        </p:txBody>
      </p:sp>
      <p:sp>
        <p:nvSpPr>
          <p:cNvPr id="4" name="step-number-0">
            <a:extLst xmlns:a="http://schemas.openxmlformats.org/drawingml/2006/main">
              <a:ext uri="{FF2B5EF4-FFF2-40B4-BE49-F238E27FC236}">
                <a16:creationId xmlns:a16="http://schemas.microsoft.com/office/drawing/2014/main" id="{AC16F47A-E1EE-4151-BF2A-59F5294A2B54}"/>
              </a:ext>
            </a:extLst>
          </p:cNvPr>
          <p:cNvSpPr>
            <a:spLocks xmlns:a="http://schemas.openxmlformats.org/drawingml/2006/main" noGrp="1"/>
          </p:cNvSpPr>
          <p:nvPr/>
        </p:nvSpPr>
        <p:spPr>
          <a:xfrm xmlns:a="http://schemas.openxmlformats.org/drawingml/2006/main">
            <a:off x="685800" y="255270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85E7D1"/>
                </a:solidFill>
                <a:latin typeface="Avenir Next"/>
                <a:ea typeface="Avenir Next"/>
                <a:cs typeface="Avenir Next"/>
              </a:defRPr>
            </a:defPPr>
            <a:lvl1pPr>
              <a:defRPr sz="2550" b="1">
                <a:solidFill>
                  <a:srgbClr val="85E7D1"/>
                </a:solidFill>
                <a:latin typeface="Avenir Next"/>
                <a:ea typeface="Avenir Next"/>
                <a:cs typeface="Avenir Next"/>
              </a:defRPr>
            </a:lvl1pPr>
            <a:lvl2pPr>
              <a:defRPr sz="2550" b="1">
                <a:solidFill>
                  <a:srgbClr val="85E7D1"/>
                </a:solidFill>
                <a:latin typeface="Avenir Next"/>
                <a:ea typeface="Avenir Next"/>
                <a:cs typeface="Avenir Next"/>
              </a:defRPr>
            </a:lvl2pPr>
            <a:lvl3pPr>
              <a:defRPr sz="2550" b="1">
                <a:solidFill>
                  <a:srgbClr val="85E7D1"/>
                </a:solidFill>
                <a:latin typeface="Avenir Next"/>
                <a:ea typeface="Avenir Next"/>
                <a:cs typeface="Avenir Next"/>
              </a:defRPr>
            </a:lvl3pPr>
            <a:lvl4pPr>
              <a:defRPr sz="2550" b="1">
                <a:solidFill>
                  <a:srgbClr val="85E7D1"/>
                </a:solidFill>
                <a:latin typeface="Avenir Next"/>
                <a:ea typeface="Avenir Next"/>
                <a:cs typeface="Avenir Next"/>
              </a:defRPr>
            </a:lvl4pPr>
            <a:lvl5pPr>
              <a:defRPr sz="2550" b="1">
                <a:solidFill>
                  <a:srgbClr val="85E7D1"/>
                </a:solidFill>
                <a:latin typeface="Avenir Next"/>
                <a:ea typeface="Avenir Next"/>
                <a:cs typeface="Avenir Next"/>
              </a:defRPr>
            </a:lvl5pPr>
            <a:lvl6pPr>
              <a:defRPr sz="2550" b="1">
                <a:solidFill>
                  <a:srgbClr val="85E7D1"/>
                </a:solidFill>
                <a:latin typeface="Avenir Next"/>
                <a:ea typeface="Avenir Next"/>
                <a:cs typeface="Avenir Next"/>
              </a:defRPr>
            </a:lvl6pPr>
            <a:lvl7pPr>
              <a:defRPr sz="2550" b="1">
                <a:solidFill>
                  <a:srgbClr val="85E7D1"/>
                </a:solidFill>
                <a:latin typeface="Avenir Next"/>
                <a:ea typeface="Avenir Next"/>
                <a:cs typeface="Avenir Next"/>
              </a:defRPr>
            </a:lvl7pPr>
            <a:lvl8pPr>
              <a:defRPr sz="2550" b="1">
                <a:solidFill>
                  <a:srgbClr val="85E7D1"/>
                </a:solidFill>
                <a:latin typeface="Avenir Next"/>
                <a:ea typeface="Avenir Next"/>
                <a:cs typeface="Avenir Next"/>
              </a:defRPr>
            </a:lvl8pPr>
            <a:lvl9pPr>
              <a:defRPr sz="2550" b="1">
                <a:solidFill>
                  <a:srgbClr val="85E7D1"/>
                </a:solidFill>
                <a:latin typeface="Avenir Next"/>
                <a:ea typeface="Avenir Next"/>
                <a:cs typeface="Avenir Next"/>
              </a:defRPr>
            </a:lvl9pPr>
          </a:lstStyle>
          <a:p xmlns:a="http://schemas.openxmlformats.org/drawingml/2006/main">
            <a:pPr>
              <a:defRPr sz="2550" b="1">
                <a:solidFill>
                  <a:srgbClr val="85E7D1"/>
                </a:solidFill>
                <a:latin typeface="Avenir Next"/>
                <a:ea typeface="Avenir Next"/>
                <a:cs typeface="Avenir Next"/>
              </a:defRPr>
            </a:pPr>
            <a:r>
              <a:rPr sz="2550" b="1">
                <a:solidFill>
                  <a:srgbClr val="85E7D1"/>
                </a:solidFill>
                <a:latin typeface="Avenir Next"/>
                <a:ea typeface="Avenir Next"/>
                <a:cs typeface="Avenir Next"/>
              </a:rPr>
              <a:t>01</a:t>
            </a:r>
          </a:p>
        </p:txBody>
      </p:sp>
      <p:sp>
        <p:nvSpPr>
          <p:cNvPr id="5" name="step-content-0">
            <a:extLst xmlns:a="http://schemas.openxmlformats.org/drawingml/2006/main">
              <a:ext uri="{FF2B5EF4-FFF2-40B4-BE49-F238E27FC236}">
                <a16:creationId xmlns:a16="http://schemas.microsoft.com/office/drawing/2014/main" id="{1301CB08-ECFA-4BBC-8FDF-9E9AC0DA33D9}"/>
              </a:ext>
            </a:extLst>
          </p:cNvPr>
          <p:cNvSpPr>
            <a:spLocks xmlns:a="http://schemas.openxmlformats.org/drawingml/2006/main" noGrp="1"/>
          </p:cNvSpPr>
          <p:nvPr/>
        </p:nvSpPr>
        <p:spPr>
          <a:xfrm xmlns:a="http://schemas.openxmlformats.org/drawingml/2006/main">
            <a:off x="1619250" y="2562225"/>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FFFFF"/>
                </a:solidFill>
                <a:latin typeface="Avenir Next"/>
                <a:ea typeface="Avenir Next"/>
                <a:cs typeface="Avenir Next"/>
              </a:defRPr>
            </a:defPPr>
            <a:lvl1pPr>
              <a:defRPr sz="2025" b="0">
                <a:solidFill>
                  <a:srgbClr val="FFFFFF"/>
                </a:solidFill>
                <a:latin typeface="Avenir Next"/>
                <a:ea typeface="Avenir Next"/>
                <a:cs typeface="Avenir Next"/>
              </a:defRPr>
            </a:lvl1pPr>
            <a:lvl2pPr>
              <a:defRPr sz="2025" b="0">
                <a:solidFill>
                  <a:srgbClr val="FFFFFF"/>
                </a:solidFill>
                <a:latin typeface="Avenir Next"/>
                <a:ea typeface="Avenir Next"/>
                <a:cs typeface="Avenir Next"/>
              </a:defRPr>
            </a:lvl2pPr>
            <a:lvl3pPr>
              <a:defRPr sz="2025" b="0">
                <a:solidFill>
                  <a:srgbClr val="FFFFFF"/>
                </a:solidFill>
                <a:latin typeface="Avenir Next"/>
                <a:ea typeface="Avenir Next"/>
                <a:cs typeface="Avenir Next"/>
              </a:defRPr>
            </a:lvl3pPr>
            <a:lvl4pPr>
              <a:defRPr sz="2025" b="0">
                <a:solidFill>
                  <a:srgbClr val="FFFFFF"/>
                </a:solidFill>
                <a:latin typeface="Avenir Next"/>
                <a:ea typeface="Avenir Next"/>
                <a:cs typeface="Avenir Next"/>
              </a:defRPr>
            </a:lvl4pPr>
            <a:lvl5pPr>
              <a:defRPr sz="2025" b="0">
                <a:solidFill>
                  <a:srgbClr val="FFFFFF"/>
                </a:solidFill>
                <a:latin typeface="Avenir Next"/>
                <a:ea typeface="Avenir Next"/>
                <a:cs typeface="Avenir Next"/>
              </a:defRPr>
            </a:lvl5pPr>
            <a:lvl6pPr>
              <a:defRPr sz="2025" b="0">
                <a:solidFill>
                  <a:srgbClr val="FFFFFF"/>
                </a:solidFill>
                <a:latin typeface="Avenir Next"/>
                <a:ea typeface="Avenir Next"/>
                <a:cs typeface="Avenir Next"/>
              </a:defRPr>
            </a:lvl6pPr>
            <a:lvl7pPr>
              <a:defRPr sz="2025" b="0">
                <a:solidFill>
                  <a:srgbClr val="FFFFFF"/>
                </a:solidFill>
                <a:latin typeface="Avenir Next"/>
                <a:ea typeface="Avenir Next"/>
                <a:cs typeface="Avenir Next"/>
              </a:defRPr>
            </a:lvl7pPr>
            <a:lvl8pPr>
              <a:defRPr sz="2025" b="0">
                <a:solidFill>
                  <a:srgbClr val="FFFFFF"/>
                </a:solidFill>
                <a:latin typeface="Avenir Next"/>
                <a:ea typeface="Avenir Next"/>
                <a:cs typeface="Avenir Next"/>
              </a:defRPr>
            </a:lvl8pPr>
            <a:lvl9pPr>
              <a:defRPr sz="2025" b="0">
                <a:solidFill>
                  <a:srgbClr val="FFFFFF"/>
                </a:solidFill>
                <a:latin typeface="Avenir Next"/>
                <a:ea typeface="Avenir Next"/>
                <a:cs typeface="Avenir Next"/>
              </a:defRPr>
            </a:lvl9pPr>
          </a:lstStyle>
          <a:p xmlns:a="http://schemas.openxmlformats.org/drawingml/2006/main">
            <a:pPr>
              <a:defRPr sz="2025" b="0">
                <a:solidFill>
                  <a:srgbClr val="FFFFFF"/>
                </a:solidFill>
                <a:latin typeface="Avenir Next"/>
                <a:ea typeface="Avenir Next"/>
                <a:cs typeface="Avenir Next"/>
              </a:defRPr>
            </a:pPr>
            <a:r>
              <a:rPr sz="2025" b="0">
                <a:solidFill>
                  <a:srgbClr val="FFFFFF"/>
                </a:solidFill>
                <a:latin typeface="Avenir Next"/>
                <a:ea typeface="Avenir Next"/>
                <a:cs typeface="Avenir Next"/>
              </a:rPr>
              <a:t>Near term: validate core transactions and signatures through the real Snap</a:t>
            </a:r>
          </a:p>
        </p:txBody>
      </p:sp>
      <p:sp>
        <p:nvSpPr>
          <p:cNvPr id="6" name="step-number-1">
            <a:extLst xmlns:a="http://schemas.openxmlformats.org/drawingml/2006/main">
              <a:ext uri="{FF2B5EF4-FFF2-40B4-BE49-F238E27FC236}">
                <a16:creationId xmlns:a16="http://schemas.microsoft.com/office/drawing/2014/main" id="{CCA67327-0026-4726-B683-0BE015203CB6}"/>
              </a:ext>
            </a:extLst>
          </p:cNvPr>
          <p:cNvSpPr>
            <a:spLocks xmlns:a="http://schemas.openxmlformats.org/drawingml/2006/main" noGrp="1"/>
          </p:cNvSpPr>
          <p:nvPr/>
        </p:nvSpPr>
        <p:spPr>
          <a:xfrm xmlns:a="http://schemas.openxmlformats.org/drawingml/2006/main">
            <a:off x="685800" y="341947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85E7D1"/>
                </a:solidFill>
                <a:latin typeface="Avenir Next"/>
                <a:ea typeface="Avenir Next"/>
                <a:cs typeface="Avenir Next"/>
              </a:defRPr>
            </a:defPPr>
            <a:lvl1pPr>
              <a:defRPr sz="2550" b="1">
                <a:solidFill>
                  <a:srgbClr val="85E7D1"/>
                </a:solidFill>
                <a:latin typeface="Avenir Next"/>
                <a:ea typeface="Avenir Next"/>
                <a:cs typeface="Avenir Next"/>
              </a:defRPr>
            </a:lvl1pPr>
            <a:lvl2pPr>
              <a:defRPr sz="2550" b="1">
                <a:solidFill>
                  <a:srgbClr val="85E7D1"/>
                </a:solidFill>
                <a:latin typeface="Avenir Next"/>
                <a:ea typeface="Avenir Next"/>
                <a:cs typeface="Avenir Next"/>
              </a:defRPr>
            </a:lvl2pPr>
            <a:lvl3pPr>
              <a:defRPr sz="2550" b="1">
                <a:solidFill>
                  <a:srgbClr val="85E7D1"/>
                </a:solidFill>
                <a:latin typeface="Avenir Next"/>
                <a:ea typeface="Avenir Next"/>
                <a:cs typeface="Avenir Next"/>
              </a:defRPr>
            </a:lvl3pPr>
            <a:lvl4pPr>
              <a:defRPr sz="2550" b="1">
                <a:solidFill>
                  <a:srgbClr val="85E7D1"/>
                </a:solidFill>
                <a:latin typeface="Avenir Next"/>
                <a:ea typeface="Avenir Next"/>
                <a:cs typeface="Avenir Next"/>
              </a:defRPr>
            </a:lvl4pPr>
            <a:lvl5pPr>
              <a:defRPr sz="2550" b="1">
                <a:solidFill>
                  <a:srgbClr val="85E7D1"/>
                </a:solidFill>
                <a:latin typeface="Avenir Next"/>
                <a:ea typeface="Avenir Next"/>
                <a:cs typeface="Avenir Next"/>
              </a:defRPr>
            </a:lvl5pPr>
            <a:lvl6pPr>
              <a:defRPr sz="2550" b="1">
                <a:solidFill>
                  <a:srgbClr val="85E7D1"/>
                </a:solidFill>
                <a:latin typeface="Avenir Next"/>
                <a:ea typeface="Avenir Next"/>
                <a:cs typeface="Avenir Next"/>
              </a:defRPr>
            </a:lvl6pPr>
            <a:lvl7pPr>
              <a:defRPr sz="2550" b="1">
                <a:solidFill>
                  <a:srgbClr val="85E7D1"/>
                </a:solidFill>
                <a:latin typeface="Avenir Next"/>
                <a:ea typeface="Avenir Next"/>
                <a:cs typeface="Avenir Next"/>
              </a:defRPr>
            </a:lvl7pPr>
            <a:lvl8pPr>
              <a:defRPr sz="2550" b="1">
                <a:solidFill>
                  <a:srgbClr val="85E7D1"/>
                </a:solidFill>
                <a:latin typeface="Avenir Next"/>
                <a:ea typeface="Avenir Next"/>
                <a:cs typeface="Avenir Next"/>
              </a:defRPr>
            </a:lvl8pPr>
            <a:lvl9pPr>
              <a:defRPr sz="2550" b="1">
                <a:solidFill>
                  <a:srgbClr val="85E7D1"/>
                </a:solidFill>
                <a:latin typeface="Avenir Next"/>
                <a:ea typeface="Avenir Next"/>
                <a:cs typeface="Avenir Next"/>
              </a:defRPr>
            </a:lvl9pPr>
          </a:lstStyle>
          <a:p xmlns:a="http://schemas.openxmlformats.org/drawingml/2006/main">
            <a:pPr>
              <a:defRPr sz="2550" b="1">
                <a:solidFill>
                  <a:srgbClr val="85E7D1"/>
                </a:solidFill>
                <a:latin typeface="Avenir Next"/>
                <a:ea typeface="Avenir Next"/>
                <a:cs typeface="Avenir Next"/>
              </a:defRPr>
            </a:pPr>
            <a:r>
              <a:rPr sz="2550" b="1">
                <a:solidFill>
                  <a:srgbClr val="85E7D1"/>
                </a:solidFill>
                <a:latin typeface="Avenir Next"/>
                <a:ea typeface="Avenir Next"/>
                <a:cs typeface="Avenir Next"/>
              </a:rPr>
              <a:t>02</a:t>
            </a:r>
          </a:p>
        </p:txBody>
      </p:sp>
      <p:sp>
        <p:nvSpPr>
          <p:cNvPr id="7" name="step-content-1">
            <a:extLst xmlns:a="http://schemas.openxmlformats.org/drawingml/2006/main">
              <a:ext uri="{FF2B5EF4-FFF2-40B4-BE49-F238E27FC236}">
                <a16:creationId xmlns:a16="http://schemas.microsoft.com/office/drawing/2014/main" id="{8EBC846D-9CDE-4404-9D6E-0118ED66819F}"/>
              </a:ext>
            </a:extLst>
          </p:cNvPr>
          <p:cNvSpPr>
            <a:spLocks xmlns:a="http://schemas.openxmlformats.org/drawingml/2006/main" noGrp="1"/>
          </p:cNvSpPr>
          <p:nvPr/>
        </p:nvSpPr>
        <p:spPr>
          <a:xfrm xmlns:a="http://schemas.openxmlformats.org/drawingml/2006/main">
            <a:off x="1619250" y="342900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FFFFF"/>
                </a:solidFill>
                <a:latin typeface="Avenir Next"/>
                <a:ea typeface="Avenir Next"/>
                <a:cs typeface="Avenir Next"/>
              </a:defRPr>
            </a:defPPr>
            <a:lvl1pPr>
              <a:defRPr sz="2025" b="0">
                <a:solidFill>
                  <a:srgbClr val="FFFFFF"/>
                </a:solidFill>
                <a:latin typeface="Avenir Next"/>
                <a:ea typeface="Avenir Next"/>
                <a:cs typeface="Avenir Next"/>
              </a:defRPr>
            </a:lvl1pPr>
            <a:lvl2pPr>
              <a:defRPr sz="2025" b="0">
                <a:solidFill>
                  <a:srgbClr val="FFFFFF"/>
                </a:solidFill>
                <a:latin typeface="Avenir Next"/>
                <a:ea typeface="Avenir Next"/>
                <a:cs typeface="Avenir Next"/>
              </a:defRPr>
            </a:lvl2pPr>
            <a:lvl3pPr>
              <a:defRPr sz="2025" b="0">
                <a:solidFill>
                  <a:srgbClr val="FFFFFF"/>
                </a:solidFill>
                <a:latin typeface="Avenir Next"/>
                <a:ea typeface="Avenir Next"/>
                <a:cs typeface="Avenir Next"/>
              </a:defRPr>
            </a:lvl3pPr>
            <a:lvl4pPr>
              <a:defRPr sz="2025" b="0">
                <a:solidFill>
                  <a:srgbClr val="FFFFFF"/>
                </a:solidFill>
                <a:latin typeface="Avenir Next"/>
                <a:ea typeface="Avenir Next"/>
                <a:cs typeface="Avenir Next"/>
              </a:defRPr>
            </a:lvl4pPr>
            <a:lvl5pPr>
              <a:defRPr sz="2025" b="0">
                <a:solidFill>
                  <a:srgbClr val="FFFFFF"/>
                </a:solidFill>
                <a:latin typeface="Avenir Next"/>
                <a:ea typeface="Avenir Next"/>
                <a:cs typeface="Avenir Next"/>
              </a:defRPr>
            </a:lvl5pPr>
            <a:lvl6pPr>
              <a:defRPr sz="2025" b="0">
                <a:solidFill>
                  <a:srgbClr val="FFFFFF"/>
                </a:solidFill>
                <a:latin typeface="Avenir Next"/>
                <a:ea typeface="Avenir Next"/>
                <a:cs typeface="Avenir Next"/>
              </a:defRPr>
            </a:lvl6pPr>
            <a:lvl7pPr>
              <a:defRPr sz="2025" b="0">
                <a:solidFill>
                  <a:srgbClr val="FFFFFF"/>
                </a:solidFill>
                <a:latin typeface="Avenir Next"/>
                <a:ea typeface="Avenir Next"/>
                <a:cs typeface="Avenir Next"/>
              </a:defRPr>
            </a:lvl7pPr>
            <a:lvl8pPr>
              <a:defRPr sz="2025" b="0">
                <a:solidFill>
                  <a:srgbClr val="FFFFFF"/>
                </a:solidFill>
                <a:latin typeface="Avenir Next"/>
                <a:ea typeface="Avenir Next"/>
                <a:cs typeface="Avenir Next"/>
              </a:defRPr>
            </a:lvl8pPr>
            <a:lvl9pPr>
              <a:defRPr sz="2025" b="0">
                <a:solidFill>
                  <a:srgbClr val="FFFFFF"/>
                </a:solidFill>
                <a:latin typeface="Avenir Next"/>
                <a:ea typeface="Avenir Next"/>
                <a:cs typeface="Avenir Next"/>
              </a:defRPr>
            </a:lvl9pPr>
          </a:lstStyle>
          <a:p xmlns:a="http://schemas.openxmlformats.org/drawingml/2006/main">
            <a:pPr>
              <a:defRPr sz="2025" b="0">
                <a:solidFill>
                  <a:srgbClr val="FFFFFF"/>
                </a:solidFill>
                <a:latin typeface="Avenir Next"/>
                <a:ea typeface="Avenir Next"/>
                <a:cs typeface="Avenir Next"/>
              </a:defRPr>
            </a:pPr>
            <a:r>
              <a:rPr sz="2025" b="0">
                <a:solidFill>
                  <a:srgbClr val="FFFFFF"/>
                </a:solidFill>
                <a:latin typeface="Avenir Next"/>
                <a:ea typeface="Avenir Next"/>
                <a:cs typeface="Avenir Next"/>
              </a:rPr>
              <a:t>Evaluation: independent benign/adverse cases and repeated Muse tests</a:t>
            </a:r>
          </a:p>
        </p:txBody>
      </p:sp>
      <p:sp>
        <p:nvSpPr>
          <p:cNvPr id="8" name="step-number-2">
            <a:extLst xmlns:a="http://schemas.openxmlformats.org/drawingml/2006/main">
              <a:ext uri="{FF2B5EF4-FFF2-40B4-BE49-F238E27FC236}">
                <a16:creationId xmlns:a16="http://schemas.microsoft.com/office/drawing/2014/main" id="{CCD1B51E-2CD2-47DB-A3A7-BDE6B7DE7BE5}"/>
              </a:ext>
            </a:extLst>
          </p:cNvPr>
          <p:cNvSpPr>
            <a:spLocks xmlns:a="http://schemas.openxmlformats.org/drawingml/2006/main" noGrp="1"/>
          </p:cNvSpPr>
          <p:nvPr/>
        </p:nvSpPr>
        <p:spPr>
          <a:xfrm xmlns:a="http://schemas.openxmlformats.org/drawingml/2006/main">
            <a:off x="685800" y="428625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85E7D1"/>
                </a:solidFill>
                <a:latin typeface="Avenir Next"/>
                <a:ea typeface="Avenir Next"/>
                <a:cs typeface="Avenir Next"/>
              </a:defRPr>
            </a:defPPr>
            <a:lvl1pPr>
              <a:defRPr sz="2550" b="1">
                <a:solidFill>
                  <a:srgbClr val="85E7D1"/>
                </a:solidFill>
                <a:latin typeface="Avenir Next"/>
                <a:ea typeface="Avenir Next"/>
                <a:cs typeface="Avenir Next"/>
              </a:defRPr>
            </a:lvl1pPr>
            <a:lvl2pPr>
              <a:defRPr sz="2550" b="1">
                <a:solidFill>
                  <a:srgbClr val="85E7D1"/>
                </a:solidFill>
                <a:latin typeface="Avenir Next"/>
                <a:ea typeface="Avenir Next"/>
                <a:cs typeface="Avenir Next"/>
              </a:defRPr>
            </a:lvl2pPr>
            <a:lvl3pPr>
              <a:defRPr sz="2550" b="1">
                <a:solidFill>
                  <a:srgbClr val="85E7D1"/>
                </a:solidFill>
                <a:latin typeface="Avenir Next"/>
                <a:ea typeface="Avenir Next"/>
                <a:cs typeface="Avenir Next"/>
              </a:defRPr>
            </a:lvl3pPr>
            <a:lvl4pPr>
              <a:defRPr sz="2550" b="1">
                <a:solidFill>
                  <a:srgbClr val="85E7D1"/>
                </a:solidFill>
                <a:latin typeface="Avenir Next"/>
                <a:ea typeface="Avenir Next"/>
                <a:cs typeface="Avenir Next"/>
              </a:defRPr>
            </a:lvl4pPr>
            <a:lvl5pPr>
              <a:defRPr sz="2550" b="1">
                <a:solidFill>
                  <a:srgbClr val="85E7D1"/>
                </a:solidFill>
                <a:latin typeface="Avenir Next"/>
                <a:ea typeface="Avenir Next"/>
                <a:cs typeface="Avenir Next"/>
              </a:defRPr>
            </a:lvl5pPr>
            <a:lvl6pPr>
              <a:defRPr sz="2550" b="1">
                <a:solidFill>
                  <a:srgbClr val="85E7D1"/>
                </a:solidFill>
                <a:latin typeface="Avenir Next"/>
                <a:ea typeface="Avenir Next"/>
                <a:cs typeface="Avenir Next"/>
              </a:defRPr>
            </a:lvl6pPr>
            <a:lvl7pPr>
              <a:defRPr sz="2550" b="1">
                <a:solidFill>
                  <a:srgbClr val="85E7D1"/>
                </a:solidFill>
                <a:latin typeface="Avenir Next"/>
                <a:ea typeface="Avenir Next"/>
                <a:cs typeface="Avenir Next"/>
              </a:defRPr>
            </a:lvl7pPr>
            <a:lvl8pPr>
              <a:defRPr sz="2550" b="1">
                <a:solidFill>
                  <a:srgbClr val="85E7D1"/>
                </a:solidFill>
                <a:latin typeface="Avenir Next"/>
                <a:ea typeface="Avenir Next"/>
                <a:cs typeface="Avenir Next"/>
              </a:defRPr>
            </a:lvl8pPr>
            <a:lvl9pPr>
              <a:defRPr sz="2550" b="1">
                <a:solidFill>
                  <a:srgbClr val="85E7D1"/>
                </a:solidFill>
                <a:latin typeface="Avenir Next"/>
                <a:ea typeface="Avenir Next"/>
                <a:cs typeface="Avenir Next"/>
              </a:defRPr>
            </a:lvl9pPr>
          </a:lstStyle>
          <a:p xmlns:a="http://schemas.openxmlformats.org/drawingml/2006/main">
            <a:pPr>
              <a:defRPr sz="2550" b="1">
                <a:solidFill>
                  <a:srgbClr val="85E7D1"/>
                </a:solidFill>
                <a:latin typeface="Avenir Next"/>
                <a:ea typeface="Avenir Next"/>
                <a:cs typeface="Avenir Next"/>
              </a:defRPr>
            </a:pPr>
            <a:r>
              <a:rPr sz="2550" b="1">
                <a:solidFill>
                  <a:srgbClr val="85E7D1"/>
                </a:solidFill>
                <a:latin typeface="Avenir Next"/>
                <a:ea typeface="Avenir Next"/>
                <a:cs typeface="Avenir Next"/>
              </a:rPr>
              <a:t>03</a:t>
            </a:r>
          </a:p>
        </p:txBody>
      </p:sp>
      <p:sp>
        <p:nvSpPr>
          <p:cNvPr id="9" name="step-content-2">
            <a:extLst xmlns:a="http://schemas.openxmlformats.org/drawingml/2006/main">
              <a:ext uri="{FF2B5EF4-FFF2-40B4-BE49-F238E27FC236}">
                <a16:creationId xmlns:a16="http://schemas.microsoft.com/office/drawing/2014/main" id="{95088903-0326-4B5D-A4D7-323BBF582699}"/>
              </a:ext>
            </a:extLst>
          </p:cNvPr>
          <p:cNvSpPr>
            <a:spLocks xmlns:a="http://schemas.openxmlformats.org/drawingml/2006/main" noGrp="1"/>
          </p:cNvSpPr>
          <p:nvPr/>
        </p:nvSpPr>
        <p:spPr>
          <a:xfrm xmlns:a="http://schemas.openxmlformats.org/drawingml/2006/main">
            <a:off x="1619250" y="4295775"/>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FFFFF"/>
                </a:solidFill>
                <a:latin typeface="Avenir Next"/>
                <a:ea typeface="Avenir Next"/>
                <a:cs typeface="Avenir Next"/>
              </a:defRPr>
            </a:defPPr>
            <a:lvl1pPr>
              <a:defRPr sz="2025" b="0">
                <a:solidFill>
                  <a:srgbClr val="FFFFFF"/>
                </a:solidFill>
                <a:latin typeface="Avenir Next"/>
                <a:ea typeface="Avenir Next"/>
                <a:cs typeface="Avenir Next"/>
              </a:defRPr>
            </a:lvl1pPr>
            <a:lvl2pPr>
              <a:defRPr sz="2025" b="0">
                <a:solidFill>
                  <a:srgbClr val="FFFFFF"/>
                </a:solidFill>
                <a:latin typeface="Avenir Next"/>
                <a:ea typeface="Avenir Next"/>
                <a:cs typeface="Avenir Next"/>
              </a:defRPr>
            </a:lvl2pPr>
            <a:lvl3pPr>
              <a:defRPr sz="2025" b="0">
                <a:solidFill>
                  <a:srgbClr val="FFFFFF"/>
                </a:solidFill>
                <a:latin typeface="Avenir Next"/>
                <a:ea typeface="Avenir Next"/>
                <a:cs typeface="Avenir Next"/>
              </a:defRPr>
            </a:lvl3pPr>
            <a:lvl4pPr>
              <a:defRPr sz="2025" b="0">
                <a:solidFill>
                  <a:srgbClr val="FFFFFF"/>
                </a:solidFill>
                <a:latin typeface="Avenir Next"/>
                <a:ea typeface="Avenir Next"/>
                <a:cs typeface="Avenir Next"/>
              </a:defRPr>
            </a:lvl4pPr>
            <a:lvl5pPr>
              <a:defRPr sz="2025" b="0">
                <a:solidFill>
                  <a:srgbClr val="FFFFFF"/>
                </a:solidFill>
                <a:latin typeface="Avenir Next"/>
                <a:ea typeface="Avenir Next"/>
                <a:cs typeface="Avenir Next"/>
              </a:defRPr>
            </a:lvl5pPr>
            <a:lvl6pPr>
              <a:defRPr sz="2025" b="0">
                <a:solidFill>
                  <a:srgbClr val="FFFFFF"/>
                </a:solidFill>
                <a:latin typeface="Avenir Next"/>
                <a:ea typeface="Avenir Next"/>
                <a:cs typeface="Avenir Next"/>
              </a:defRPr>
            </a:lvl6pPr>
            <a:lvl7pPr>
              <a:defRPr sz="2025" b="0">
                <a:solidFill>
                  <a:srgbClr val="FFFFFF"/>
                </a:solidFill>
                <a:latin typeface="Avenir Next"/>
                <a:ea typeface="Avenir Next"/>
                <a:cs typeface="Avenir Next"/>
              </a:defRPr>
            </a:lvl7pPr>
            <a:lvl8pPr>
              <a:defRPr sz="2025" b="0">
                <a:solidFill>
                  <a:srgbClr val="FFFFFF"/>
                </a:solidFill>
                <a:latin typeface="Avenir Next"/>
                <a:ea typeface="Avenir Next"/>
                <a:cs typeface="Avenir Next"/>
              </a:defRPr>
            </a:lvl8pPr>
            <a:lvl9pPr>
              <a:defRPr sz="2025" b="0">
                <a:solidFill>
                  <a:srgbClr val="FFFFFF"/>
                </a:solidFill>
                <a:latin typeface="Avenir Next"/>
                <a:ea typeface="Avenir Next"/>
                <a:cs typeface="Avenir Next"/>
              </a:defRPr>
            </a:lvl9pPr>
          </a:lstStyle>
          <a:p xmlns:a="http://schemas.openxmlformats.org/drawingml/2006/main">
            <a:pPr>
              <a:defRPr sz="2025" b="0">
                <a:solidFill>
                  <a:srgbClr val="FFFFFF"/>
                </a:solidFill>
                <a:latin typeface="Avenir Next"/>
                <a:ea typeface="Avenir Next"/>
                <a:cs typeface="Avenir Next"/>
              </a:defRPr>
            </a:pPr>
            <a:r>
              <a:rPr sz="2025" b="0">
                <a:solidFill>
                  <a:srgbClr val="FFFFFF"/>
                </a:solidFill>
                <a:latin typeface="Avenir Next"/>
                <a:ea typeface="Avenir Next"/>
                <a:cs typeface="Avenir Next"/>
              </a:rPr>
              <a:t>Reliability: priority adapters, failure recovery and cost/latency observation</a:t>
            </a:r>
          </a:p>
        </p:txBody>
      </p:sp>
      <p:sp>
        <p:nvSpPr>
          <p:cNvPr id="10" name="step-number-3">
            <a:extLst xmlns:a="http://schemas.openxmlformats.org/drawingml/2006/main">
              <a:ext uri="{FF2B5EF4-FFF2-40B4-BE49-F238E27FC236}">
                <a16:creationId xmlns:a16="http://schemas.microsoft.com/office/drawing/2014/main" id="{C5578CB0-688B-45CB-8B1C-89BFA884CDAF}"/>
              </a:ext>
            </a:extLst>
          </p:cNvPr>
          <p:cNvSpPr>
            <a:spLocks xmlns:a="http://schemas.openxmlformats.org/drawingml/2006/main" noGrp="1"/>
          </p:cNvSpPr>
          <p:nvPr/>
        </p:nvSpPr>
        <p:spPr>
          <a:xfrm xmlns:a="http://schemas.openxmlformats.org/drawingml/2006/main">
            <a:off x="685800" y="5153025"/>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85E7D1"/>
                </a:solidFill>
                <a:latin typeface="Avenir Next"/>
                <a:ea typeface="Avenir Next"/>
                <a:cs typeface="Avenir Next"/>
              </a:defRPr>
            </a:defPPr>
            <a:lvl1pPr>
              <a:defRPr sz="2550" b="1">
                <a:solidFill>
                  <a:srgbClr val="85E7D1"/>
                </a:solidFill>
                <a:latin typeface="Avenir Next"/>
                <a:ea typeface="Avenir Next"/>
                <a:cs typeface="Avenir Next"/>
              </a:defRPr>
            </a:lvl1pPr>
            <a:lvl2pPr>
              <a:defRPr sz="2550" b="1">
                <a:solidFill>
                  <a:srgbClr val="85E7D1"/>
                </a:solidFill>
                <a:latin typeface="Avenir Next"/>
                <a:ea typeface="Avenir Next"/>
                <a:cs typeface="Avenir Next"/>
              </a:defRPr>
            </a:lvl2pPr>
            <a:lvl3pPr>
              <a:defRPr sz="2550" b="1">
                <a:solidFill>
                  <a:srgbClr val="85E7D1"/>
                </a:solidFill>
                <a:latin typeface="Avenir Next"/>
                <a:ea typeface="Avenir Next"/>
                <a:cs typeface="Avenir Next"/>
              </a:defRPr>
            </a:lvl3pPr>
            <a:lvl4pPr>
              <a:defRPr sz="2550" b="1">
                <a:solidFill>
                  <a:srgbClr val="85E7D1"/>
                </a:solidFill>
                <a:latin typeface="Avenir Next"/>
                <a:ea typeface="Avenir Next"/>
                <a:cs typeface="Avenir Next"/>
              </a:defRPr>
            </a:lvl4pPr>
            <a:lvl5pPr>
              <a:defRPr sz="2550" b="1">
                <a:solidFill>
                  <a:srgbClr val="85E7D1"/>
                </a:solidFill>
                <a:latin typeface="Avenir Next"/>
                <a:ea typeface="Avenir Next"/>
                <a:cs typeface="Avenir Next"/>
              </a:defRPr>
            </a:lvl5pPr>
            <a:lvl6pPr>
              <a:defRPr sz="2550" b="1">
                <a:solidFill>
                  <a:srgbClr val="85E7D1"/>
                </a:solidFill>
                <a:latin typeface="Avenir Next"/>
                <a:ea typeface="Avenir Next"/>
                <a:cs typeface="Avenir Next"/>
              </a:defRPr>
            </a:lvl6pPr>
            <a:lvl7pPr>
              <a:defRPr sz="2550" b="1">
                <a:solidFill>
                  <a:srgbClr val="85E7D1"/>
                </a:solidFill>
                <a:latin typeface="Avenir Next"/>
                <a:ea typeface="Avenir Next"/>
                <a:cs typeface="Avenir Next"/>
              </a:defRPr>
            </a:lvl7pPr>
            <a:lvl8pPr>
              <a:defRPr sz="2550" b="1">
                <a:solidFill>
                  <a:srgbClr val="85E7D1"/>
                </a:solidFill>
                <a:latin typeface="Avenir Next"/>
                <a:ea typeface="Avenir Next"/>
                <a:cs typeface="Avenir Next"/>
              </a:defRPr>
            </a:lvl8pPr>
            <a:lvl9pPr>
              <a:defRPr sz="2550" b="1">
                <a:solidFill>
                  <a:srgbClr val="85E7D1"/>
                </a:solidFill>
                <a:latin typeface="Avenir Next"/>
                <a:ea typeface="Avenir Next"/>
                <a:cs typeface="Avenir Next"/>
              </a:defRPr>
            </a:lvl9pPr>
          </a:lstStyle>
          <a:p xmlns:a="http://schemas.openxmlformats.org/drawingml/2006/main">
            <a:pPr>
              <a:defRPr sz="2550" b="1">
                <a:solidFill>
                  <a:srgbClr val="85E7D1"/>
                </a:solidFill>
                <a:latin typeface="Avenir Next"/>
                <a:ea typeface="Avenir Next"/>
                <a:cs typeface="Avenir Next"/>
              </a:defRPr>
            </a:pPr>
            <a:r>
              <a:rPr sz="2550" b="1">
                <a:solidFill>
                  <a:srgbClr val="85E7D1"/>
                </a:solidFill>
                <a:latin typeface="Avenir Next"/>
                <a:ea typeface="Avenir Next"/>
                <a:cs typeface="Avenir Next"/>
              </a:rPr>
              <a:t>04</a:t>
            </a:r>
          </a:p>
        </p:txBody>
      </p:sp>
      <p:sp>
        <p:nvSpPr>
          <p:cNvPr id="11" name="step-content-3">
            <a:extLst xmlns:a="http://schemas.openxmlformats.org/drawingml/2006/main">
              <a:ext uri="{FF2B5EF4-FFF2-40B4-BE49-F238E27FC236}">
                <a16:creationId xmlns:a16="http://schemas.microsoft.com/office/drawing/2014/main" id="{86B8F585-F8BC-42DB-8731-D5791FBF874B}"/>
              </a:ext>
            </a:extLst>
          </p:cNvPr>
          <p:cNvSpPr>
            <a:spLocks xmlns:a="http://schemas.openxmlformats.org/drawingml/2006/main" noGrp="1"/>
          </p:cNvSpPr>
          <p:nvPr/>
        </p:nvSpPr>
        <p:spPr>
          <a:xfrm xmlns:a="http://schemas.openxmlformats.org/drawingml/2006/main">
            <a:off x="1619250" y="516255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FFFFF"/>
                </a:solidFill>
                <a:latin typeface="Avenir Next"/>
                <a:ea typeface="Avenir Next"/>
                <a:cs typeface="Avenir Next"/>
              </a:defRPr>
            </a:defPPr>
            <a:lvl1pPr>
              <a:defRPr sz="2025" b="0">
                <a:solidFill>
                  <a:srgbClr val="FFFFFF"/>
                </a:solidFill>
                <a:latin typeface="Avenir Next"/>
                <a:ea typeface="Avenir Next"/>
                <a:cs typeface="Avenir Next"/>
              </a:defRPr>
            </a:lvl1pPr>
            <a:lvl2pPr>
              <a:defRPr sz="2025" b="0">
                <a:solidFill>
                  <a:srgbClr val="FFFFFF"/>
                </a:solidFill>
                <a:latin typeface="Avenir Next"/>
                <a:ea typeface="Avenir Next"/>
                <a:cs typeface="Avenir Next"/>
              </a:defRPr>
            </a:lvl2pPr>
            <a:lvl3pPr>
              <a:defRPr sz="2025" b="0">
                <a:solidFill>
                  <a:srgbClr val="FFFFFF"/>
                </a:solidFill>
                <a:latin typeface="Avenir Next"/>
                <a:ea typeface="Avenir Next"/>
                <a:cs typeface="Avenir Next"/>
              </a:defRPr>
            </a:lvl3pPr>
            <a:lvl4pPr>
              <a:defRPr sz="2025" b="0">
                <a:solidFill>
                  <a:srgbClr val="FFFFFF"/>
                </a:solidFill>
                <a:latin typeface="Avenir Next"/>
                <a:ea typeface="Avenir Next"/>
                <a:cs typeface="Avenir Next"/>
              </a:defRPr>
            </a:lvl4pPr>
            <a:lvl5pPr>
              <a:defRPr sz="2025" b="0">
                <a:solidFill>
                  <a:srgbClr val="FFFFFF"/>
                </a:solidFill>
                <a:latin typeface="Avenir Next"/>
                <a:ea typeface="Avenir Next"/>
                <a:cs typeface="Avenir Next"/>
              </a:defRPr>
            </a:lvl5pPr>
            <a:lvl6pPr>
              <a:defRPr sz="2025" b="0">
                <a:solidFill>
                  <a:srgbClr val="FFFFFF"/>
                </a:solidFill>
                <a:latin typeface="Avenir Next"/>
                <a:ea typeface="Avenir Next"/>
                <a:cs typeface="Avenir Next"/>
              </a:defRPr>
            </a:lvl6pPr>
            <a:lvl7pPr>
              <a:defRPr sz="2025" b="0">
                <a:solidFill>
                  <a:srgbClr val="FFFFFF"/>
                </a:solidFill>
                <a:latin typeface="Avenir Next"/>
                <a:ea typeface="Avenir Next"/>
                <a:cs typeface="Avenir Next"/>
              </a:defRPr>
            </a:lvl7pPr>
            <a:lvl8pPr>
              <a:defRPr sz="2025" b="0">
                <a:solidFill>
                  <a:srgbClr val="FFFFFF"/>
                </a:solidFill>
                <a:latin typeface="Avenir Next"/>
                <a:ea typeface="Avenir Next"/>
                <a:cs typeface="Avenir Next"/>
              </a:defRPr>
            </a:lvl8pPr>
            <a:lvl9pPr>
              <a:defRPr sz="2025" b="0">
                <a:solidFill>
                  <a:srgbClr val="FFFFFF"/>
                </a:solidFill>
                <a:latin typeface="Avenir Next"/>
                <a:ea typeface="Avenir Next"/>
                <a:cs typeface="Avenir Next"/>
              </a:defRPr>
            </a:lvl9pPr>
          </a:lstStyle>
          <a:p xmlns:a="http://schemas.openxmlformats.org/drawingml/2006/main">
            <a:pPr>
              <a:defRPr sz="2025" b="0">
                <a:solidFill>
                  <a:srgbClr val="FFFFFF"/>
                </a:solidFill>
                <a:latin typeface="Avenir Next"/>
                <a:ea typeface="Avenir Next"/>
                <a:cs typeface="Avenir Next"/>
              </a:defRPr>
            </a:pPr>
            <a:r>
              <a:rPr sz="2025" b="0">
                <a:solidFill>
                  <a:srgbClr val="FFFFFF"/>
                </a:solidFill>
                <a:latin typeface="Avenir Next"/>
                <a:ea typeface="Avenir Next"/>
                <a:cs typeface="Avenir Next"/>
              </a:rPr>
              <a:t>Release: HTTPS, distribution, privacy policy and load/operations validation</a:t>
            </a:r>
          </a:p>
        </p:txBody>
      </p:sp>
      <p:sp>
        <p:nvSpPr>
          <p:cNvPr id="12" name="footer">
            <a:extLst xmlns:a="http://schemas.openxmlformats.org/drawingml/2006/main">
              <a:ext uri="{FF2B5EF4-FFF2-40B4-BE49-F238E27FC236}">
                <a16:creationId xmlns:a16="http://schemas.microsoft.com/office/drawing/2014/main" id="{956FD913-3315-4DEC-BB3E-9290C35DEFA2}"/>
              </a:ext>
            </a:extLst>
          </p:cNvPr>
          <p:cNvSpPr>
            <a:spLocks xmlns:a="http://schemas.openxmlformats.org/drawingml/2006/main" noGrp="1"/>
          </p:cNvSpPr>
          <p:nvPr/>
        </p:nvSpPr>
        <p:spPr>
          <a:xfrm xmlns:a="http://schemas.openxmlformats.org/drawingml/2006/main">
            <a:off x="6477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BA3B2"/>
                </a:solidFill>
                <a:latin typeface="Avenir Next"/>
                <a:ea typeface="Avenir Next"/>
                <a:cs typeface="Avenir Next"/>
              </a:defRPr>
            </a:defPPr>
            <a:lvl1pPr>
              <a:defRPr sz="1200" b="0">
                <a:solidFill>
                  <a:srgbClr val="8BA3B2"/>
                </a:solidFill>
                <a:latin typeface="Avenir Next"/>
                <a:ea typeface="Avenir Next"/>
                <a:cs typeface="Avenir Next"/>
              </a:defRPr>
            </a:lvl1pPr>
            <a:lvl2pPr>
              <a:defRPr sz="1200" b="0">
                <a:solidFill>
                  <a:srgbClr val="8BA3B2"/>
                </a:solidFill>
                <a:latin typeface="Avenir Next"/>
                <a:ea typeface="Avenir Next"/>
                <a:cs typeface="Avenir Next"/>
              </a:defRPr>
            </a:lvl2pPr>
            <a:lvl3pPr>
              <a:defRPr sz="1200" b="0">
                <a:solidFill>
                  <a:srgbClr val="8BA3B2"/>
                </a:solidFill>
                <a:latin typeface="Avenir Next"/>
                <a:ea typeface="Avenir Next"/>
                <a:cs typeface="Avenir Next"/>
              </a:defRPr>
            </a:lvl3pPr>
            <a:lvl4pPr>
              <a:defRPr sz="1200" b="0">
                <a:solidFill>
                  <a:srgbClr val="8BA3B2"/>
                </a:solidFill>
                <a:latin typeface="Avenir Next"/>
                <a:ea typeface="Avenir Next"/>
                <a:cs typeface="Avenir Next"/>
              </a:defRPr>
            </a:lvl4pPr>
            <a:lvl5pPr>
              <a:defRPr sz="1200" b="0">
                <a:solidFill>
                  <a:srgbClr val="8BA3B2"/>
                </a:solidFill>
                <a:latin typeface="Avenir Next"/>
                <a:ea typeface="Avenir Next"/>
                <a:cs typeface="Avenir Next"/>
              </a:defRPr>
            </a:lvl5pPr>
            <a:lvl6pPr>
              <a:defRPr sz="1200" b="0">
                <a:solidFill>
                  <a:srgbClr val="8BA3B2"/>
                </a:solidFill>
                <a:latin typeface="Avenir Next"/>
                <a:ea typeface="Avenir Next"/>
                <a:cs typeface="Avenir Next"/>
              </a:defRPr>
            </a:lvl6pPr>
            <a:lvl7pPr>
              <a:defRPr sz="1200" b="0">
                <a:solidFill>
                  <a:srgbClr val="8BA3B2"/>
                </a:solidFill>
                <a:latin typeface="Avenir Next"/>
                <a:ea typeface="Avenir Next"/>
                <a:cs typeface="Avenir Next"/>
              </a:defRPr>
            </a:lvl7pPr>
            <a:lvl8pPr>
              <a:defRPr sz="1200" b="0">
                <a:solidFill>
                  <a:srgbClr val="8BA3B2"/>
                </a:solidFill>
                <a:latin typeface="Avenir Next"/>
                <a:ea typeface="Avenir Next"/>
                <a:cs typeface="Avenir Next"/>
              </a:defRPr>
            </a:lvl8pPr>
            <a:lvl9pPr>
              <a:defRPr sz="1200" b="0">
                <a:solidFill>
                  <a:srgbClr val="8BA3B2"/>
                </a:solidFill>
                <a:latin typeface="Avenir Next"/>
                <a:ea typeface="Avenir Next"/>
                <a:cs typeface="Avenir Next"/>
              </a:defRPr>
            </a:lvl9pPr>
          </a:lstStyle>
          <a:p xmlns:a="http://schemas.openxmlformats.org/drawingml/2006/main">
            <a:pPr>
              <a:defRPr sz="1200" b="0">
                <a:solidFill>
                  <a:srgbClr val="8BA3B2"/>
                </a:solidFill>
                <a:latin typeface="Avenir Next"/>
                <a:ea typeface="Avenir Next"/>
                <a:cs typeface="Avenir Next"/>
              </a:defRPr>
            </a:pPr>
            <a:r>
              <a:rPr sz="1200" b="0">
                <a:solidFill>
                  <a:srgbClr val="8BA3B2"/>
                </a:solidFill>
                <a:latin typeface="Avenir Next"/>
                <a:ea typeface="Avenir Next"/>
                <a:cs typeface="Avenir Next"/>
              </a:rPr>
              <a:t>WalletShield  ·  v0.4.1  |  30 / 30</a:t>
            </a:r>
          </a:p>
        </p:txBody>
      </p:sp>
    </p:spTree>
    <p:extLst>
      <p:ext uri="{BB962C8B-B14F-4D97-AF65-F5344CB8AC3E}">
        <p14:creationId xmlns:p14="http://schemas.microsoft.com/office/powerpoint/2010/main" val="18735259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2026-10-23T02:53:50.0780000Z</dcterms:created>
  <dcterms:modified xsi:type="dcterms:W3CDTF">2026-10-23T02:53:50.0780000Z</dcterms:modified>
</coreProperties>
</file>